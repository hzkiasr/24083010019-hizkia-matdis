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67" r:id="rId3"/>
    <p:sldId id="258" r:id="rId4"/>
    <p:sldId id="259" r:id="rId5"/>
    <p:sldId id="260" r:id="rId6"/>
    <p:sldId id="261" r:id="rId7"/>
    <p:sldId id="262" r:id="rId8"/>
    <p:sldId id="270" r:id="rId9"/>
    <p:sldId id="268" r:id="rId10"/>
    <p:sldId id="263" r:id="rId11"/>
    <p:sldId id="269" r:id="rId12"/>
    <p:sldId id="271" r:id="rId13"/>
    <p:sldId id="272" r:id="rId14"/>
    <p:sldId id="273" r:id="rId15"/>
    <p:sldId id="274" r:id="rId16"/>
    <p:sldId id="264" r:id="rId17"/>
    <p:sldId id="265" r:id="rId18"/>
    <p:sldId id="266" r:id="rId19"/>
  </p:sldIdLst>
  <p:sldSz cx="18288000" cy="10287000"/>
  <p:notesSz cx="6858000" cy="9144000"/>
  <p:embeddedFontLst>
    <p:embeddedFont>
      <p:font typeface="Baloo" panose="020B0604020202020204" charset="0"/>
      <p:regular r:id="rId21"/>
    </p:embeddedFont>
    <p:embeddedFont>
      <p:font typeface="Nunito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22" autoAdjust="0"/>
  </p:normalViewPr>
  <p:slideViewPr>
    <p:cSldViewPr>
      <p:cViewPr varScale="1">
        <p:scale>
          <a:sx n="59" d="100"/>
          <a:sy n="59" d="100"/>
        </p:scale>
        <p:origin x="331" y="-46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E34D3-30AA-4007-81B7-E049CC9D0376}" type="datetimeFigureOut">
              <a:rPr lang="en-ID" smtClean="0"/>
              <a:t>23/11/2025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E345B2-F3A1-408D-86B4-4C1E839A363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31264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E345B2-F3A1-408D-86B4-4C1E839A3635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55190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.png"/><Relationship Id="rId18" Type="http://schemas.openxmlformats.org/officeDocument/2006/relationships/image" Target="../media/image20.svg"/><Relationship Id="rId3" Type="http://schemas.openxmlformats.org/officeDocument/2006/relationships/image" Target="../media/image1.png"/><Relationship Id="rId21" Type="http://schemas.openxmlformats.org/officeDocument/2006/relationships/image" Target="../media/image31.png"/><Relationship Id="rId7" Type="http://schemas.openxmlformats.org/officeDocument/2006/relationships/image" Target="../media/image25.png"/><Relationship Id="rId12" Type="http://schemas.openxmlformats.org/officeDocument/2006/relationships/image" Target="../media/image8.sv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8.svg"/><Relationship Id="rId20" Type="http://schemas.openxmlformats.org/officeDocument/2006/relationships/image" Target="../media/image3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11" Type="http://schemas.openxmlformats.org/officeDocument/2006/relationships/image" Target="../media/image7.png"/><Relationship Id="rId24" Type="http://schemas.openxmlformats.org/officeDocument/2006/relationships/image" Target="../media/image34.svg"/><Relationship Id="rId5" Type="http://schemas.openxmlformats.org/officeDocument/2006/relationships/image" Target="../media/image23.png"/><Relationship Id="rId15" Type="http://schemas.openxmlformats.org/officeDocument/2006/relationships/image" Target="../media/image17.png"/><Relationship Id="rId23" Type="http://schemas.openxmlformats.org/officeDocument/2006/relationships/image" Target="../media/image33.png"/><Relationship Id="rId10" Type="http://schemas.openxmlformats.org/officeDocument/2006/relationships/image" Target="../media/image28.svg"/><Relationship Id="rId19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27.png"/><Relationship Id="rId14" Type="http://schemas.openxmlformats.org/officeDocument/2006/relationships/image" Target="../media/image4.svg"/><Relationship Id="rId22" Type="http://schemas.openxmlformats.org/officeDocument/2006/relationships/image" Target="../media/image3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2.svg"/><Relationship Id="rId3" Type="http://schemas.openxmlformats.org/officeDocument/2006/relationships/image" Target="../media/image12.svg"/><Relationship Id="rId7" Type="http://schemas.openxmlformats.org/officeDocument/2006/relationships/image" Target="../media/image38.svg"/><Relationship Id="rId12" Type="http://schemas.openxmlformats.org/officeDocument/2006/relationships/image" Target="../media/image4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30.svg"/><Relationship Id="rId5" Type="http://schemas.openxmlformats.org/officeDocument/2006/relationships/image" Target="../media/image36.svg"/><Relationship Id="rId15" Type="http://schemas.openxmlformats.org/officeDocument/2006/relationships/image" Target="../media/image16.svg"/><Relationship Id="rId10" Type="http://schemas.openxmlformats.org/officeDocument/2006/relationships/image" Target="../media/image29.png"/><Relationship Id="rId4" Type="http://schemas.openxmlformats.org/officeDocument/2006/relationships/image" Target="../media/image35.png"/><Relationship Id="rId9" Type="http://schemas.openxmlformats.org/officeDocument/2006/relationships/image" Target="../media/image40.sv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44.svg"/><Relationship Id="rId7" Type="http://schemas.openxmlformats.org/officeDocument/2006/relationships/image" Target="../media/image48.svg"/><Relationship Id="rId12" Type="http://schemas.openxmlformats.org/officeDocument/2006/relationships/image" Target="../media/image50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49.png"/><Relationship Id="rId5" Type="http://schemas.openxmlformats.org/officeDocument/2006/relationships/image" Target="../media/image46.svg"/><Relationship Id="rId10" Type="http://schemas.openxmlformats.org/officeDocument/2006/relationships/hyperlink" Target="https://www.bps.go.id/id/statistics-table/1/MjI1NSMx/rata-rata-upah-gaji-bersih-sebulan-buruh-karyawan-pegawai-menurut-provinsi-dan-jenis-pekerjaan-utama--2024.html" TargetMode="External"/><Relationship Id="rId4" Type="http://schemas.openxmlformats.org/officeDocument/2006/relationships/image" Target="../media/image45.png"/><Relationship Id="rId9" Type="http://schemas.openxmlformats.org/officeDocument/2006/relationships/image" Target="../media/image3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2.svg"/><Relationship Id="rId7" Type="http://schemas.openxmlformats.org/officeDocument/2006/relationships/image" Target="../media/image54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svg"/><Relationship Id="rId10" Type="http://schemas.openxmlformats.org/officeDocument/2006/relationships/image" Target="../media/image55.jpeg"/><Relationship Id="rId4" Type="http://schemas.openxmlformats.org/officeDocument/2006/relationships/image" Target="../media/image51.png"/><Relationship Id="rId9" Type="http://schemas.openxmlformats.org/officeDocument/2006/relationships/image" Target="../media/image3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44.svg"/><Relationship Id="rId7" Type="http://schemas.openxmlformats.org/officeDocument/2006/relationships/image" Target="../media/image59.svg"/><Relationship Id="rId12" Type="http://schemas.openxmlformats.org/officeDocument/2006/relationships/image" Target="../media/image64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63.svg"/><Relationship Id="rId5" Type="http://schemas.openxmlformats.org/officeDocument/2006/relationships/image" Target="../media/image57.sv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svg"/><Relationship Id="rId3" Type="http://schemas.openxmlformats.org/officeDocument/2006/relationships/image" Target="../media/image12.svg"/><Relationship Id="rId7" Type="http://schemas.openxmlformats.org/officeDocument/2006/relationships/image" Target="../media/image68.svg"/><Relationship Id="rId12" Type="http://schemas.openxmlformats.org/officeDocument/2006/relationships/image" Target="../media/image73.png"/><Relationship Id="rId2" Type="http://schemas.openxmlformats.org/officeDocument/2006/relationships/image" Target="../media/image11.png"/><Relationship Id="rId16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72.svg"/><Relationship Id="rId5" Type="http://schemas.openxmlformats.org/officeDocument/2006/relationships/image" Target="../media/image66.svg"/><Relationship Id="rId15" Type="http://schemas.openxmlformats.org/officeDocument/2006/relationships/image" Target="../media/image17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svg"/><Relationship Id="rId14" Type="http://schemas.openxmlformats.org/officeDocument/2006/relationships/image" Target="../media/image75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4.svg"/><Relationship Id="rId7" Type="http://schemas.openxmlformats.org/officeDocument/2006/relationships/image" Target="../media/image61.svg"/><Relationship Id="rId12" Type="http://schemas.openxmlformats.org/officeDocument/2006/relationships/image" Target="../media/image76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11" Type="http://schemas.openxmlformats.org/officeDocument/2006/relationships/image" Target="../media/image16.svg"/><Relationship Id="rId5" Type="http://schemas.openxmlformats.org/officeDocument/2006/relationships/image" Target="../media/image59.svg"/><Relationship Id="rId10" Type="http://schemas.openxmlformats.org/officeDocument/2006/relationships/image" Target="../media/image15.png"/><Relationship Id="rId4" Type="http://schemas.openxmlformats.org/officeDocument/2006/relationships/image" Target="../media/image58.png"/><Relationship Id="rId9" Type="http://schemas.openxmlformats.org/officeDocument/2006/relationships/image" Target="../media/image4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30.svg"/><Relationship Id="rId3" Type="http://schemas.openxmlformats.org/officeDocument/2006/relationships/image" Target="../media/image12.svg"/><Relationship Id="rId7" Type="http://schemas.openxmlformats.org/officeDocument/2006/relationships/image" Target="../media/image68.svg"/><Relationship Id="rId12" Type="http://schemas.openxmlformats.org/officeDocument/2006/relationships/image" Target="../media/image29.png"/><Relationship Id="rId2" Type="http://schemas.openxmlformats.org/officeDocument/2006/relationships/image" Target="../media/image11.png"/><Relationship Id="rId16" Type="http://schemas.openxmlformats.org/officeDocument/2006/relationships/image" Target="../media/image7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32.svg"/><Relationship Id="rId5" Type="http://schemas.openxmlformats.org/officeDocument/2006/relationships/image" Target="../media/image66.svg"/><Relationship Id="rId15" Type="http://schemas.openxmlformats.org/officeDocument/2006/relationships/image" Target="../media/image78.svg"/><Relationship Id="rId10" Type="http://schemas.openxmlformats.org/officeDocument/2006/relationships/image" Target="../media/image31.png"/><Relationship Id="rId4" Type="http://schemas.openxmlformats.org/officeDocument/2006/relationships/image" Target="../media/image65.png"/><Relationship Id="rId9" Type="http://schemas.openxmlformats.org/officeDocument/2006/relationships/image" Target="../media/image74.svg"/><Relationship Id="rId14" Type="http://schemas.openxmlformats.org/officeDocument/2006/relationships/image" Target="../media/image7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44.svg"/><Relationship Id="rId7" Type="http://schemas.openxmlformats.org/officeDocument/2006/relationships/image" Target="../media/image83.svg"/><Relationship Id="rId12" Type="http://schemas.openxmlformats.org/officeDocument/2006/relationships/image" Target="../media/image86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image" Target="../media/image59.svg"/><Relationship Id="rId5" Type="http://schemas.openxmlformats.org/officeDocument/2006/relationships/image" Target="../media/image81.svg"/><Relationship Id="rId10" Type="http://schemas.openxmlformats.org/officeDocument/2006/relationships/image" Target="../media/image58.png"/><Relationship Id="rId4" Type="http://schemas.openxmlformats.org/officeDocument/2006/relationships/image" Target="../media/image80.png"/><Relationship Id="rId9" Type="http://schemas.openxmlformats.org/officeDocument/2006/relationships/image" Target="../media/image8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4.svg"/><Relationship Id="rId18" Type="http://schemas.openxmlformats.org/officeDocument/2006/relationships/image" Target="../media/image91.svg"/><Relationship Id="rId3" Type="http://schemas.openxmlformats.org/officeDocument/2006/relationships/image" Target="../media/image12.svg"/><Relationship Id="rId7" Type="http://schemas.openxmlformats.org/officeDocument/2006/relationships/image" Target="../media/image54.svg"/><Relationship Id="rId12" Type="http://schemas.openxmlformats.org/officeDocument/2006/relationships/image" Target="../media/image3.png"/><Relationship Id="rId17" Type="http://schemas.openxmlformats.org/officeDocument/2006/relationships/image" Target="../media/image90.png"/><Relationship Id="rId2" Type="http://schemas.openxmlformats.org/officeDocument/2006/relationships/image" Target="../media/image11.png"/><Relationship Id="rId16" Type="http://schemas.openxmlformats.org/officeDocument/2006/relationships/image" Target="../media/image8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11" Type="http://schemas.openxmlformats.org/officeDocument/2006/relationships/image" Target="../media/image63.svg"/><Relationship Id="rId5" Type="http://schemas.openxmlformats.org/officeDocument/2006/relationships/image" Target="../media/image52.svg"/><Relationship Id="rId15" Type="http://schemas.openxmlformats.org/officeDocument/2006/relationships/image" Target="../media/image88.png"/><Relationship Id="rId10" Type="http://schemas.openxmlformats.org/officeDocument/2006/relationships/image" Target="../media/image62.png"/><Relationship Id="rId4" Type="http://schemas.openxmlformats.org/officeDocument/2006/relationships/image" Target="../media/image51.png"/><Relationship Id="rId9" Type="http://schemas.openxmlformats.org/officeDocument/2006/relationships/image" Target="../media/image46.svg"/><Relationship Id="rId14" Type="http://schemas.openxmlformats.org/officeDocument/2006/relationships/image" Target="../media/image87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44.svg"/><Relationship Id="rId7" Type="http://schemas.openxmlformats.org/officeDocument/2006/relationships/image" Target="../media/image32.sv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48.svg"/><Relationship Id="rId10" Type="http://schemas.openxmlformats.org/officeDocument/2006/relationships/image" Target="../media/image93.jpeg"/><Relationship Id="rId4" Type="http://schemas.openxmlformats.org/officeDocument/2006/relationships/image" Target="../media/image47.png"/><Relationship Id="rId9" Type="http://schemas.openxmlformats.org/officeDocument/2006/relationships/image" Target="../media/image59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77.png"/><Relationship Id="rId3" Type="http://schemas.openxmlformats.org/officeDocument/2006/relationships/image" Target="../media/image12.svg"/><Relationship Id="rId7" Type="http://schemas.openxmlformats.org/officeDocument/2006/relationships/image" Target="../media/image38.svg"/><Relationship Id="rId12" Type="http://schemas.openxmlformats.org/officeDocument/2006/relationships/image" Target="../media/image94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30.svg"/><Relationship Id="rId5" Type="http://schemas.openxmlformats.org/officeDocument/2006/relationships/image" Target="../media/image36.svg"/><Relationship Id="rId10" Type="http://schemas.openxmlformats.org/officeDocument/2006/relationships/image" Target="../media/image29.png"/><Relationship Id="rId4" Type="http://schemas.openxmlformats.org/officeDocument/2006/relationships/image" Target="../media/image35.png"/><Relationship Id="rId9" Type="http://schemas.openxmlformats.org/officeDocument/2006/relationships/image" Target="../media/image40.svg"/><Relationship Id="rId14" Type="http://schemas.openxmlformats.org/officeDocument/2006/relationships/image" Target="../media/image7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44.svg"/><Relationship Id="rId7" Type="http://schemas.openxmlformats.org/officeDocument/2006/relationships/image" Target="../media/image59.svg"/><Relationship Id="rId12" Type="http://schemas.openxmlformats.org/officeDocument/2006/relationships/image" Target="../media/image98.jpe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97.jpeg"/><Relationship Id="rId5" Type="http://schemas.openxmlformats.org/officeDocument/2006/relationships/image" Target="../media/image57.svg"/><Relationship Id="rId10" Type="http://schemas.openxmlformats.org/officeDocument/2006/relationships/image" Target="../media/image96.jpeg"/><Relationship Id="rId4" Type="http://schemas.openxmlformats.org/officeDocument/2006/relationships/image" Target="../media/image56.png"/><Relationship Id="rId9" Type="http://schemas.openxmlformats.org/officeDocument/2006/relationships/image" Target="../media/image63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99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48.svg"/><Relationship Id="rId18" Type="http://schemas.openxmlformats.org/officeDocument/2006/relationships/image" Target="../media/image71.png"/><Relationship Id="rId3" Type="http://schemas.openxmlformats.org/officeDocument/2006/relationships/image" Target="../media/image12.svg"/><Relationship Id="rId21" Type="http://schemas.openxmlformats.org/officeDocument/2006/relationships/image" Target="../media/image107.svg"/><Relationship Id="rId7" Type="http://schemas.openxmlformats.org/officeDocument/2006/relationships/image" Target="../media/image103.svg"/><Relationship Id="rId12" Type="http://schemas.openxmlformats.org/officeDocument/2006/relationships/image" Target="../media/image47.png"/><Relationship Id="rId17" Type="http://schemas.openxmlformats.org/officeDocument/2006/relationships/image" Target="../media/image78.svg"/><Relationship Id="rId2" Type="http://schemas.openxmlformats.org/officeDocument/2006/relationships/image" Target="../media/image11.png"/><Relationship Id="rId16" Type="http://schemas.openxmlformats.org/officeDocument/2006/relationships/image" Target="../media/image77.png"/><Relationship Id="rId20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11" Type="http://schemas.openxmlformats.org/officeDocument/2006/relationships/image" Target="../media/image30.svg"/><Relationship Id="rId5" Type="http://schemas.openxmlformats.org/officeDocument/2006/relationships/image" Target="../media/image101.svg"/><Relationship Id="rId15" Type="http://schemas.openxmlformats.org/officeDocument/2006/relationships/image" Target="../media/image32.svg"/><Relationship Id="rId23" Type="http://schemas.openxmlformats.org/officeDocument/2006/relationships/image" Target="../media/image109.svg"/><Relationship Id="rId10" Type="http://schemas.openxmlformats.org/officeDocument/2006/relationships/image" Target="../media/image29.png"/><Relationship Id="rId19" Type="http://schemas.openxmlformats.org/officeDocument/2006/relationships/image" Target="../media/image72.svg"/><Relationship Id="rId4" Type="http://schemas.openxmlformats.org/officeDocument/2006/relationships/image" Target="../media/image100.png"/><Relationship Id="rId9" Type="http://schemas.openxmlformats.org/officeDocument/2006/relationships/image" Target="../media/image105.svg"/><Relationship Id="rId14" Type="http://schemas.openxmlformats.org/officeDocument/2006/relationships/image" Target="../media/image31.png"/><Relationship Id="rId22" Type="http://schemas.openxmlformats.org/officeDocument/2006/relationships/image" Target="../media/image108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4.svg"/><Relationship Id="rId18" Type="http://schemas.openxmlformats.org/officeDocument/2006/relationships/image" Target="../media/image49.png"/><Relationship Id="rId26" Type="http://schemas.openxmlformats.org/officeDocument/2006/relationships/image" Target="../media/image114.png"/><Relationship Id="rId3" Type="http://schemas.openxmlformats.org/officeDocument/2006/relationships/image" Target="../media/image12.svg"/><Relationship Id="rId21" Type="http://schemas.openxmlformats.org/officeDocument/2006/relationships/image" Target="../media/image63.svg"/><Relationship Id="rId34" Type="http://schemas.openxmlformats.org/officeDocument/2006/relationships/image" Target="../media/image90.png"/><Relationship Id="rId7" Type="http://schemas.openxmlformats.org/officeDocument/2006/relationships/image" Target="../media/image111.svg"/><Relationship Id="rId12" Type="http://schemas.openxmlformats.org/officeDocument/2006/relationships/image" Target="../media/image73.png"/><Relationship Id="rId17" Type="http://schemas.openxmlformats.org/officeDocument/2006/relationships/image" Target="../media/image61.svg"/><Relationship Id="rId25" Type="http://schemas.openxmlformats.org/officeDocument/2006/relationships/image" Target="../media/image32.svg"/><Relationship Id="rId33" Type="http://schemas.openxmlformats.org/officeDocument/2006/relationships/image" Target="../media/image119.svg"/><Relationship Id="rId2" Type="http://schemas.openxmlformats.org/officeDocument/2006/relationships/image" Target="../media/image11.png"/><Relationship Id="rId16" Type="http://schemas.openxmlformats.org/officeDocument/2006/relationships/image" Target="../media/image60.png"/><Relationship Id="rId20" Type="http://schemas.openxmlformats.org/officeDocument/2006/relationships/image" Target="../media/image62.png"/><Relationship Id="rId29" Type="http://schemas.openxmlformats.org/officeDocument/2006/relationships/image" Target="../media/image8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11" Type="http://schemas.openxmlformats.org/officeDocument/2006/relationships/image" Target="../media/image72.svg"/><Relationship Id="rId24" Type="http://schemas.openxmlformats.org/officeDocument/2006/relationships/image" Target="../media/image31.png"/><Relationship Id="rId32" Type="http://schemas.openxmlformats.org/officeDocument/2006/relationships/image" Target="../media/image118.png"/><Relationship Id="rId5" Type="http://schemas.openxmlformats.org/officeDocument/2006/relationships/image" Target="../media/image85.svg"/><Relationship Id="rId15" Type="http://schemas.openxmlformats.org/officeDocument/2006/relationships/image" Target="../media/image113.svg"/><Relationship Id="rId23" Type="http://schemas.openxmlformats.org/officeDocument/2006/relationships/image" Target="../media/image48.svg"/><Relationship Id="rId28" Type="http://schemas.openxmlformats.org/officeDocument/2006/relationships/image" Target="../media/image82.png"/><Relationship Id="rId10" Type="http://schemas.openxmlformats.org/officeDocument/2006/relationships/image" Target="../media/image71.png"/><Relationship Id="rId19" Type="http://schemas.openxmlformats.org/officeDocument/2006/relationships/image" Target="../media/image50.svg"/><Relationship Id="rId31" Type="http://schemas.openxmlformats.org/officeDocument/2006/relationships/image" Target="../media/image117.svg"/><Relationship Id="rId4" Type="http://schemas.openxmlformats.org/officeDocument/2006/relationships/image" Target="../media/image84.png"/><Relationship Id="rId9" Type="http://schemas.openxmlformats.org/officeDocument/2006/relationships/image" Target="../media/image78.svg"/><Relationship Id="rId14" Type="http://schemas.openxmlformats.org/officeDocument/2006/relationships/image" Target="../media/image112.png"/><Relationship Id="rId22" Type="http://schemas.openxmlformats.org/officeDocument/2006/relationships/image" Target="../media/image47.png"/><Relationship Id="rId27" Type="http://schemas.openxmlformats.org/officeDocument/2006/relationships/image" Target="../media/image115.svg"/><Relationship Id="rId30" Type="http://schemas.openxmlformats.org/officeDocument/2006/relationships/image" Target="../media/image116.png"/><Relationship Id="rId35" Type="http://schemas.openxmlformats.org/officeDocument/2006/relationships/image" Target="../media/image91.svg"/><Relationship Id="rId8" Type="http://schemas.openxmlformats.org/officeDocument/2006/relationships/image" Target="../media/image77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3.svg"/><Relationship Id="rId18" Type="http://schemas.openxmlformats.org/officeDocument/2006/relationships/image" Target="../media/image126.png"/><Relationship Id="rId26" Type="http://schemas.openxmlformats.org/officeDocument/2006/relationships/image" Target="../media/image128.png"/><Relationship Id="rId3" Type="http://schemas.openxmlformats.org/officeDocument/2006/relationships/image" Target="../media/image12.svg"/><Relationship Id="rId21" Type="http://schemas.openxmlformats.org/officeDocument/2006/relationships/image" Target="../media/image109.svg"/><Relationship Id="rId34" Type="http://schemas.openxmlformats.org/officeDocument/2006/relationships/image" Target="../media/image132.png"/><Relationship Id="rId7" Type="http://schemas.openxmlformats.org/officeDocument/2006/relationships/image" Target="../media/image105.svg"/><Relationship Id="rId12" Type="http://schemas.openxmlformats.org/officeDocument/2006/relationships/image" Target="../media/image122.png"/><Relationship Id="rId17" Type="http://schemas.openxmlformats.org/officeDocument/2006/relationships/image" Target="../media/image125.svg"/><Relationship Id="rId25" Type="http://schemas.openxmlformats.org/officeDocument/2006/relationships/image" Target="../media/image54.svg"/><Relationship Id="rId33" Type="http://schemas.openxmlformats.org/officeDocument/2006/relationships/image" Target="../media/image89.svg"/><Relationship Id="rId2" Type="http://schemas.openxmlformats.org/officeDocument/2006/relationships/image" Target="../media/image11.png"/><Relationship Id="rId16" Type="http://schemas.openxmlformats.org/officeDocument/2006/relationships/image" Target="../media/image124.png"/><Relationship Id="rId20" Type="http://schemas.openxmlformats.org/officeDocument/2006/relationships/image" Target="../media/image108.png"/><Relationship Id="rId29" Type="http://schemas.openxmlformats.org/officeDocument/2006/relationships/image" Target="../media/image3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11" Type="http://schemas.openxmlformats.org/officeDocument/2006/relationships/image" Target="../media/image121.svg"/><Relationship Id="rId24" Type="http://schemas.openxmlformats.org/officeDocument/2006/relationships/image" Target="../media/image53.png"/><Relationship Id="rId32" Type="http://schemas.openxmlformats.org/officeDocument/2006/relationships/image" Target="../media/image88.png"/><Relationship Id="rId5" Type="http://schemas.openxmlformats.org/officeDocument/2006/relationships/image" Target="../media/image101.svg"/><Relationship Id="rId15" Type="http://schemas.openxmlformats.org/officeDocument/2006/relationships/image" Target="../media/image68.svg"/><Relationship Id="rId23" Type="http://schemas.openxmlformats.org/officeDocument/2006/relationships/image" Target="../media/image8.svg"/><Relationship Id="rId28" Type="http://schemas.openxmlformats.org/officeDocument/2006/relationships/image" Target="../media/image35.png"/><Relationship Id="rId10" Type="http://schemas.openxmlformats.org/officeDocument/2006/relationships/image" Target="../media/image120.png"/><Relationship Id="rId19" Type="http://schemas.openxmlformats.org/officeDocument/2006/relationships/image" Target="../media/image127.svg"/><Relationship Id="rId31" Type="http://schemas.openxmlformats.org/officeDocument/2006/relationships/image" Target="../media/image131.svg"/><Relationship Id="rId4" Type="http://schemas.openxmlformats.org/officeDocument/2006/relationships/image" Target="../media/image100.png"/><Relationship Id="rId9" Type="http://schemas.openxmlformats.org/officeDocument/2006/relationships/image" Target="../media/image30.svg"/><Relationship Id="rId14" Type="http://schemas.openxmlformats.org/officeDocument/2006/relationships/image" Target="../media/image67.png"/><Relationship Id="rId22" Type="http://schemas.openxmlformats.org/officeDocument/2006/relationships/image" Target="../media/image7.png"/><Relationship Id="rId27" Type="http://schemas.openxmlformats.org/officeDocument/2006/relationships/image" Target="../media/image129.svg"/><Relationship Id="rId30" Type="http://schemas.openxmlformats.org/officeDocument/2006/relationships/image" Target="../media/image130.png"/><Relationship Id="rId35" Type="http://schemas.openxmlformats.org/officeDocument/2006/relationships/image" Target="../media/image133.svg"/><Relationship Id="rId8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46654" y="0"/>
            <a:ext cx="20781307" cy="10403658"/>
            <a:chOff x="0" y="0"/>
            <a:chExt cx="27708410" cy="13871544"/>
          </a:xfrm>
        </p:grpSpPr>
        <p:sp>
          <p:nvSpPr>
            <p:cNvPr id="3" name="Freeform 3"/>
            <p:cNvSpPr/>
            <p:nvPr/>
          </p:nvSpPr>
          <p:spPr>
            <a:xfrm>
              <a:off x="13854205" y="0"/>
              <a:ext cx="13854205" cy="13871544"/>
            </a:xfrm>
            <a:custGeom>
              <a:avLst/>
              <a:gdLst/>
              <a:ahLst/>
              <a:cxnLst/>
              <a:rect l="l" t="t" r="r" b="b"/>
              <a:pathLst>
                <a:path w="13854205" h="13871544">
                  <a:moveTo>
                    <a:pt x="0" y="0"/>
                  </a:moveTo>
                  <a:lnTo>
                    <a:pt x="13854205" y="0"/>
                  </a:lnTo>
                  <a:lnTo>
                    <a:pt x="13854205" y="13871544"/>
                  </a:lnTo>
                  <a:lnTo>
                    <a:pt x="0" y="13871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3854205" cy="13871544"/>
            </a:xfrm>
            <a:custGeom>
              <a:avLst/>
              <a:gdLst/>
              <a:ahLst/>
              <a:cxnLst/>
              <a:rect l="l" t="t" r="r" b="b"/>
              <a:pathLst>
                <a:path w="13854205" h="13871544">
                  <a:moveTo>
                    <a:pt x="0" y="0"/>
                  </a:moveTo>
                  <a:lnTo>
                    <a:pt x="13854205" y="0"/>
                  </a:lnTo>
                  <a:lnTo>
                    <a:pt x="13854205" y="13871544"/>
                  </a:lnTo>
                  <a:lnTo>
                    <a:pt x="0" y="13871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1069863">
            <a:off x="13169692" y="5065020"/>
            <a:ext cx="3980108" cy="5143919"/>
          </a:xfrm>
          <a:custGeom>
            <a:avLst/>
            <a:gdLst/>
            <a:ahLst/>
            <a:cxnLst/>
            <a:rect l="l" t="t" r="r" b="b"/>
            <a:pathLst>
              <a:path w="3980108" h="5143919">
                <a:moveTo>
                  <a:pt x="0" y="0"/>
                </a:moveTo>
                <a:lnTo>
                  <a:pt x="3980107" y="0"/>
                </a:lnTo>
                <a:lnTo>
                  <a:pt x="3980107" y="5143919"/>
                </a:lnTo>
                <a:lnTo>
                  <a:pt x="0" y="51439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704247" y="1853967"/>
            <a:ext cx="11483995" cy="7062657"/>
          </a:xfrm>
          <a:custGeom>
            <a:avLst/>
            <a:gdLst/>
            <a:ahLst/>
            <a:cxnLst/>
            <a:rect l="l" t="t" r="r" b="b"/>
            <a:pathLst>
              <a:path w="11483995" h="7062657">
                <a:moveTo>
                  <a:pt x="0" y="0"/>
                </a:moveTo>
                <a:lnTo>
                  <a:pt x="11483995" y="0"/>
                </a:lnTo>
                <a:lnTo>
                  <a:pt x="11483995" y="7062657"/>
                </a:lnTo>
                <a:lnTo>
                  <a:pt x="0" y="70626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880364">
            <a:off x="680159" y="3022366"/>
            <a:ext cx="4040009" cy="3191607"/>
          </a:xfrm>
          <a:custGeom>
            <a:avLst/>
            <a:gdLst/>
            <a:ahLst/>
            <a:cxnLst/>
            <a:rect l="l" t="t" r="r" b="b"/>
            <a:pathLst>
              <a:path w="4040009" h="3191607">
                <a:moveTo>
                  <a:pt x="0" y="0"/>
                </a:moveTo>
                <a:lnTo>
                  <a:pt x="4040009" y="0"/>
                </a:lnTo>
                <a:lnTo>
                  <a:pt x="4040009" y="3191607"/>
                </a:lnTo>
                <a:lnTo>
                  <a:pt x="0" y="31916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3402002" y="1612172"/>
            <a:ext cx="11483995" cy="7062657"/>
            <a:chOff x="0" y="0"/>
            <a:chExt cx="15311993" cy="941687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311993" cy="9416876"/>
            </a:xfrm>
            <a:custGeom>
              <a:avLst/>
              <a:gdLst/>
              <a:ahLst/>
              <a:cxnLst/>
              <a:rect l="l" t="t" r="r" b="b"/>
              <a:pathLst>
                <a:path w="15311993" h="9416876">
                  <a:moveTo>
                    <a:pt x="0" y="0"/>
                  </a:moveTo>
                  <a:lnTo>
                    <a:pt x="15311993" y="0"/>
                  </a:lnTo>
                  <a:lnTo>
                    <a:pt x="15311993" y="9416876"/>
                  </a:lnTo>
                  <a:lnTo>
                    <a:pt x="0" y="9416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480050" y="1781890"/>
              <a:ext cx="7031684" cy="7040485"/>
            </a:xfrm>
            <a:custGeom>
              <a:avLst/>
              <a:gdLst/>
              <a:ahLst/>
              <a:cxnLst/>
              <a:rect l="l" t="t" r="r" b="b"/>
              <a:pathLst>
                <a:path w="7031684" h="7040485">
                  <a:moveTo>
                    <a:pt x="0" y="0"/>
                  </a:moveTo>
                  <a:lnTo>
                    <a:pt x="7031684" y="0"/>
                  </a:lnTo>
                  <a:lnTo>
                    <a:pt x="7031684" y="7040485"/>
                  </a:lnTo>
                  <a:lnTo>
                    <a:pt x="0" y="7040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7473634" y="1781890"/>
              <a:ext cx="7031684" cy="7040485"/>
            </a:xfrm>
            <a:custGeom>
              <a:avLst/>
              <a:gdLst/>
              <a:ahLst/>
              <a:cxnLst/>
              <a:rect l="l" t="t" r="r" b="b"/>
              <a:pathLst>
                <a:path w="7031684" h="7040485">
                  <a:moveTo>
                    <a:pt x="0" y="0"/>
                  </a:moveTo>
                  <a:lnTo>
                    <a:pt x="7031684" y="0"/>
                  </a:lnTo>
                  <a:lnTo>
                    <a:pt x="7031684" y="7040485"/>
                  </a:lnTo>
                  <a:lnTo>
                    <a:pt x="0" y="7040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4467862" y="2054996"/>
              <a:ext cx="364082" cy="6414901"/>
            </a:xfrm>
            <a:custGeom>
              <a:avLst/>
              <a:gdLst/>
              <a:ahLst/>
              <a:cxnLst/>
              <a:rect l="l" t="t" r="r" b="b"/>
              <a:pathLst>
                <a:path w="364082" h="6414901">
                  <a:moveTo>
                    <a:pt x="0" y="0"/>
                  </a:moveTo>
                  <a:lnTo>
                    <a:pt x="364082" y="0"/>
                  </a:lnTo>
                  <a:lnTo>
                    <a:pt x="364082" y="6414901"/>
                  </a:lnTo>
                  <a:lnTo>
                    <a:pt x="0" y="641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t="-4257" r="-1831345" b="-5494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 rot="-913414">
            <a:off x="13438556" y="1926448"/>
            <a:ext cx="2220065" cy="2377579"/>
          </a:xfrm>
          <a:custGeom>
            <a:avLst/>
            <a:gdLst/>
            <a:ahLst/>
            <a:cxnLst/>
            <a:rect l="l" t="t" r="r" b="b"/>
            <a:pathLst>
              <a:path w="2220065" h="2377579">
                <a:moveTo>
                  <a:pt x="0" y="0"/>
                </a:moveTo>
                <a:lnTo>
                  <a:pt x="2220065" y="0"/>
                </a:lnTo>
                <a:lnTo>
                  <a:pt x="2220065" y="2377579"/>
                </a:lnTo>
                <a:lnTo>
                  <a:pt x="0" y="23775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07828" y="6721085"/>
            <a:ext cx="3578323" cy="2294599"/>
          </a:xfrm>
          <a:custGeom>
            <a:avLst/>
            <a:gdLst/>
            <a:ahLst/>
            <a:cxnLst/>
            <a:rect l="l" t="t" r="r" b="b"/>
            <a:pathLst>
              <a:path w="3578323" h="2294599">
                <a:moveTo>
                  <a:pt x="0" y="0"/>
                </a:moveTo>
                <a:lnTo>
                  <a:pt x="3578323" y="0"/>
                </a:lnTo>
                <a:lnTo>
                  <a:pt x="3578323" y="2294599"/>
                </a:lnTo>
                <a:lnTo>
                  <a:pt x="0" y="229459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6909367" y="2546712"/>
            <a:ext cx="4671856" cy="818560"/>
            <a:chOff x="0" y="0"/>
            <a:chExt cx="6229141" cy="1091413"/>
          </a:xfrm>
        </p:grpSpPr>
        <p:grpSp>
          <p:nvGrpSpPr>
            <p:cNvPr id="16" name="Group 16"/>
            <p:cNvGrpSpPr/>
            <p:nvPr/>
          </p:nvGrpSpPr>
          <p:grpSpPr>
            <a:xfrm>
              <a:off x="90367" y="84719"/>
              <a:ext cx="6138774" cy="1006694"/>
              <a:chOff x="0" y="0"/>
              <a:chExt cx="1384608" cy="227061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384608" cy="227061"/>
              </a:xfrm>
              <a:custGeom>
                <a:avLst/>
                <a:gdLst/>
                <a:ahLst/>
                <a:cxnLst/>
                <a:rect l="l" t="t" r="r" b="b"/>
                <a:pathLst>
                  <a:path w="1384608" h="227061">
                    <a:moveTo>
                      <a:pt x="113531" y="0"/>
                    </a:moveTo>
                    <a:lnTo>
                      <a:pt x="1271078" y="0"/>
                    </a:lnTo>
                    <a:cubicBezTo>
                      <a:pt x="1333779" y="0"/>
                      <a:pt x="1384608" y="50829"/>
                      <a:pt x="1384608" y="113531"/>
                    </a:cubicBezTo>
                    <a:lnTo>
                      <a:pt x="1384608" y="113531"/>
                    </a:lnTo>
                    <a:cubicBezTo>
                      <a:pt x="1384608" y="143641"/>
                      <a:pt x="1372647" y="172518"/>
                      <a:pt x="1351356" y="193809"/>
                    </a:cubicBezTo>
                    <a:cubicBezTo>
                      <a:pt x="1330065" y="215100"/>
                      <a:pt x="1301188" y="227061"/>
                      <a:pt x="1271078" y="227061"/>
                    </a:cubicBezTo>
                    <a:lnTo>
                      <a:pt x="113531" y="227061"/>
                    </a:lnTo>
                    <a:cubicBezTo>
                      <a:pt x="83420" y="227061"/>
                      <a:pt x="54543" y="215100"/>
                      <a:pt x="33252" y="193809"/>
                    </a:cubicBezTo>
                    <a:cubicBezTo>
                      <a:pt x="11961" y="172518"/>
                      <a:pt x="0" y="143641"/>
                      <a:pt x="0" y="113531"/>
                    </a:cubicBezTo>
                    <a:lnTo>
                      <a:pt x="0" y="113531"/>
                    </a:lnTo>
                    <a:cubicBezTo>
                      <a:pt x="0" y="83420"/>
                      <a:pt x="11961" y="54543"/>
                      <a:pt x="33252" y="33252"/>
                    </a:cubicBezTo>
                    <a:cubicBezTo>
                      <a:pt x="54543" y="11961"/>
                      <a:pt x="83420" y="0"/>
                      <a:pt x="113531" y="0"/>
                    </a:cubicBezTo>
                    <a:close/>
                  </a:path>
                </a:pathLst>
              </a:custGeom>
              <a:solidFill>
                <a:srgbClr val="162C3B"/>
              </a:solidFill>
              <a:ln w="66675" cap="rnd">
                <a:solidFill>
                  <a:srgbClr val="162C3B"/>
                </a:solidFill>
                <a:prstDash val="solid"/>
                <a:round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384608" cy="265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0" y="0"/>
              <a:ext cx="6138774" cy="1006694"/>
              <a:chOff x="0" y="0"/>
              <a:chExt cx="1384608" cy="22706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384608" cy="227061"/>
              </a:xfrm>
              <a:custGeom>
                <a:avLst/>
                <a:gdLst/>
                <a:ahLst/>
                <a:cxnLst/>
                <a:rect l="l" t="t" r="r" b="b"/>
                <a:pathLst>
                  <a:path w="1384608" h="227061">
                    <a:moveTo>
                      <a:pt x="113531" y="0"/>
                    </a:moveTo>
                    <a:lnTo>
                      <a:pt x="1271078" y="0"/>
                    </a:lnTo>
                    <a:cubicBezTo>
                      <a:pt x="1333779" y="0"/>
                      <a:pt x="1384608" y="50829"/>
                      <a:pt x="1384608" y="113531"/>
                    </a:cubicBezTo>
                    <a:lnTo>
                      <a:pt x="1384608" y="113531"/>
                    </a:lnTo>
                    <a:cubicBezTo>
                      <a:pt x="1384608" y="143641"/>
                      <a:pt x="1372647" y="172518"/>
                      <a:pt x="1351356" y="193809"/>
                    </a:cubicBezTo>
                    <a:cubicBezTo>
                      <a:pt x="1330065" y="215100"/>
                      <a:pt x="1301188" y="227061"/>
                      <a:pt x="1271078" y="227061"/>
                    </a:cubicBezTo>
                    <a:lnTo>
                      <a:pt x="113531" y="227061"/>
                    </a:lnTo>
                    <a:cubicBezTo>
                      <a:pt x="83420" y="227061"/>
                      <a:pt x="54543" y="215100"/>
                      <a:pt x="33252" y="193809"/>
                    </a:cubicBezTo>
                    <a:cubicBezTo>
                      <a:pt x="11961" y="172518"/>
                      <a:pt x="0" y="143641"/>
                      <a:pt x="0" y="113531"/>
                    </a:cubicBezTo>
                    <a:lnTo>
                      <a:pt x="0" y="113531"/>
                    </a:lnTo>
                    <a:cubicBezTo>
                      <a:pt x="0" y="83420"/>
                      <a:pt x="11961" y="54543"/>
                      <a:pt x="33252" y="33252"/>
                    </a:cubicBezTo>
                    <a:cubicBezTo>
                      <a:pt x="54543" y="11961"/>
                      <a:pt x="83420" y="0"/>
                      <a:pt x="113531" y="0"/>
                    </a:cubicBezTo>
                    <a:close/>
                  </a:path>
                </a:pathLst>
              </a:custGeom>
              <a:solidFill>
                <a:srgbClr val="FFAE00"/>
              </a:solidFill>
              <a:ln w="66675" cap="rnd">
                <a:solidFill>
                  <a:srgbClr val="162C3B"/>
                </a:solidFill>
                <a:prstDash val="solid"/>
                <a:round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384608" cy="265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2" name="Freeform 22"/>
          <p:cNvSpPr/>
          <p:nvPr/>
        </p:nvSpPr>
        <p:spPr>
          <a:xfrm rot="1980905">
            <a:off x="2622262" y="2043443"/>
            <a:ext cx="1996070" cy="1110314"/>
          </a:xfrm>
          <a:custGeom>
            <a:avLst/>
            <a:gdLst/>
            <a:ahLst/>
            <a:cxnLst/>
            <a:rect l="l" t="t" r="r" b="b"/>
            <a:pathLst>
              <a:path w="1996070" h="1110314">
                <a:moveTo>
                  <a:pt x="0" y="0"/>
                </a:moveTo>
                <a:lnTo>
                  <a:pt x="1996070" y="0"/>
                </a:lnTo>
                <a:lnTo>
                  <a:pt x="1996070" y="1110314"/>
                </a:lnTo>
                <a:lnTo>
                  <a:pt x="0" y="111031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3" name="Freeform 23"/>
          <p:cNvSpPr/>
          <p:nvPr/>
        </p:nvSpPr>
        <p:spPr>
          <a:xfrm rot="3684192">
            <a:off x="3773308" y="1134923"/>
            <a:ext cx="1436520" cy="799064"/>
          </a:xfrm>
          <a:custGeom>
            <a:avLst/>
            <a:gdLst/>
            <a:ahLst/>
            <a:cxnLst/>
            <a:rect l="l" t="t" r="r" b="b"/>
            <a:pathLst>
              <a:path w="1436520" h="799064">
                <a:moveTo>
                  <a:pt x="0" y="0"/>
                </a:moveTo>
                <a:lnTo>
                  <a:pt x="1436520" y="0"/>
                </a:lnTo>
                <a:lnTo>
                  <a:pt x="1436520" y="799064"/>
                </a:lnTo>
                <a:lnTo>
                  <a:pt x="0" y="79906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3079158" y="6873284"/>
            <a:ext cx="2493091" cy="2607154"/>
          </a:xfrm>
          <a:custGeom>
            <a:avLst/>
            <a:gdLst/>
            <a:ahLst/>
            <a:cxnLst/>
            <a:rect l="l" t="t" r="r" b="b"/>
            <a:pathLst>
              <a:path w="2493091" h="2607154">
                <a:moveTo>
                  <a:pt x="0" y="0"/>
                </a:moveTo>
                <a:lnTo>
                  <a:pt x="2493091" y="0"/>
                </a:lnTo>
                <a:lnTo>
                  <a:pt x="2493091" y="2607154"/>
                </a:lnTo>
                <a:lnTo>
                  <a:pt x="0" y="260715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4610989" y="3796740"/>
            <a:ext cx="9533713" cy="3385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7200" spc="-600" dirty="0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KLASIFIKASI GAJI DI PROVINSI INDONESIA PADA SUATU BIDANG TERTENTU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17150" y="3780165"/>
            <a:ext cx="10015207" cy="3385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7200" spc="-600" dirty="0">
                <a:solidFill>
                  <a:schemeClr val="tx2">
                    <a:lumMod val="40000"/>
                    <a:lumOff val="60000"/>
                  </a:schemeClr>
                </a:solidFill>
                <a:latin typeface="Baloo"/>
                <a:ea typeface="Baloo"/>
                <a:cs typeface="Baloo"/>
                <a:sym typeface="Baloo"/>
              </a:rPr>
              <a:t>KLASIFIKASI GAJI DI PROVINSI INDONESIA PADA SUATU BIDANG TERTENTU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909366" y="2752134"/>
            <a:ext cx="4604081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 spc="-225" dirty="0" err="1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Matematika</a:t>
            </a:r>
            <a:r>
              <a:rPr lang="en-US" sz="3000" spc="-225" dirty="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3000" spc="-225" dirty="0" err="1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Diskrit</a:t>
            </a:r>
            <a:r>
              <a:rPr lang="en-US" sz="3000" spc="-225" dirty="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ferris dir="l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2CA4F-CD82-DA6C-5CBA-2E9AF405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2E263E2-5BC7-308B-F3DA-9AA2B3B697AF}"/>
              </a:ext>
            </a:extLst>
          </p:cNvPr>
          <p:cNvGrpSpPr/>
          <p:nvPr/>
        </p:nvGrpSpPr>
        <p:grpSpPr>
          <a:xfrm>
            <a:off x="-1246654" y="0"/>
            <a:ext cx="20781307" cy="10403658"/>
            <a:chOff x="0" y="0"/>
            <a:chExt cx="27708410" cy="1387154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7E18323-35CA-F13F-0204-B8777DDCBED3}"/>
                </a:ext>
              </a:extLst>
            </p:cNvPr>
            <p:cNvSpPr/>
            <p:nvPr/>
          </p:nvSpPr>
          <p:spPr>
            <a:xfrm>
              <a:off x="13854205" y="0"/>
              <a:ext cx="13854205" cy="13871544"/>
            </a:xfrm>
            <a:custGeom>
              <a:avLst/>
              <a:gdLst/>
              <a:ahLst/>
              <a:cxnLst/>
              <a:rect l="l" t="t" r="r" b="b"/>
              <a:pathLst>
                <a:path w="13854205" h="13871544">
                  <a:moveTo>
                    <a:pt x="0" y="0"/>
                  </a:moveTo>
                  <a:lnTo>
                    <a:pt x="13854205" y="0"/>
                  </a:lnTo>
                  <a:lnTo>
                    <a:pt x="13854205" y="13871544"/>
                  </a:lnTo>
                  <a:lnTo>
                    <a:pt x="0" y="13871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219A39F-0EDD-AB99-918D-77F860601954}"/>
                </a:ext>
              </a:extLst>
            </p:cNvPr>
            <p:cNvSpPr/>
            <p:nvPr/>
          </p:nvSpPr>
          <p:spPr>
            <a:xfrm>
              <a:off x="0" y="0"/>
              <a:ext cx="13854205" cy="13871544"/>
            </a:xfrm>
            <a:custGeom>
              <a:avLst/>
              <a:gdLst/>
              <a:ahLst/>
              <a:cxnLst/>
              <a:rect l="l" t="t" r="r" b="b"/>
              <a:pathLst>
                <a:path w="13854205" h="13871544">
                  <a:moveTo>
                    <a:pt x="0" y="0"/>
                  </a:moveTo>
                  <a:lnTo>
                    <a:pt x="13854205" y="0"/>
                  </a:lnTo>
                  <a:lnTo>
                    <a:pt x="13854205" y="13871544"/>
                  </a:lnTo>
                  <a:lnTo>
                    <a:pt x="0" y="13871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BDBF3DE-536A-E16E-93C1-977C9B1370D3}"/>
              </a:ext>
            </a:extLst>
          </p:cNvPr>
          <p:cNvGrpSpPr/>
          <p:nvPr/>
        </p:nvGrpSpPr>
        <p:grpSpPr>
          <a:xfrm>
            <a:off x="3512143" y="3023648"/>
            <a:ext cx="11827903" cy="5989385"/>
            <a:chOff x="0" y="0"/>
            <a:chExt cx="3115168" cy="157745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33C8B6B-4BD4-0A0A-A346-54CF9D671549}"/>
                </a:ext>
              </a:extLst>
            </p:cNvPr>
            <p:cNvSpPr/>
            <p:nvPr/>
          </p:nvSpPr>
          <p:spPr>
            <a:xfrm>
              <a:off x="0" y="0"/>
              <a:ext cx="3115168" cy="1577451"/>
            </a:xfrm>
            <a:custGeom>
              <a:avLst/>
              <a:gdLst/>
              <a:ahLst/>
              <a:cxnLst/>
              <a:rect l="l" t="t" r="r" b="b"/>
              <a:pathLst>
                <a:path w="3115168" h="1577451">
                  <a:moveTo>
                    <a:pt x="22909" y="0"/>
                  </a:moveTo>
                  <a:lnTo>
                    <a:pt x="3092259" y="0"/>
                  </a:lnTo>
                  <a:cubicBezTo>
                    <a:pt x="3104911" y="0"/>
                    <a:pt x="3115168" y="10257"/>
                    <a:pt x="3115168" y="22909"/>
                  </a:cubicBezTo>
                  <a:lnTo>
                    <a:pt x="3115168" y="1554542"/>
                  </a:lnTo>
                  <a:cubicBezTo>
                    <a:pt x="3115168" y="1567195"/>
                    <a:pt x="3104911" y="1577451"/>
                    <a:pt x="3092259" y="1577451"/>
                  </a:cubicBezTo>
                  <a:lnTo>
                    <a:pt x="22909" y="1577451"/>
                  </a:lnTo>
                  <a:cubicBezTo>
                    <a:pt x="10257" y="1577451"/>
                    <a:pt x="0" y="1567195"/>
                    <a:pt x="0" y="1554542"/>
                  </a:cubicBezTo>
                  <a:lnTo>
                    <a:pt x="0" y="22909"/>
                  </a:lnTo>
                  <a:cubicBezTo>
                    <a:pt x="0" y="10257"/>
                    <a:pt x="10257" y="0"/>
                    <a:pt x="22909" y="0"/>
                  </a:cubicBezTo>
                  <a:close/>
                </a:path>
              </a:pathLst>
            </a:custGeom>
            <a:solidFill>
              <a:srgbClr val="162C3B">
                <a:alpha val="1490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E232D54-F531-0EAE-EA73-0EDF5F59D5EF}"/>
                </a:ext>
              </a:extLst>
            </p:cNvPr>
            <p:cNvSpPr txBox="1"/>
            <p:nvPr/>
          </p:nvSpPr>
          <p:spPr>
            <a:xfrm>
              <a:off x="0" y="-38100"/>
              <a:ext cx="3115168" cy="1615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9529B5C-149E-EDB9-00A8-84702B2F1934}"/>
              </a:ext>
            </a:extLst>
          </p:cNvPr>
          <p:cNvGrpSpPr/>
          <p:nvPr/>
        </p:nvGrpSpPr>
        <p:grpSpPr>
          <a:xfrm>
            <a:off x="3103996" y="2820548"/>
            <a:ext cx="12298518" cy="6337385"/>
            <a:chOff x="0" y="-192881"/>
            <a:chExt cx="16398023" cy="8449846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392167D0-D723-5B7D-1EB4-AA93F1474BD7}"/>
                </a:ext>
              </a:extLst>
            </p:cNvPr>
            <p:cNvGrpSpPr/>
            <p:nvPr/>
          </p:nvGrpSpPr>
          <p:grpSpPr>
            <a:xfrm>
              <a:off x="0" y="-192881"/>
              <a:ext cx="16398023" cy="8449846"/>
              <a:chOff x="0" y="-38100"/>
              <a:chExt cx="3239116" cy="1669105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9B6D81D3-394D-E35A-9C78-DB5A63B2E13E}"/>
                  </a:ext>
                </a:extLst>
              </p:cNvPr>
              <p:cNvSpPr/>
              <p:nvPr/>
            </p:nvSpPr>
            <p:spPr>
              <a:xfrm>
                <a:off x="123948" y="53554"/>
                <a:ext cx="3115168" cy="1577451"/>
              </a:xfrm>
              <a:custGeom>
                <a:avLst/>
                <a:gdLst/>
                <a:ahLst/>
                <a:cxnLst/>
                <a:rect l="l" t="t" r="r" b="b"/>
                <a:pathLst>
                  <a:path w="3115168" h="1577451">
                    <a:moveTo>
                      <a:pt x="22909" y="0"/>
                    </a:moveTo>
                    <a:lnTo>
                      <a:pt x="3092259" y="0"/>
                    </a:lnTo>
                    <a:cubicBezTo>
                      <a:pt x="3104911" y="0"/>
                      <a:pt x="3115168" y="10257"/>
                      <a:pt x="3115168" y="22909"/>
                    </a:cubicBezTo>
                    <a:lnTo>
                      <a:pt x="3115168" y="1554542"/>
                    </a:lnTo>
                    <a:cubicBezTo>
                      <a:pt x="3115168" y="1567195"/>
                      <a:pt x="3104911" y="1577451"/>
                      <a:pt x="3092259" y="1577451"/>
                    </a:cubicBezTo>
                    <a:lnTo>
                      <a:pt x="22909" y="1577451"/>
                    </a:lnTo>
                    <a:cubicBezTo>
                      <a:pt x="10257" y="1577451"/>
                      <a:pt x="0" y="1567195"/>
                      <a:pt x="0" y="1554542"/>
                    </a:cubicBezTo>
                    <a:lnTo>
                      <a:pt x="0" y="22909"/>
                    </a:lnTo>
                    <a:cubicBezTo>
                      <a:pt x="0" y="10257"/>
                      <a:pt x="10257" y="0"/>
                      <a:pt x="22909" y="0"/>
                    </a:cubicBezTo>
                    <a:close/>
                  </a:path>
                </a:pathLst>
              </a:custGeom>
              <a:solidFill>
                <a:srgbClr val="6EA3C5"/>
              </a:solidFill>
              <a:ln w="95250" cap="rnd">
                <a:solidFill>
                  <a:srgbClr val="162C3B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D" dirty="0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829246E2-74C4-11AC-441C-8415DE81B1E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115168" cy="16155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229582F-9D13-D79E-DDF8-A705B3828093}"/>
                </a:ext>
              </a:extLst>
            </p:cNvPr>
            <p:cNvSpPr/>
            <p:nvPr/>
          </p:nvSpPr>
          <p:spPr>
            <a:xfrm>
              <a:off x="1659132" y="1709826"/>
              <a:ext cx="902348" cy="1010777"/>
            </a:xfrm>
            <a:custGeom>
              <a:avLst/>
              <a:gdLst/>
              <a:ahLst/>
              <a:cxnLst/>
              <a:rect l="l" t="t" r="r" b="b"/>
              <a:pathLst>
                <a:path w="902348" h="1010777">
                  <a:moveTo>
                    <a:pt x="0" y="0"/>
                  </a:moveTo>
                  <a:lnTo>
                    <a:pt x="902348" y="0"/>
                  </a:lnTo>
                  <a:lnTo>
                    <a:pt x="902348" y="1010777"/>
                  </a:lnTo>
                  <a:lnTo>
                    <a:pt x="0" y="1010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B75B4FFC-A82A-5E64-9C7D-C2195F3C1E14}"/>
                </a:ext>
              </a:extLst>
            </p:cNvPr>
            <p:cNvSpPr/>
            <p:nvPr/>
          </p:nvSpPr>
          <p:spPr>
            <a:xfrm>
              <a:off x="1648027" y="3748902"/>
              <a:ext cx="935428" cy="1010777"/>
            </a:xfrm>
            <a:custGeom>
              <a:avLst/>
              <a:gdLst/>
              <a:ahLst/>
              <a:cxnLst/>
              <a:rect l="l" t="t" r="r" b="b"/>
              <a:pathLst>
                <a:path w="935428" h="1010777">
                  <a:moveTo>
                    <a:pt x="0" y="0"/>
                  </a:moveTo>
                  <a:lnTo>
                    <a:pt x="935428" y="0"/>
                  </a:lnTo>
                  <a:lnTo>
                    <a:pt x="935428" y="1010777"/>
                  </a:lnTo>
                  <a:lnTo>
                    <a:pt x="0" y="1010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E1191B6-EF28-EF83-9ABA-055D84A4625C}"/>
                </a:ext>
              </a:extLst>
            </p:cNvPr>
            <p:cNvSpPr/>
            <p:nvPr/>
          </p:nvSpPr>
          <p:spPr>
            <a:xfrm>
              <a:off x="1565908" y="5847940"/>
              <a:ext cx="953807" cy="1010777"/>
            </a:xfrm>
            <a:custGeom>
              <a:avLst/>
              <a:gdLst/>
              <a:ahLst/>
              <a:cxnLst/>
              <a:rect l="l" t="t" r="r" b="b"/>
              <a:pathLst>
                <a:path w="953806" h="1010777">
                  <a:moveTo>
                    <a:pt x="0" y="0"/>
                  </a:moveTo>
                  <a:lnTo>
                    <a:pt x="953806" y="0"/>
                  </a:lnTo>
                  <a:lnTo>
                    <a:pt x="953806" y="1010776"/>
                  </a:lnTo>
                  <a:lnTo>
                    <a:pt x="0" y="1010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135EF3BD-68C6-0FC3-8F5A-9066A8D66A08}"/>
                </a:ext>
              </a:extLst>
            </p:cNvPr>
            <p:cNvSpPr txBox="1"/>
            <p:nvPr/>
          </p:nvSpPr>
          <p:spPr>
            <a:xfrm>
              <a:off x="1074659" y="5666796"/>
              <a:ext cx="4650327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US" sz="3500" spc="-105" dirty="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endParaRPr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7AAD6E67-8F7E-15F8-BC91-A6FE9DD17B2C}"/>
                </a:ext>
              </a:extLst>
            </p:cNvPr>
            <p:cNvSpPr txBox="1"/>
            <p:nvPr/>
          </p:nvSpPr>
          <p:spPr>
            <a:xfrm>
              <a:off x="1074659" y="1425895"/>
              <a:ext cx="392682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US" sz="3500" spc="-105" dirty="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endParaRPr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D749BDE9-358F-57A4-73A8-77C0C1B712AF}"/>
                </a:ext>
              </a:extLst>
            </p:cNvPr>
            <p:cNvSpPr txBox="1"/>
            <p:nvPr/>
          </p:nvSpPr>
          <p:spPr>
            <a:xfrm>
              <a:off x="10381691" y="1844996"/>
              <a:ext cx="3703256" cy="7181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 spc="-105" dirty="0">
                  <a:solidFill>
                    <a:srgbClr val="FFFFFF"/>
                  </a:solidFill>
                  <a:latin typeface="Baloo"/>
                  <a:ea typeface="Baloo"/>
                  <a:cs typeface="Baloo"/>
                  <a:sym typeface="Baloo"/>
                </a:rPr>
                <a:t>24083010003</a:t>
              </a:r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6195788C-61A3-5D1E-545F-B4206BB2DA2B}"/>
                </a:ext>
              </a:extLst>
            </p:cNvPr>
            <p:cNvSpPr txBox="1"/>
            <p:nvPr/>
          </p:nvSpPr>
          <p:spPr>
            <a:xfrm>
              <a:off x="1074659" y="3545896"/>
              <a:ext cx="4421727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US" sz="3500" spc="-105" dirty="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endParaRP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42FE6ED3-DD3D-B383-FAAB-C30AB750FF07}"/>
                </a:ext>
              </a:extLst>
            </p:cNvPr>
            <p:cNvSpPr txBox="1"/>
            <p:nvPr/>
          </p:nvSpPr>
          <p:spPr>
            <a:xfrm>
              <a:off x="10434355" y="6095543"/>
              <a:ext cx="3521325" cy="7181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 spc="-105" dirty="0">
                  <a:solidFill>
                    <a:srgbClr val="FFFFFF"/>
                  </a:solidFill>
                  <a:latin typeface="Baloo"/>
                  <a:ea typeface="Baloo"/>
                  <a:cs typeface="Baloo"/>
                  <a:sym typeface="Baloo"/>
                </a:rPr>
                <a:t>24083010115</a:t>
              </a: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66D677ED-61A7-5998-66BC-9038BA934CFE}"/>
                </a:ext>
              </a:extLst>
            </p:cNvPr>
            <p:cNvSpPr txBox="1"/>
            <p:nvPr/>
          </p:nvSpPr>
          <p:spPr>
            <a:xfrm>
              <a:off x="10381691" y="3897993"/>
              <a:ext cx="3363925" cy="7181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 spc="-105" dirty="0">
                  <a:solidFill>
                    <a:srgbClr val="FFFFFF"/>
                  </a:solidFill>
                  <a:latin typeface="Baloo"/>
                  <a:ea typeface="Baloo"/>
                  <a:cs typeface="Baloo"/>
                  <a:sym typeface="Baloo"/>
                </a:rPr>
                <a:t>24083010019</a:t>
              </a:r>
            </a:p>
          </p:txBody>
        </p:sp>
        <p:sp>
          <p:nvSpPr>
            <p:cNvPr id="24" name="AutoShape 24">
              <a:extLst>
                <a:ext uri="{FF2B5EF4-FFF2-40B4-BE49-F238E27FC236}">
                  <a16:creationId xmlns:a16="http://schemas.microsoft.com/office/drawing/2014/main" id="{B8CE568F-BBDF-AD6A-774B-3925CF9F4F7C}"/>
                </a:ext>
              </a:extLst>
            </p:cNvPr>
            <p:cNvSpPr/>
            <p:nvPr/>
          </p:nvSpPr>
          <p:spPr>
            <a:xfrm>
              <a:off x="3038069" y="2981078"/>
              <a:ext cx="2299600" cy="0"/>
            </a:xfrm>
            <a:prstGeom prst="line">
              <a:avLst/>
            </a:prstGeom>
            <a:ln w="50800" cap="rnd">
              <a:solidFill>
                <a:srgbClr val="FFFFFF">
                  <a:alpha val="84706"/>
                </a:srgbClr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25" name="AutoShape 25">
              <a:extLst>
                <a:ext uri="{FF2B5EF4-FFF2-40B4-BE49-F238E27FC236}">
                  <a16:creationId xmlns:a16="http://schemas.microsoft.com/office/drawing/2014/main" id="{0150E192-5AE1-32C1-BDF6-1D5301A652DF}"/>
                </a:ext>
              </a:extLst>
            </p:cNvPr>
            <p:cNvSpPr/>
            <p:nvPr/>
          </p:nvSpPr>
          <p:spPr>
            <a:xfrm>
              <a:off x="12225430" y="2904388"/>
              <a:ext cx="1520187" cy="0"/>
            </a:xfrm>
            <a:prstGeom prst="line">
              <a:avLst/>
            </a:prstGeom>
            <a:ln w="50800" cap="rnd">
              <a:solidFill>
                <a:srgbClr val="FFFFFF">
                  <a:alpha val="84706"/>
                </a:srgbClr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26" name="AutoShape 26">
              <a:extLst>
                <a:ext uri="{FF2B5EF4-FFF2-40B4-BE49-F238E27FC236}">
                  <a16:creationId xmlns:a16="http://schemas.microsoft.com/office/drawing/2014/main" id="{279E2AF7-1408-7F8D-CF56-4AC637A153B0}"/>
                </a:ext>
              </a:extLst>
            </p:cNvPr>
            <p:cNvSpPr/>
            <p:nvPr/>
          </p:nvSpPr>
          <p:spPr>
            <a:xfrm>
              <a:off x="3038069" y="4977821"/>
              <a:ext cx="2299600" cy="0"/>
            </a:xfrm>
            <a:prstGeom prst="line">
              <a:avLst/>
            </a:prstGeom>
            <a:ln w="50800" cap="rnd">
              <a:solidFill>
                <a:srgbClr val="FFFFFF">
                  <a:alpha val="84706"/>
                </a:srgbClr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27" name="AutoShape 27">
              <a:extLst>
                <a:ext uri="{FF2B5EF4-FFF2-40B4-BE49-F238E27FC236}">
                  <a16:creationId xmlns:a16="http://schemas.microsoft.com/office/drawing/2014/main" id="{720B02AA-3B25-D19F-A9A3-4B92DE9AC908}"/>
                </a:ext>
              </a:extLst>
            </p:cNvPr>
            <p:cNvSpPr/>
            <p:nvPr/>
          </p:nvSpPr>
          <p:spPr>
            <a:xfrm>
              <a:off x="11382445" y="4782165"/>
              <a:ext cx="2299600" cy="0"/>
            </a:xfrm>
            <a:prstGeom prst="line">
              <a:avLst/>
            </a:prstGeom>
            <a:ln w="50800" cap="rnd">
              <a:solidFill>
                <a:srgbClr val="FFFFFF">
                  <a:alpha val="84706"/>
                </a:srgbClr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28" name="AutoShape 28">
              <a:extLst>
                <a:ext uri="{FF2B5EF4-FFF2-40B4-BE49-F238E27FC236}">
                  <a16:creationId xmlns:a16="http://schemas.microsoft.com/office/drawing/2014/main" id="{E150A8A0-0654-21D9-3E23-AFFA29358D00}"/>
                </a:ext>
              </a:extLst>
            </p:cNvPr>
            <p:cNvSpPr/>
            <p:nvPr/>
          </p:nvSpPr>
          <p:spPr>
            <a:xfrm>
              <a:off x="2968296" y="7171588"/>
              <a:ext cx="1348715" cy="0"/>
            </a:xfrm>
            <a:prstGeom prst="line">
              <a:avLst/>
            </a:prstGeom>
            <a:ln w="50800" cap="rnd">
              <a:solidFill>
                <a:srgbClr val="FFFFFF">
                  <a:alpha val="84706"/>
                </a:srgbClr>
              </a:solidFill>
              <a:prstDash val="lgDash"/>
              <a:headEnd type="none" w="sm" len="sm"/>
              <a:tailEnd type="none" w="sm" len="sm"/>
            </a:ln>
          </p:spPr>
        </p:sp>
        <p:sp>
          <p:nvSpPr>
            <p:cNvPr id="29" name="AutoShape 29">
              <a:extLst>
                <a:ext uri="{FF2B5EF4-FFF2-40B4-BE49-F238E27FC236}">
                  <a16:creationId xmlns:a16="http://schemas.microsoft.com/office/drawing/2014/main" id="{01EC2F2D-969E-7714-DD1B-D481DF6CA29A}"/>
                </a:ext>
              </a:extLst>
            </p:cNvPr>
            <p:cNvSpPr/>
            <p:nvPr/>
          </p:nvSpPr>
          <p:spPr>
            <a:xfrm>
              <a:off x="11357470" y="6938750"/>
              <a:ext cx="2299600" cy="0"/>
            </a:xfrm>
            <a:prstGeom prst="line">
              <a:avLst/>
            </a:prstGeom>
            <a:ln w="50800" cap="rnd">
              <a:solidFill>
                <a:srgbClr val="FFFFFF">
                  <a:alpha val="84706"/>
                </a:srgbClr>
              </a:solidFill>
              <a:prstDash val="lgDash"/>
              <a:headEnd type="none" w="sm" len="sm"/>
              <a:tailEnd type="none" w="sm" len="sm"/>
            </a:ln>
          </p:spPr>
        </p:sp>
      </p:grpSp>
      <p:grpSp>
        <p:nvGrpSpPr>
          <p:cNvPr id="30" name="Group 30">
            <a:extLst>
              <a:ext uri="{FF2B5EF4-FFF2-40B4-BE49-F238E27FC236}">
                <a16:creationId xmlns:a16="http://schemas.microsoft.com/office/drawing/2014/main" id="{E1C21E34-EF61-5087-1216-9831BA52299A}"/>
              </a:ext>
            </a:extLst>
          </p:cNvPr>
          <p:cNvGrpSpPr/>
          <p:nvPr/>
        </p:nvGrpSpPr>
        <p:grpSpPr>
          <a:xfrm>
            <a:off x="5416699" y="1926347"/>
            <a:ext cx="7454602" cy="1763491"/>
            <a:chOff x="0" y="0"/>
            <a:chExt cx="2276447" cy="538525"/>
          </a:xfrm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CBBC6D13-3D4E-BC53-3938-B6D49FA465AF}"/>
                </a:ext>
              </a:extLst>
            </p:cNvPr>
            <p:cNvSpPr/>
            <p:nvPr/>
          </p:nvSpPr>
          <p:spPr>
            <a:xfrm>
              <a:off x="0" y="0"/>
              <a:ext cx="2276447" cy="538525"/>
            </a:xfrm>
            <a:custGeom>
              <a:avLst/>
              <a:gdLst/>
              <a:ahLst/>
              <a:cxnLst/>
              <a:rect l="l" t="t" r="r" b="b"/>
              <a:pathLst>
                <a:path w="2276447" h="538525">
                  <a:moveTo>
                    <a:pt x="36349" y="0"/>
                  </a:moveTo>
                  <a:lnTo>
                    <a:pt x="2240098" y="0"/>
                  </a:lnTo>
                  <a:cubicBezTo>
                    <a:pt x="2249738" y="0"/>
                    <a:pt x="2258984" y="3830"/>
                    <a:pt x="2265800" y="10646"/>
                  </a:cubicBezTo>
                  <a:cubicBezTo>
                    <a:pt x="2272617" y="17463"/>
                    <a:pt x="2276447" y="26709"/>
                    <a:pt x="2276447" y="36349"/>
                  </a:cubicBezTo>
                  <a:lnTo>
                    <a:pt x="2276447" y="502176"/>
                  </a:lnTo>
                  <a:cubicBezTo>
                    <a:pt x="2276447" y="522251"/>
                    <a:pt x="2260173" y="538525"/>
                    <a:pt x="2240098" y="538525"/>
                  </a:cubicBezTo>
                  <a:lnTo>
                    <a:pt x="36349" y="538525"/>
                  </a:lnTo>
                  <a:cubicBezTo>
                    <a:pt x="26709" y="538525"/>
                    <a:pt x="17463" y="534696"/>
                    <a:pt x="10646" y="527879"/>
                  </a:cubicBezTo>
                  <a:cubicBezTo>
                    <a:pt x="3830" y="521062"/>
                    <a:pt x="0" y="511817"/>
                    <a:pt x="0" y="502176"/>
                  </a:cubicBezTo>
                  <a:lnTo>
                    <a:pt x="0" y="36349"/>
                  </a:lnTo>
                  <a:cubicBezTo>
                    <a:pt x="0" y="16274"/>
                    <a:pt x="16274" y="0"/>
                    <a:pt x="36349" y="0"/>
                  </a:cubicBezTo>
                  <a:close/>
                </a:path>
              </a:pathLst>
            </a:custGeom>
            <a:solidFill>
              <a:srgbClr val="FFAE00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32" name="TextBox 32">
              <a:extLst>
                <a:ext uri="{FF2B5EF4-FFF2-40B4-BE49-F238E27FC236}">
                  <a16:creationId xmlns:a16="http://schemas.microsoft.com/office/drawing/2014/main" id="{5BB7DE30-C9C7-E6EB-063E-69265D7C7719}"/>
                </a:ext>
              </a:extLst>
            </p:cNvPr>
            <p:cNvSpPr txBox="1"/>
            <p:nvPr/>
          </p:nvSpPr>
          <p:spPr>
            <a:xfrm>
              <a:off x="0" y="-38100"/>
              <a:ext cx="2276447" cy="57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Freeform 33">
            <a:extLst>
              <a:ext uri="{FF2B5EF4-FFF2-40B4-BE49-F238E27FC236}">
                <a16:creationId xmlns:a16="http://schemas.microsoft.com/office/drawing/2014/main" id="{11B716C7-A258-AC7F-BA04-E36A91D34006}"/>
              </a:ext>
            </a:extLst>
          </p:cNvPr>
          <p:cNvSpPr/>
          <p:nvPr/>
        </p:nvSpPr>
        <p:spPr>
          <a:xfrm rot="2360637">
            <a:off x="123361" y="7051166"/>
            <a:ext cx="4040009" cy="3191607"/>
          </a:xfrm>
          <a:custGeom>
            <a:avLst/>
            <a:gdLst/>
            <a:ahLst/>
            <a:cxnLst/>
            <a:rect l="l" t="t" r="r" b="b"/>
            <a:pathLst>
              <a:path w="4040009" h="3191607">
                <a:moveTo>
                  <a:pt x="0" y="0"/>
                </a:moveTo>
                <a:lnTo>
                  <a:pt x="4040009" y="0"/>
                </a:lnTo>
                <a:lnTo>
                  <a:pt x="4040009" y="3191607"/>
                </a:lnTo>
                <a:lnTo>
                  <a:pt x="0" y="319160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83AD8433-4D7F-6E80-E911-859A2725DEB4}"/>
              </a:ext>
            </a:extLst>
          </p:cNvPr>
          <p:cNvSpPr/>
          <p:nvPr/>
        </p:nvSpPr>
        <p:spPr>
          <a:xfrm rot="-3642648">
            <a:off x="14732178" y="-224950"/>
            <a:ext cx="3115551" cy="4026560"/>
          </a:xfrm>
          <a:custGeom>
            <a:avLst/>
            <a:gdLst/>
            <a:ahLst/>
            <a:cxnLst/>
            <a:rect l="l" t="t" r="r" b="b"/>
            <a:pathLst>
              <a:path w="3115551" h="4026560">
                <a:moveTo>
                  <a:pt x="0" y="0"/>
                </a:moveTo>
                <a:lnTo>
                  <a:pt x="3115551" y="0"/>
                </a:lnTo>
                <a:lnTo>
                  <a:pt x="3115551" y="4026560"/>
                </a:lnTo>
                <a:lnTo>
                  <a:pt x="0" y="402656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21083626-8DDD-EB43-8E59-FB5387A1A604}"/>
              </a:ext>
            </a:extLst>
          </p:cNvPr>
          <p:cNvSpPr/>
          <p:nvPr/>
        </p:nvSpPr>
        <p:spPr>
          <a:xfrm rot="1289449">
            <a:off x="1777283" y="2821848"/>
            <a:ext cx="1647250" cy="916283"/>
          </a:xfrm>
          <a:custGeom>
            <a:avLst/>
            <a:gdLst/>
            <a:ahLst/>
            <a:cxnLst/>
            <a:rect l="l" t="t" r="r" b="b"/>
            <a:pathLst>
              <a:path w="1647250" h="916283">
                <a:moveTo>
                  <a:pt x="0" y="0"/>
                </a:moveTo>
                <a:lnTo>
                  <a:pt x="1647250" y="0"/>
                </a:lnTo>
                <a:lnTo>
                  <a:pt x="1647250" y="916283"/>
                </a:lnTo>
                <a:lnTo>
                  <a:pt x="0" y="91628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BA3F18DE-9953-8FB8-AF88-4A2C1E7483A5}"/>
              </a:ext>
            </a:extLst>
          </p:cNvPr>
          <p:cNvSpPr/>
          <p:nvPr/>
        </p:nvSpPr>
        <p:spPr>
          <a:xfrm rot="2992737">
            <a:off x="3247565" y="2275050"/>
            <a:ext cx="1185483" cy="659425"/>
          </a:xfrm>
          <a:custGeom>
            <a:avLst/>
            <a:gdLst/>
            <a:ahLst/>
            <a:cxnLst/>
            <a:rect l="l" t="t" r="r" b="b"/>
            <a:pathLst>
              <a:path w="1185483" h="659425">
                <a:moveTo>
                  <a:pt x="0" y="0"/>
                </a:moveTo>
                <a:lnTo>
                  <a:pt x="1185483" y="0"/>
                </a:lnTo>
                <a:lnTo>
                  <a:pt x="1185483" y="659425"/>
                </a:lnTo>
                <a:lnTo>
                  <a:pt x="0" y="65942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>
            <a:extLst>
              <a:ext uri="{FF2B5EF4-FFF2-40B4-BE49-F238E27FC236}">
                <a16:creationId xmlns:a16="http://schemas.microsoft.com/office/drawing/2014/main" id="{E5B5EE9F-A350-FBEE-4906-6C7B2DB7DEB3}"/>
              </a:ext>
            </a:extLst>
          </p:cNvPr>
          <p:cNvSpPr/>
          <p:nvPr/>
        </p:nvSpPr>
        <p:spPr>
          <a:xfrm rot="-1805004">
            <a:off x="626500" y="946669"/>
            <a:ext cx="1766828" cy="1303035"/>
          </a:xfrm>
          <a:custGeom>
            <a:avLst/>
            <a:gdLst/>
            <a:ahLst/>
            <a:cxnLst/>
            <a:rect l="l" t="t" r="r" b="b"/>
            <a:pathLst>
              <a:path w="1766828" h="1303035">
                <a:moveTo>
                  <a:pt x="0" y="0"/>
                </a:moveTo>
                <a:lnTo>
                  <a:pt x="1766827" y="0"/>
                </a:lnTo>
                <a:lnTo>
                  <a:pt x="1766827" y="1303035"/>
                </a:lnTo>
                <a:lnTo>
                  <a:pt x="0" y="130303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201FDD40-F9BA-43B3-4F83-8CC16FCC1B97}"/>
              </a:ext>
            </a:extLst>
          </p:cNvPr>
          <p:cNvSpPr/>
          <p:nvPr/>
        </p:nvSpPr>
        <p:spPr>
          <a:xfrm>
            <a:off x="14153638" y="7789750"/>
            <a:ext cx="3277098" cy="2937099"/>
          </a:xfrm>
          <a:custGeom>
            <a:avLst/>
            <a:gdLst/>
            <a:ahLst/>
            <a:cxnLst/>
            <a:rect l="l" t="t" r="r" b="b"/>
            <a:pathLst>
              <a:path w="3277098" h="2937099">
                <a:moveTo>
                  <a:pt x="0" y="0"/>
                </a:moveTo>
                <a:lnTo>
                  <a:pt x="3277099" y="0"/>
                </a:lnTo>
                <a:lnTo>
                  <a:pt x="3277099" y="2937100"/>
                </a:lnTo>
                <a:lnTo>
                  <a:pt x="0" y="29371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E214DC11-CF30-F10F-1031-76C91507E6AB}"/>
              </a:ext>
            </a:extLst>
          </p:cNvPr>
          <p:cNvSpPr txBox="1"/>
          <p:nvPr/>
        </p:nvSpPr>
        <p:spPr>
          <a:xfrm>
            <a:off x="5662360" y="2383334"/>
            <a:ext cx="6963279" cy="996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89"/>
              </a:lnSpc>
            </a:pPr>
            <a:r>
              <a:rPr lang="en-US" sz="6899" spc="-517" dirty="0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KELOMPOK  5</a:t>
            </a:r>
          </a:p>
        </p:txBody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2A169B06-CCC5-6976-DE6A-D1B7CD0A8656}"/>
              </a:ext>
            </a:extLst>
          </p:cNvPr>
          <p:cNvSpPr/>
          <p:nvPr/>
        </p:nvSpPr>
        <p:spPr>
          <a:xfrm rot="1396562">
            <a:off x="12256778" y="697118"/>
            <a:ext cx="1606154" cy="1802136"/>
          </a:xfrm>
          <a:custGeom>
            <a:avLst/>
            <a:gdLst/>
            <a:ahLst/>
            <a:cxnLst/>
            <a:rect l="l" t="t" r="r" b="b"/>
            <a:pathLst>
              <a:path w="1606154" h="1802136">
                <a:moveTo>
                  <a:pt x="0" y="0"/>
                </a:moveTo>
                <a:lnTo>
                  <a:pt x="1606154" y="0"/>
                </a:lnTo>
                <a:lnTo>
                  <a:pt x="1606154" y="1802137"/>
                </a:lnTo>
                <a:lnTo>
                  <a:pt x="0" y="180213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694581A5-AA54-C5F2-FC0E-7016FE0AA806}"/>
              </a:ext>
            </a:extLst>
          </p:cNvPr>
          <p:cNvSpPr txBox="1"/>
          <p:nvPr/>
        </p:nvSpPr>
        <p:spPr>
          <a:xfrm>
            <a:off x="5690933" y="2336473"/>
            <a:ext cx="6906134" cy="996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89"/>
              </a:lnSpc>
            </a:pPr>
            <a:endParaRPr lang="en-US" sz="6899" spc="-517" dirty="0">
              <a:solidFill>
                <a:srgbClr val="FFFFFF"/>
              </a:solidFill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1017B76-5FB7-0E48-C3D6-6DDFC11B0E7E}"/>
              </a:ext>
            </a:extLst>
          </p:cNvPr>
          <p:cNvSpPr txBox="1"/>
          <p:nvPr/>
        </p:nvSpPr>
        <p:spPr>
          <a:xfrm>
            <a:off x="5257800" y="4305301"/>
            <a:ext cx="465993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>
                <a:solidFill>
                  <a:schemeClr val="bg1"/>
                </a:solidFill>
                <a:latin typeface="Baloo" panose="020B0604020202020204" charset="0"/>
                <a:cs typeface="Baloo" panose="020B0604020202020204" charset="0"/>
              </a:rPr>
              <a:t>Maria Dwi Kurniasih</a:t>
            </a:r>
            <a:endParaRPr lang="en-ID" sz="3500" dirty="0">
              <a:solidFill>
                <a:schemeClr val="bg1"/>
              </a:solidFill>
              <a:latin typeface="Baloo" panose="020B0604020202020204" charset="0"/>
              <a:cs typeface="Baloo" panose="020B060402020202020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6EFFE3-BCA9-0241-30DC-EAC9A9A65E22}"/>
              </a:ext>
            </a:extLst>
          </p:cNvPr>
          <p:cNvSpPr txBox="1"/>
          <p:nvPr/>
        </p:nvSpPr>
        <p:spPr>
          <a:xfrm>
            <a:off x="5257800" y="5905502"/>
            <a:ext cx="5911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loo" panose="020B0604020202020204" charset="0"/>
                <a:cs typeface="Baloo" panose="020B0604020202020204" charset="0"/>
              </a:rPr>
              <a:t>Hizkia Samhan </a:t>
            </a:r>
            <a:r>
              <a:rPr lang="en-US" sz="3600" dirty="0" err="1">
                <a:solidFill>
                  <a:schemeClr val="bg1"/>
                </a:solidFill>
                <a:latin typeface="Baloo" panose="020B0604020202020204" charset="0"/>
                <a:cs typeface="Baloo" panose="020B0604020202020204" charset="0"/>
              </a:rPr>
              <a:t>Rezayoshi</a:t>
            </a:r>
            <a:endParaRPr lang="en-ID" sz="3500" dirty="0">
              <a:solidFill>
                <a:schemeClr val="bg1"/>
              </a:solidFill>
              <a:latin typeface="Baloo" panose="020B0604020202020204" charset="0"/>
              <a:cs typeface="Baloo" panose="020B060402020202020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0CA3FF2-40AE-69CC-5B6F-AAD86E8B02CC}"/>
              </a:ext>
            </a:extLst>
          </p:cNvPr>
          <p:cNvSpPr txBox="1"/>
          <p:nvPr/>
        </p:nvSpPr>
        <p:spPr>
          <a:xfrm>
            <a:off x="5159172" y="7536866"/>
            <a:ext cx="4024326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dirty="0">
                <a:solidFill>
                  <a:schemeClr val="bg1"/>
                </a:solidFill>
                <a:latin typeface="Baloo" panose="020B0604020202020204" charset="0"/>
                <a:cs typeface="Baloo" panose="020B0604020202020204" charset="0"/>
              </a:rPr>
              <a:t>Najwa Sofia</a:t>
            </a:r>
            <a:endParaRPr lang="en-ID" sz="3500" dirty="0">
              <a:solidFill>
                <a:schemeClr val="bg1"/>
              </a:solidFill>
              <a:latin typeface="Baloo" panose="020B0604020202020204" charset="0"/>
              <a:cs typeface="Balo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304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211625"/>
            <a:chOff x="0" y="0"/>
            <a:chExt cx="24384000" cy="162821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6227725" y="8115683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227725" y="0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8112082" y="0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8115683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8112082" y="8115683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 rot="5101567">
            <a:off x="-407190" y="6480693"/>
            <a:ext cx="4168567" cy="3788185"/>
          </a:xfrm>
          <a:custGeom>
            <a:avLst/>
            <a:gdLst/>
            <a:ahLst/>
            <a:cxnLst/>
            <a:rect l="l" t="t" r="r" b="b"/>
            <a:pathLst>
              <a:path w="4168567" h="3788185">
                <a:moveTo>
                  <a:pt x="0" y="0"/>
                </a:moveTo>
                <a:lnTo>
                  <a:pt x="4168567" y="0"/>
                </a:lnTo>
                <a:lnTo>
                  <a:pt x="4168567" y="3788186"/>
                </a:lnTo>
                <a:lnTo>
                  <a:pt x="0" y="3788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2555187" y="2360539"/>
            <a:ext cx="13610994" cy="5989385"/>
            <a:chOff x="0" y="0"/>
            <a:chExt cx="3584789" cy="157745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584789" cy="1577451"/>
            </a:xfrm>
            <a:custGeom>
              <a:avLst/>
              <a:gdLst/>
              <a:ahLst/>
              <a:cxnLst/>
              <a:rect l="l" t="t" r="r" b="b"/>
              <a:pathLst>
                <a:path w="3584789" h="1577451">
                  <a:moveTo>
                    <a:pt x="19908" y="0"/>
                  </a:moveTo>
                  <a:lnTo>
                    <a:pt x="3564880" y="0"/>
                  </a:lnTo>
                  <a:cubicBezTo>
                    <a:pt x="3570160" y="0"/>
                    <a:pt x="3575224" y="2097"/>
                    <a:pt x="3578958" y="5831"/>
                  </a:cubicBezTo>
                  <a:cubicBezTo>
                    <a:pt x="3582691" y="9564"/>
                    <a:pt x="3584789" y="14628"/>
                    <a:pt x="3584789" y="19908"/>
                  </a:cubicBezTo>
                  <a:lnTo>
                    <a:pt x="3584789" y="1557543"/>
                  </a:lnTo>
                  <a:cubicBezTo>
                    <a:pt x="3584789" y="1562823"/>
                    <a:pt x="3582691" y="1567887"/>
                    <a:pt x="3578958" y="1571620"/>
                  </a:cubicBezTo>
                  <a:cubicBezTo>
                    <a:pt x="3575224" y="1575354"/>
                    <a:pt x="3570160" y="1577451"/>
                    <a:pt x="3564880" y="1577451"/>
                  </a:cubicBezTo>
                  <a:lnTo>
                    <a:pt x="19908" y="1577451"/>
                  </a:lnTo>
                  <a:cubicBezTo>
                    <a:pt x="14628" y="1577451"/>
                    <a:pt x="9564" y="1575354"/>
                    <a:pt x="5831" y="1571620"/>
                  </a:cubicBezTo>
                  <a:cubicBezTo>
                    <a:pt x="2097" y="1567887"/>
                    <a:pt x="0" y="1562823"/>
                    <a:pt x="0" y="1557543"/>
                  </a:cubicBezTo>
                  <a:lnTo>
                    <a:pt x="0" y="19908"/>
                  </a:lnTo>
                  <a:cubicBezTo>
                    <a:pt x="0" y="14628"/>
                    <a:pt x="2097" y="9564"/>
                    <a:pt x="5831" y="5831"/>
                  </a:cubicBezTo>
                  <a:cubicBezTo>
                    <a:pt x="9564" y="2097"/>
                    <a:pt x="14628" y="0"/>
                    <a:pt x="19908" y="0"/>
                  </a:cubicBezTo>
                  <a:close/>
                </a:path>
              </a:pathLst>
            </a:custGeom>
            <a:solidFill>
              <a:srgbClr val="162C3B">
                <a:alpha val="1490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584789" cy="1615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323315" y="2148807"/>
            <a:ext cx="13610994" cy="5989385"/>
            <a:chOff x="0" y="0"/>
            <a:chExt cx="3584789" cy="157745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84789" cy="1577451"/>
            </a:xfrm>
            <a:custGeom>
              <a:avLst/>
              <a:gdLst/>
              <a:ahLst/>
              <a:cxnLst/>
              <a:rect l="l" t="t" r="r" b="b"/>
              <a:pathLst>
                <a:path w="3584789" h="1577451">
                  <a:moveTo>
                    <a:pt x="19908" y="0"/>
                  </a:moveTo>
                  <a:lnTo>
                    <a:pt x="3564880" y="0"/>
                  </a:lnTo>
                  <a:cubicBezTo>
                    <a:pt x="3570160" y="0"/>
                    <a:pt x="3575224" y="2097"/>
                    <a:pt x="3578958" y="5831"/>
                  </a:cubicBezTo>
                  <a:cubicBezTo>
                    <a:pt x="3582691" y="9564"/>
                    <a:pt x="3584789" y="14628"/>
                    <a:pt x="3584789" y="19908"/>
                  </a:cubicBezTo>
                  <a:lnTo>
                    <a:pt x="3584789" y="1557543"/>
                  </a:lnTo>
                  <a:cubicBezTo>
                    <a:pt x="3584789" y="1562823"/>
                    <a:pt x="3582691" y="1567887"/>
                    <a:pt x="3578958" y="1571620"/>
                  </a:cubicBezTo>
                  <a:cubicBezTo>
                    <a:pt x="3575224" y="1575354"/>
                    <a:pt x="3570160" y="1577451"/>
                    <a:pt x="3564880" y="1577451"/>
                  </a:cubicBezTo>
                  <a:lnTo>
                    <a:pt x="19908" y="1577451"/>
                  </a:lnTo>
                  <a:cubicBezTo>
                    <a:pt x="14628" y="1577451"/>
                    <a:pt x="9564" y="1575354"/>
                    <a:pt x="5831" y="1571620"/>
                  </a:cubicBezTo>
                  <a:cubicBezTo>
                    <a:pt x="2097" y="1567887"/>
                    <a:pt x="0" y="1562823"/>
                    <a:pt x="0" y="1557543"/>
                  </a:cubicBezTo>
                  <a:lnTo>
                    <a:pt x="0" y="19908"/>
                  </a:lnTo>
                  <a:cubicBezTo>
                    <a:pt x="0" y="14628"/>
                    <a:pt x="2097" y="9564"/>
                    <a:pt x="5831" y="5831"/>
                  </a:cubicBezTo>
                  <a:cubicBezTo>
                    <a:pt x="9564" y="2097"/>
                    <a:pt x="14628" y="0"/>
                    <a:pt x="19908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584789" cy="1615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85578" y="6868214"/>
            <a:ext cx="4291624" cy="3379654"/>
          </a:xfrm>
          <a:custGeom>
            <a:avLst/>
            <a:gdLst/>
            <a:ahLst/>
            <a:cxnLst/>
            <a:rect l="l" t="t" r="r" b="b"/>
            <a:pathLst>
              <a:path w="4291624" h="3379654">
                <a:moveTo>
                  <a:pt x="0" y="0"/>
                </a:moveTo>
                <a:lnTo>
                  <a:pt x="4291624" y="0"/>
                </a:lnTo>
                <a:lnTo>
                  <a:pt x="4291624" y="3379654"/>
                </a:lnTo>
                <a:lnTo>
                  <a:pt x="0" y="33796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737790" y="398412"/>
            <a:ext cx="7315200" cy="2395728"/>
          </a:xfrm>
          <a:custGeom>
            <a:avLst/>
            <a:gdLst/>
            <a:ahLst/>
            <a:cxnLst/>
            <a:rect l="l" t="t" r="r" b="b"/>
            <a:pathLst>
              <a:path w="7315200" h="2395728">
                <a:moveTo>
                  <a:pt x="0" y="0"/>
                </a:moveTo>
                <a:lnTo>
                  <a:pt x="7315200" y="0"/>
                </a:lnTo>
                <a:lnTo>
                  <a:pt x="7315200" y="2395728"/>
                </a:lnTo>
                <a:lnTo>
                  <a:pt x="0" y="23957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4001565">
            <a:off x="15367884" y="980557"/>
            <a:ext cx="1766828" cy="1303035"/>
          </a:xfrm>
          <a:custGeom>
            <a:avLst/>
            <a:gdLst/>
            <a:ahLst/>
            <a:cxnLst/>
            <a:rect l="l" t="t" r="r" b="b"/>
            <a:pathLst>
              <a:path w="1766828" h="1303035">
                <a:moveTo>
                  <a:pt x="0" y="0"/>
                </a:moveTo>
                <a:lnTo>
                  <a:pt x="1766827" y="0"/>
                </a:lnTo>
                <a:lnTo>
                  <a:pt x="1766827" y="1303036"/>
                </a:lnTo>
                <a:lnTo>
                  <a:pt x="0" y="13030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3719656" y="6500641"/>
            <a:ext cx="3672459" cy="4114800"/>
          </a:xfrm>
          <a:custGeom>
            <a:avLst/>
            <a:gdLst/>
            <a:ahLst/>
            <a:cxnLst/>
            <a:rect l="l" t="t" r="r" b="b"/>
            <a:pathLst>
              <a:path w="3672459" h="4114800">
                <a:moveTo>
                  <a:pt x="0" y="0"/>
                </a:moveTo>
                <a:lnTo>
                  <a:pt x="3672459" y="0"/>
                </a:lnTo>
                <a:lnTo>
                  <a:pt x="36724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-2159786">
            <a:off x="908529" y="1544582"/>
            <a:ext cx="2594982" cy="1664032"/>
          </a:xfrm>
          <a:custGeom>
            <a:avLst/>
            <a:gdLst/>
            <a:ahLst/>
            <a:cxnLst/>
            <a:rect l="l" t="t" r="r" b="b"/>
            <a:pathLst>
              <a:path w="2594982" h="1664032">
                <a:moveTo>
                  <a:pt x="0" y="0"/>
                </a:moveTo>
                <a:lnTo>
                  <a:pt x="2594982" y="0"/>
                </a:lnTo>
                <a:lnTo>
                  <a:pt x="2594982" y="1664032"/>
                </a:lnTo>
                <a:lnTo>
                  <a:pt x="0" y="166403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7129443" y="1435493"/>
            <a:ext cx="5616233" cy="786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8"/>
              </a:lnSpc>
            </a:pPr>
            <a:r>
              <a:rPr lang="en-US" sz="5453" spc="-163" dirty="0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Latar </a:t>
            </a:r>
            <a:r>
              <a:rPr lang="en-US" sz="5453" spc="-163" dirty="0" err="1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Belakang</a:t>
            </a:r>
            <a:endParaRPr lang="en-US" sz="5453" spc="-163" dirty="0">
              <a:solidFill>
                <a:srgbClr val="162C3B"/>
              </a:solidFill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283109" y="2811702"/>
            <a:ext cx="10584936" cy="5005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43"/>
              </a:lnSpc>
            </a:pP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Gaji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merupakan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indikator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penting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untuk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menilai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kesejahteraan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masyarakat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di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suatu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wilayah.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Variasi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gaji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antar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provinsi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dipengaruhi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oleh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jenis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pekerjaan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,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tingkat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pendidikan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, dan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kondisi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lokal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. Data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gaji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per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provinsi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sangat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cocok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untuk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analisis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Matematika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Diskrit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karena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terstruktur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,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memiliki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kategori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yang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jelas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, dan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menyediakan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nilai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numerik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yang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dapat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dianalisis.Dengan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data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ini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,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kita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dapat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menghitung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rata-rata dan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selisih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gaji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antar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provinsi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,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menerapkan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operasi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logika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untuk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mencari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provinsi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yang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memenuhi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kriteria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tertentu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,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serta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menggunakan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teori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himpunan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untuk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membandingkan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kelompok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pekerjaan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atau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provinsi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.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Visualisasi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seperti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grafik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selisih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,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barchart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rata-rata, dan heatmap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kategori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gaji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membuat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perbedaan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antar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provinsi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lebih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jelas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. Selain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itu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,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kombinatorika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dapat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diterapkan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untuk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menganalisis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kemungkinan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kombinasi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provinsi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dan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pekerjaan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tertentu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A3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46654" y="0"/>
            <a:ext cx="20781307" cy="10403658"/>
            <a:chOff x="0" y="0"/>
            <a:chExt cx="27708410" cy="13871544"/>
          </a:xfrm>
        </p:grpSpPr>
        <p:sp>
          <p:nvSpPr>
            <p:cNvPr id="3" name="Freeform 3"/>
            <p:cNvSpPr/>
            <p:nvPr/>
          </p:nvSpPr>
          <p:spPr>
            <a:xfrm>
              <a:off x="13854205" y="0"/>
              <a:ext cx="13854205" cy="13871544"/>
            </a:xfrm>
            <a:custGeom>
              <a:avLst/>
              <a:gdLst/>
              <a:ahLst/>
              <a:cxnLst/>
              <a:rect l="l" t="t" r="r" b="b"/>
              <a:pathLst>
                <a:path w="13854205" h="13871544">
                  <a:moveTo>
                    <a:pt x="0" y="0"/>
                  </a:moveTo>
                  <a:lnTo>
                    <a:pt x="13854205" y="0"/>
                  </a:lnTo>
                  <a:lnTo>
                    <a:pt x="13854205" y="13871544"/>
                  </a:lnTo>
                  <a:lnTo>
                    <a:pt x="0" y="13871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3854205" cy="13871544"/>
            </a:xfrm>
            <a:custGeom>
              <a:avLst/>
              <a:gdLst/>
              <a:ahLst/>
              <a:cxnLst/>
              <a:rect l="l" t="t" r="r" b="b"/>
              <a:pathLst>
                <a:path w="13854205" h="13871544">
                  <a:moveTo>
                    <a:pt x="0" y="0"/>
                  </a:moveTo>
                  <a:lnTo>
                    <a:pt x="13854205" y="0"/>
                  </a:lnTo>
                  <a:lnTo>
                    <a:pt x="13854205" y="13871544"/>
                  </a:lnTo>
                  <a:lnTo>
                    <a:pt x="0" y="13871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2555187" y="2360539"/>
            <a:ext cx="13610994" cy="5989385"/>
            <a:chOff x="0" y="0"/>
            <a:chExt cx="3584789" cy="15774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584789" cy="1577451"/>
            </a:xfrm>
            <a:custGeom>
              <a:avLst/>
              <a:gdLst/>
              <a:ahLst/>
              <a:cxnLst/>
              <a:rect l="l" t="t" r="r" b="b"/>
              <a:pathLst>
                <a:path w="3584789" h="1577451">
                  <a:moveTo>
                    <a:pt x="19908" y="0"/>
                  </a:moveTo>
                  <a:lnTo>
                    <a:pt x="3564880" y="0"/>
                  </a:lnTo>
                  <a:cubicBezTo>
                    <a:pt x="3570160" y="0"/>
                    <a:pt x="3575224" y="2097"/>
                    <a:pt x="3578958" y="5831"/>
                  </a:cubicBezTo>
                  <a:cubicBezTo>
                    <a:pt x="3582691" y="9564"/>
                    <a:pt x="3584789" y="14628"/>
                    <a:pt x="3584789" y="19908"/>
                  </a:cubicBezTo>
                  <a:lnTo>
                    <a:pt x="3584789" y="1557543"/>
                  </a:lnTo>
                  <a:cubicBezTo>
                    <a:pt x="3584789" y="1562823"/>
                    <a:pt x="3582691" y="1567887"/>
                    <a:pt x="3578958" y="1571620"/>
                  </a:cubicBezTo>
                  <a:cubicBezTo>
                    <a:pt x="3575224" y="1575354"/>
                    <a:pt x="3570160" y="1577451"/>
                    <a:pt x="3564880" y="1577451"/>
                  </a:cubicBezTo>
                  <a:lnTo>
                    <a:pt x="19908" y="1577451"/>
                  </a:lnTo>
                  <a:cubicBezTo>
                    <a:pt x="14628" y="1577451"/>
                    <a:pt x="9564" y="1575354"/>
                    <a:pt x="5831" y="1571620"/>
                  </a:cubicBezTo>
                  <a:cubicBezTo>
                    <a:pt x="2097" y="1567887"/>
                    <a:pt x="0" y="1562823"/>
                    <a:pt x="0" y="1557543"/>
                  </a:cubicBezTo>
                  <a:lnTo>
                    <a:pt x="0" y="19908"/>
                  </a:lnTo>
                  <a:cubicBezTo>
                    <a:pt x="0" y="14628"/>
                    <a:pt x="2097" y="9564"/>
                    <a:pt x="5831" y="5831"/>
                  </a:cubicBezTo>
                  <a:cubicBezTo>
                    <a:pt x="9564" y="2097"/>
                    <a:pt x="14628" y="0"/>
                    <a:pt x="19908" y="0"/>
                  </a:cubicBezTo>
                  <a:close/>
                </a:path>
              </a:pathLst>
            </a:custGeom>
            <a:solidFill>
              <a:srgbClr val="162C3B">
                <a:alpha val="1490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584789" cy="1615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323315" y="2148807"/>
            <a:ext cx="13610994" cy="5989385"/>
            <a:chOff x="0" y="0"/>
            <a:chExt cx="3584789" cy="157745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84789" cy="1577451"/>
            </a:xfrm>
            <a:custGeom>
              <a:avLst/>
              <a:gdLst/>
              <a:ahLst/>
              <a:cxnLst/>
              <a:rect l="l" t="t" r="r" b="b"/>
              <a:pathLst>
                <a:path w="3584789" h="1577451">
                  <a:moveTo>
                    <a:pt x="19908" y="0"/>
                  </a:moveTo>
                  <a:lnTo>
                    <a:pt x="3564880" y="0"/>
                  </a:lnTo>
                  <a:cubicBezTo>
                    <a:pt x="3570160" y="0"/>
                    <a:pt x="3575224" y="2097"/>
                    <a:pt x="3578958" y="5831"/>
                  </a:cubicBezTo>
                  <a:cubicBezTo>
                    <a:pt x="3582691" y="9564"/>
                    <a:pt x="3584789" y="14628"/>
                    <a:pt x="3584789" y="19908"/>
                  </a:cubicBezTo>
                  <a:lnTo>
                    <a:pt x="3584789" y="1557543"/>
                  </a:lnTo>
                  <a:cubicBezTo>
                    <a:pt x="3584789" y="1562823"/>
                    <a:pt x="3582691" y="1567887"/>
                    <a:pt x="3578958" y="1571620"/>
                  </a:cubicBezTo>
                  <a:cubicBezTo>
                    <a:pt x="3575224" y="1575354"/>
                    <a:pt x="3570160" y="1577451"/>
                    <a:pt x="3564880" y="1577451"/>
                  </a:cubicBezTo>
                  <a:lnTo>
                    <a:pt x="19908" y="1577451"/>
                  </a:lnTo>
                  <a:cubicBezTo>
                    <a:pt x="14628" y="1577451"/>
                    <a:pt x="9564" y="1575354"/>
                    <a:pt x="5831" y="1571620"/>
                  </a:cubicBezTo>
                  <a:cubicBezTo>
                    <a:pt x="2097" y="1567887"/>
                    <a:pt x="0" y="1562823"/>
                    <a:pt x="0" y="1557543"/>
                  </a:cubicBezTo>
                  <a:lnTo>
                    <a:pt x="0" y="19908"/>
                  </a:lnTo>
                  <a:cubicBezTo>
                    <a:pt x="0" y="14628"/>
                    <a:pt x="2097" y="9564"/>
                    <a:pt x="5831" y="5831"/>
                  </a:cubicBezTo>
                  <a:cubicBezTo>
                    <a:pt x="9564" y="2097"/>
                    <a:pt x="14628" y="0"/>
                    <a:pt x="19908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584789" cy="1615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016682" y="2934459"/>
            <a:ext cx="4812632" cy="4114800"/>
          </a:xfrm>
          <a:custGeom>
            <a:avLst/>
            <a:gdLst/>
            <a:ahLst/>
            <a:cxnLst/>
            <a:rect l="l" t="t" r="r" b="b"/>
            <a:pathLst>
              <a:path w="4812632" h="4114800">
                <a:moveTo>
                  <a:pt x="0" y="0"/>
                </a:moveTo>
                <a:lnTo>
                  <a:pt x="4812631" y="0"/>
                </a:lnTo>
                <a:lnTo>
                  <a:pt x="48126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827720" y="1273249"/>
            <a:ext cx="1916349" cy="2174580"/>
          </a:xfrm>
          <a:custGeom>
            <a:avLst/>
            <a:gdLst/>
            <a:ahLst/>
            <a:cxnLst/>
            <a:rect l="l" t="t" r="r" b="b"/>
            <a:pathLst>
              <a:path w="1916349" h="2174580">
                <a:moveTo>
                  <a:pt x="0" y="0"/>
                </a:moveTo>
                <a:lnTo>
                  <a:pt x="1916349" y="0"/>
                </a:lnTo>
                <a:lnTo>
                  <a:pt x="1916349" y="2174580"/>
                </a:lnTo>
                <a:lnTo>
                  <a:pt x="0" y="21745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884333">
            <a:off x="294307" y="6528703"/>
            <a:ext cx="2902239" cy="2601132"/>
          </a:xfrm>
          <a:custGeom>
            <a:avLst/>
            <a:gdLst/>
            <a:ahLst/>
            <a:cxnLst/>
            <a:rect l="l" t="t" r="r" b="b"/>
            <a:pathLst>
              <a:path w="2902239" h="2601132">
                <a:moveTo>
                  <a:pt x="0" y="0"/>
                </a:moveTo>
                <a:lnTo>
                  <a:pt x="2902239" y="0"/>
                </a:lnTo>
                <a:lnTo>
                  <a:pt x="2902239" y="2601132"/>
                </a:lnTo>
                <a:lnTo>
                  <a:pt x="0" y="26011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195315" y="2389205"/>
            <a:ext cx="6554809" cy="786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5"/>
              </a:lnSpc>
            </a:pPr>
            <a:r>
              <a:rPr lang="en-US" sz="5450" spc="-163" dirty="0" err="1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Sumber</a:t>
            </a:r>
            <a:r>
              <a:rPr lang="en-US" sz="5450" spc="-163" dirty="0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 Data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68219" y="3343339"/>
            <a:ext cx="7809055" cy="4225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3043"/>
              </a:lnSpc>
              <a:spcBef>
                <a:spcPct val="0"/>
              </a:spcBef>
            </a:pP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Data yang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digunakan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dalam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analisis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ini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diambil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dari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Badan Pusat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Statistik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(BPS)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karena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merupakan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sumber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resmi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yang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menyediakan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data valid,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terstruktur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, dan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terpercaya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mengenai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kondisi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gaji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serta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kategori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pekerjaan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di Indonesia.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Pemilihan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BPS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memastikan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hasil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analisis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didasarkan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pada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informasi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yang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akurat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dan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dapat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341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dipertanggungjawabkan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. </a:t>
            </a:r>
          </a:p>
          <a:p>
            <a:pPr lvl="0" algn="just">
              <a:lnSpc>
                <a:spcPts val="3043"/>
              </a:lnSpc>
              <a:spcBef>
                <a:spcPct val="0"/>
              </a:spcBef>
            </a:pP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  <a:hlinkClick r:id="rId10"/>
              </a:rPr>
              <a:t>https://www.bps.go.id/id/statistics-table/1/MjI1NSMx/rata-rata-upah-gaji-bersih-sebulan-buruh-karyawan-pegawai-menurut-provinsi-dan-jenis-pekerjaan-utama--2024.html</a:t>
            </a:r>
            <a:r>
              <a:rPr lang="en-US" sz="2341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</a:p>
        </p:txBody>
      </p:sp>
      <p:sp>
        <p:nvSpPr>
          <p:cNvPr id="20" name="Freeform 22">
            <a:extLst>
              <a:ext uri="{FF2B5EF4-FFF2-40B4-BE49-F238E27FC236}">
                <a16:creationId xmlns:a16="http://schemas.microsoft.com/office/drawing/2014/main" id="{CF26E708-AFDA-0A87-B940-30DBFE286F17}"/>
              </a:ext>
            </a:extLst>
          </p:cNvPr>
          <p:cNvSpPr/>
          <p:nvPr/>
        </p:nvSpPr>
        <p:spPr>
          <a:xfrm rot="19789339">
            <a:off x="1252281" y="2041389"/>
            <a:ext cx="1546281" cy="1072026"/>
          </a:xfrm>
          <a:custGeom>
            <a:avLst/>
            <a:gdLst/>
            <a:ahLst/>
            <a:cxnLst/>
            <a:rect l="l" t="t" r="r" b="b"/>
            <a:pathLst>
              <a:path w="1163794" h="712824">
                <a:moveTo>
                  <a:pt x="0" y="0"/>
                </a:moveTo>
                <a:lnTo>
                  <a:pt x="1163794" y="0"/>
                </a:lnTo>
                <a:lnTo>
                  <a:pt x="1163794" y="712824"/>
                </a:lnTo>
                <a:lnTo>
                  <a:pt x="0" y="7128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211625"/>
            <a:chOff x="0" y="0"/>
            <a:chExt cx="24384000" cy="162821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6227725" y="8115683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227725" y="0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8112082" y="0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8115683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8112082" y="8115683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 rot="-1535247">
            <a:off x="12737117" y="6237706"/>
            <a:ext cx="5216862" cy="4114800"/>
          </a:xfrm>
          <a:custGeom>
            <a:avLst/>
            <a:gdLst/>
            <a:ahLst/>
            <a:cxnLst/>
            <a:rect l="l" t="t" r="r" b="b"/>
            <a:pathLst>
              <a:path w="5216862" h="4114800">
                <a:moveTo>
                  <a:pt x="0" y="0"/>
                </a:moveTo>
                <a:lnTo>
                  <a:pt x="5216862" y="0"/>
                </a:lnTo>
                <a:lnTo>
                  <a:pt x="52168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609366">
            <a:off x="-11903" y="-252057"/>
            <a:ext cx="3914204" cy="4114800"/>
          </a:xfrm>
          <a:custGeom>
            <a:avLst/>
            <a:gdLst/>
            <a:ahLst/>
            <a:cxnLst/>
            <a:rect l="l" t="t" r="r" b="b"/>
            <a:pathLst>
              <a:path w="3914204" h="4114800">
                <a:moveTo>
                  <a:pt x="0" y="0"/>
                </a:moveTo>
                <a:lnTo>
                  <a:pt x="3914204" y="0"/>
                </a:lnTo>
                <a:lnTo>
                  <a:pt x="39142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1" name="Group 11"/>
          <p:cNvGrpSpPr/>
          <p:nvPr/>
        </p:nvGrpSpPr>
        <p:grpSpPr>
          <a:xfrm>
            <a:off x="2555187" y="2360539"/>
            <a:ext cx="13610994" cy="5989385"/>
            <a:chOff x="0" y="0"/>
            <a:chExt cx="3584789" cy="15774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84789" cy="1577451"/>
            </a:xfrm>
            <a:custGeom>
              <a:avLst/>
              <a:gdLst/>
              <a:ahLst/>
              <a:cxnLst/>
              <a:rect l="l" t="t" r="r" b="b"/>
              <a:pathLst>
                <a:path w="3584789" h="1577451">
                  <a:moveTo>
                    <a:pt x="19908" y="0"/>
                  </a:moveTo>
                  <a:lnTo>
                    <a:pt x="3564880" y="0"/>
                  </a:lnTo>
                  <a:cubicBezTo>
                    <a:pt x="3570160" y="0"/>
                    <a:pt x="3575224" y="2097"/>
                    <a:pt x="3578958" y="5831"/>
                  </a:cubicBezTo>
                  <a:cubicBezTo>
                    <a:pt x="3582691" y="9564"/>
                    <a:pt x="3584789" y="14628"/>
                    <a:pt x="3584789" y="19908"/>
                  </a:cubicBezTo>
                  <a:lnTo>
                    <a:pt x="3584789" y="1557543"/>
                  </a:lnTo>
                  <a:cubicBezTo>
                    <a:pt x="3584789" y="1562823"/>
                    <a:pt x="3582691" y="1567887"/>
                    <a:pt x="3578958" y="1571620"/>
                  </a:cubicBezTo>
                  <a:cubicBezTo>
                    <a:pt x="3575224" y="1575354"/>
                    <a:pt x="3570160" y="1577451"/>
                    <a:pt x="3564880" y="1577451"/>
                  </a:cubicBezTo>
                  <a:lnTo>
                    <a:pt x="19908" y="1577451"/>
                  </a:lnTo>
                  <a:cubicBezTo>
                    <a:pt x="14628" y="1577451"/>
                    <a:pt x="9564" y="1575354"/>
                    <a:pt x="5831" y="1571620"/>
                  </a:cubicBezTo>
                  <a:cubicBezTo>
                    <a:pt x="2097" y="1567887"/>
                    <a:pt x="0" y="1562823"/>
                    <a:pt x="0" y="1557543"/>
                  </a:cubicBezTo>
                  <a:lnTo>
                    <a:pt x="0" y="19908"/>
                  </a:lnTo>
                  <a:cubicBezTo>
                    <a:pt x="0" y="14628"/>
                    <a:pt x="2097" y="9564"/>
                    <a:pt x="5831" y="5831"/>
                  </a:cubicBezTo>
                  <a:cubicBezTo>
                    <a:pt x="9564" y="2097"/>
                    <a:pt x="14628" y="0"/>
                    <a:pt x="19908" y="0"/>
                  </a:cubicBezTo>
                  <a:close/>
                </a:path>
              </a:pathLst>
            </a:custGeom>
            <a:solidFill>
              <a:srgbClr val="162C3B">
                <a:alpha val="1490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584789" cy="1615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33368" y="419100"/>
            <a:ext cx="17397432" cy="9524999"/>
            <a:chOff x="0" y="0"/>
            <a:chExt cx="3584789" cy="157745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84789" cy="1577451"/>
            </a:xfrm>
            <a:custGeom>
              <a:avLst/>
              <a:gdLst/>
              <a:ahLst/>
              <a:cxnLst/>
              <a:rect l="l" t="t" r="r" b="b"/>
              <a:pathLst>
                <a:path w="3584789" h="1577451">
                  <a:moveTo>
                    <a:pt x="19908" y="0"/>
                  </a:moveTo>
                  <a:lnTo>
                    <a:pt x="3564880" y="0"/>
                  </a:lnTo>
                  <a:cubicBezTo>
                    <a:pt x="3570160" y="0"/>
                    <a:pt x="3575224" y="2097"/>
                    <a:pt x="3578958" y="5831"/>
                  </a:cubicBezTo>
                  <a:cubicBezTo>
                    <a:pt x="3582691" y="9564"/>
                    <a:pt x="3584789" y="14628"/>
                    <a:pt x="3584789" y="19908"/>
                  </a:cubicBezTo>
                  <a:lnTo>
                    <a:pt x="3584789" y="1557543"/>
                  </a:lnTo>
                  <a:cubicBezTo>
                    <a:pt x="3584789" y="1562823"/>
                    <a:pt x="3582691" y="1567887"/>
                    <a:pt x="3578958" y="1571620"/>
                  </a:cubicBezTo>
                  <a:cubicBezTo>
                    <a:pt x="3575224" y="1575354"/>
                    <a:pt x="3570160" y="1577451"/>
                    <a:pt x="3564880" y="1577451"/>
                  </a:cubicBezTo>
                  <a:lnTo>
                    <a:pt x="19908" y="1577451"/>
                  </a:lnTo>
                  <a:cubicBezTo>
                    <a:pt x="14628" y="1577451"/>
                    <a:pt x="9564" y="1575354"/>
                    <a:pt x="5831" y="1571620"/>
                  </a:cubicBezTo>
                  <a:cubicBezTo>
                    <a:pt x="2097" y="1567887"/>
                    <a:pt x="0" y="1562823"/>
                    <a:pt x="0" y="1557543"/>
                  </a:cubicBezTo>
                  <a:lnTo>
                    <a:pt x="0" y="19908"/>
                  </a:lnTo>
                  <a:cubicBezTo>
                    <a:pt x="0" y="14628"/>
                    <a:pt x="2097" y="9564"/>
                    <a:pt x="5831" y="5831"/>
                  </a:cubicBezTo>
                  <a:cubicBezTo>
                    <a:pt x="9564" y="2097"/>
                    <a:pt x="14628" y="0"/>
                    <a:pt x="19908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584789" cy="1615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 rot="4001565">
            <a:off x="15367884" y="980557"/>
            <a:ext cx="1766828" cy="1303035"/>
          </a:xfrm>
          <a:custGeom>
            <a:avLst/>
            <a:gdLst/>
            <a:ahLst/>
            <a:cxnLst/>
            <a:rect l="l" t="t" r="r" b="b"/>
            <a:pathLst>
              <a:path w="1766828" h="1303035">
                <a:moveTo>
                  <a:pt x="0" y="0"/>
                </a:moveTo>
                <a:lnTo>
                  <a:pt x="1766827" y="0"/>
                </a:lnTo>
                <a:lnTo>
                  <a:pt x="1766827" y="1303036"/>
                </a:lnTo>
                <a:lnTo>
                  <a:pt x="0" y="13030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354573" y="809751"/>
            <a:ext cx="5579627" cy="1550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98"/>
              </a:lnSpc>
            </a:pPr>
            <a:r>
              <a:rPr lang="en-US" sz="5500" spc="-163" dirty="0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Data </a:t>
            </a:r>
            <a:r>
              <a:rPr lang="en-US" sz="5500" spc="-163" dirty="0" err="1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Gaji</a:t>
            </a:r>
            <a:r>
              <a:rPr lang="en-US" sz="5500" spc="-163" dirty="0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500" spc="-163" dirty="0" err="1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Pekerja</a:t>
            </a:r>
            <a:r>
              <a:rPr lang="en-US" sz="5500" spc="-163" dirty="0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 di Indonesia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42193" y="6616447"/>
            <a:ext cx="14742213" cy="3058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043"/>
              </a:lnSpc>
              <a:spcBef>
                <a:spcPct val="0"/>
              </a:spcBef>
            </a:pP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Note !</a:t>
            </a:r>
          </a:p>
          <a:p>
            <a:pPr lvl="0">
              <a:lnSpc>
                <a:spcPts val="3043"/>
              </a:lnSpc>
              <a:spcBef>
                <a:spcPct val="0"/>
              </a:spcBef>
            </a:pP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Industri : Tenaga </a:t>
            </a:r>
            <a:r>
              <a:rPr lang="en-US" sz="20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Profesional</a:t>
            </a: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, </a:t>
            </a:r>
            <a:r>
              <a:rPr lang="en-US" sz="20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Teknisi</a:t>
            </a: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dan yang </a:t>
            </a:r>
            <a:r>
              <a:rPr lang="en-US" sz="20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Sejenisnya</a:t>
            </a: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.</a:t>
            </a:r>
          </a:p>
          <a:p>
            <a:pPr lvl="0">
              <a:lnSpc>
                <a:spcPts val="3043"/>
              </a:lnSpc>
              <a:spcBef>
                <a:spcPct val="0"/>
              </a:spcBef>
            </a:pP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Tenaga </a:t>
            </a:r>
            <a:r>
              <a:rPr lang="en-US" sz="20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Kepemimpinan</a:t>
            </a: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: </a:t>
            </a:r>
            <a:r>
              <a:rPr lang="en-US" sz="20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Direktur</a:t>
            </a: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0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atau</a:t>
            </a: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0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Manajer</a:t>
            </a: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. </a:t>
            </a:r>
          </a:p>
          <a:p>
            <a:pPr lvl="0">
              <a:lnSpc>
                <a:spcPts val="3043"/>
              </a:lnSpc>
              <a:spcBef>
                <a:spcPct val="0"/>
              </a:spcBef>
            </a:pP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Tata Usaha : Staff </a:t>
            </a:r>
            <a:r>
              <a:rPr lang="en-US" sz="20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Administrasi</a:t>
            </a: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, </a:t>
            </a:r>
            <a:r>
              <a:rPr lang="en-US" sz="20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Sekertaris</a:t>
            </a: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, dan yang </a:t>
            </a:r>
            <a:r>
              <a:rPr lang="en-US" sz="20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Sejenisnya</a:t>
            </a: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.</a:t>
            </a:r>
          </a:p>
          <a:p>
            <a:pPr lvl="0">
              <a:lnSpc>
                <a:spcPts val="3043"/>
              </a:lnSpc>
              <a:spcBef>
                <a:spcPct val="0"/>
              </a:spcBef>
            </a:pPr>
            <a:r>
              <a:rPr lang="en-US" sz="20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Penjualan</a:t>
            </a: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: Tenaga Usaha </a:t>
            </a:r>
            <a:r>
              <a:rPr lang="en-US" sz="20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Penjualan</a:t>
            </a: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.</a:t>
            </a:r>
          </a:p>
          <a:p>
            <a:pPr lvl="0">
              <a:lnSpc>
                <a:spcPts val="3043"/>
              </a:lnSpc>
              <a:spcBef>
                <a:spcPct val="0"/>
              </a:spcBef>
            </a:pP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Jasa : </a:t>
            </a:r>
            <a:r>
              <a:rPr lang="en-US" sz="20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Perawatan</a:t>
            </a: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Mobil dan Motor </a:t>
            </a:r>
            <a:r>
              <a:rPr lang="en-US" sz="20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serta</a:t>
            </a: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Jasa </a:t>
            </a:r>
            <a:r>
              <a:rPr lang="en-US" sz="20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Lainnya</a:t>
            </a: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.</a:t>
            </a:r>
          </a:p>
          <a:p>
            <a:pPr lvl="0">
              <a:lnSpc>
                <a:spcPts val="3043"/>
              </a:lnSpc>
              <a:spcBef>
                <a:spcPct val="0"/>
              </a:spcBef>
            </a:pPr>
            <a:r>
              <a:rPr lang="en-US" sz="20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Pertanian</a:t>
            </a: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: </a:t>
            </a:r>
            <a:r>
              <a:rPr lang="en-US" sz="20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Kehutanan</a:t>
            </a: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, </a:t>
            </a:r>
            <a:r>
              <a:rPr lang="en-US" sz="20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Perburuan</a:t>
            </a: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, dan yang </a:t>
            </a:r>
            <a:r>
              <a:rPr lang="en-US" sz="20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Sejenisnya</a:t>
            </a: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.</a:t>
            </a:r>
          </a:p>
          <a:p>
            <a:pPr lvl="0">
              <a:lnSpc>
                <a:spcPts val="3043"/>
              </a:lnSpc>
              <a:spcBef>
                <a:spcPct val="0"/>
              </a:spcBef>
            </a:pPr>
            <a:r>
              <a:rPr lang="en-US" sz="20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Pekerja</a:t>
            </a: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Kasar : Tenaga </a:t>
            </a:r>
            <a:r>
              <a:rPr lang="en-US" sz="20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produksi</a:t>
            </a: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, Operator Alat-Alat </a:t>
            </a:r>
            <a:r>
              <a:rPr lang="en-US" sz="20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Angkutan</a:t>
            </a: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dan yang </a:t>
            </a:r>
            <a:r>
              <a:rPr lang="en-US" sz="20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sejenisnya</a:t>
            </a:r>
            <a:r>
              <a:rPr lang="en-US" sz="20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C694303-D676-EFCA-F4F6-1B2D048700E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193" y="2543127"/>
            <a:ext cx="15870042" cy="38842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A3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46654" y="0"/>
            <a:ext cx="20781307" cy="10403658"/>
            <a:chOff x="0" y="0"/>
            <a:chExt cx="27708410" cy="13871544"/>
          </a:xfrm>
        </p:grpSpPr>
        <p:sp>
          <p:nvSpPr>
            <p:cNvPr id="3" name="Freeform 3"/>
            <p:cNvSpPr/>
            <p:nvPr/>
          </p:nvSpPr>
          <p:spPr>
            <a:xfrm>
              <a:off x="13854205" y="0"/>
              <a:ext cx="13854205" cy="13871544"/>
            </a:xfrm>
            <a:custGeom>
              <a:avLst/>
              <a:gdLst/>
              <a:ahLst/>
              <a:cxnLst/>
              <a:rect l="l" t="t" r="r" b="b"/>
              <a:pathLst>
                <a:path w="13854205" h="13871544">
                  <a:moveTo>
                    <a:pt x="0" y="0"/>
                  </a:moveTo>
                  <a:lnTo>
                    <a:pt x="13854205" y="0"/>
                  </a:lnTo>
                  <a:lnTo>
                    <a:pt x="13854205" y="13871544"/>
                  </a:lnTo>
                  <a:lnTo>
                    <a:pt x="0" y="13871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3854205" cy="13871544"/>
            </a:xfrm>
            <a:custGeom>
              <a:avLst/>
              <a:gdLst/>
              <a:ahLst/>
              <a:cxnLst/>
              <a:rect l="l" t="t" r="r" b="b"/>
              <a:pathLst>
                <a:path w="13854205" h="13871544">
                  <a:moveTo>
                    <a:pt x="0" y="0"/>
                  </a:moveTo>
                  <a:lnTo>
                    <a:pt x="13854205" y="0"/>
                  </a:lnTo>
                  <a:lnTo>
                    <a:pt x="13854205" y="13871544"/>
                  </a:lnTo>
                  <a:lnTo>
                    <a:pt x="0" y="13871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381000" y="647700"/>
            <a:ext cx="17373600" cy="9179159"/>
            <a:chOff x="0" y="0"/>
            <a:chExt cx="3584789" cy="15774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584789" cy="1577451"/>
            </a:xfrm>
            <a:custGeom>
              <a:avLst/>
              <a:gdLst/>
              <a:ahLst/>
              <a:cxnLst/>
              <a:rect l="l" t="t" r="r" b="b"/>
              <a:pathLst>
                <a:path w="3584789" h="1577451">
                  <a:moveTo>
                    <a:pt x="19908" y="0"/>
                  </a:moveTo>
                  <a:lnTo>
                    <a:pt x="3564880" y="0"/>
                  </a:lnTo>
                  <a:cubicBezTo>
                    <a:pt x="3570160" y="0"/>
                    <a:pt x="3575224" y="2097"/>
                    <a:pt x="3578958" y="5831"/>
                  </a:cubicBezTo>
                  <a:cubicBezTo>
                    <a:pt x="3582691" y="9564"/>
                    <a:pt x="3584789" y="14628"/>
                    <a:pt x="3584789" y="19908"/>
                  </a:cubicBezTo>
                  <a:lnTo>
                    <a:pt x="3584789" y="1557543"/>
                  </a:lnTo>
                  <a:cubicBezTo>
                    <a:pt x="3584789" y="1562823"/>
                    <a:pt x="3582691" y="1567887"/>
                    <a:pt x="3578958" y="1571620"/>
                  </a:cubicBezTo>
                  <a:cubicBezTo>
                    <a:pt x="3575224" y="1575354"/>
                    <a:pt x="3570160" y="1577451"/>
                    <a:pt x="3564880" y="1577451"/>
                  </a:cubicBezTo>
                  <a:lnTo>
                    <a:pt x="19908" y="1577451"/>
                  </a:lnTo>
                  <a:cubicBezTo>
                    <a:pt x="14628" y="1577451"/>
                    <a:pt x="9564" y="1575354"/>
                    <a:pt x="5831" y="1571620"/>
                  </a:cubicBezTo>
                  <a:cubicBezTo>
                    <a:pt x="2097" y="1567887"/>
                    <a:pt x="0" y="1562823"/>
                    <a:pt x="0" y="1557543"/>
                  </a:cubicBezTo>
                  <a:lnTo>
                    <a:pt x="0" y="19908"/>
                  </a:lnTo>
                  <a:cubicBezTo>
                    <a:pt x="0" y="14628"/>
                    <a:pt x="2097" y="9564"/>
                    <a:pt x="5831" y="5831"/>
                  </a:cubicBezTo>
                  <a:cubicBezTo>
                    <a:pt x="9564" y="2097"/>
                    <a:pt x="14628" y="0"/>
                    <a:pt x="19908" y="0"/>
                  </a:cubicBezTo>
                  <a:close/>
                </a:path>
              </a:pathLst>
            </a:custGeom>
            <a:solidFill>
              <a:srgbClr val="162C3B">
                <a:alpha val="1490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584789" cy="1615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4876924" y="7062983"/>
            <a:ext cx="4225164" cy="4494855"/>
          </a:xfrm>
          <a:custGeom>
            <a:avLst/>
            <a:gdLst/>
            <a:ahLst/>
            <a:cxnLst/>
            <a:rect l="l" t="t" r="r" b="b"/>
            <a:pathLst>
              <a:path w="4225164" h="4494855">
                <a:moveTo>
                  <a:pt x="0" y="0"/>
                </a:moveTo>
                <a:lnTo>
                  <a:pt x="4225163" y="0"/>
                </a:lnTo>
                <a:lnTo>
                  <a:pt x="4225163" y="4494855"/>
                </a:lnTo>
                <a:lnTo>
                  <a:pt x="0" y="4494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2105" y="255527"/>
            <a:ext cx="6341793" cy="1894611"/>
          </a:xfrm>
          <a:custGeom>
            <a:avLst/>
            <a:gdLst/>
            <a:ahLst/>
            <a:cxnLst/>
            <a:rect l="l" t="t" r="r" b="b"/>
            <a:pathLst>
              <a:path w="6341793" h="1894611">
                <a:moveTo>
                  <a:pt x="0" y="0"/>
                </a:moveTo>
                <a:lnTo>
                  <a:pt x="6341792" y="0"/>
                </a:lnTo>
                <a:lnTo>
                  <a:pt x="6341792" y="1894610"/>
                </a:lnTo>
                <a:lnTo>
                  <a:pt x="0" y="18946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17" name="Freeform 17"/>
          <p:cNvSpPr/>
          <p:nvPr/>
        </p:nvSpPr>
        <p:spPr>
          <a:xfrm>
            <a:off x="-533400" y="8831418"/>
            <a:ext cx="1974556" cy="1572240"/>
          </a:xfrm>
          <a:custGeom>
            <a:avLst/>
            <a:gdLst/>
            <a:ahLst/>
            <a:cxnLst/>
            <a:rect l="l" t="t" r="r" b="b"/>
            <a:pathLst>
              <a:path w="1974556" h="1572240">
                <a:moveTo>
                  <a:pt x="0" y="0"/>
                </a:moveTo>
                <a:lnTo>
                  <a:pt x="1974556" y="0"/>
                </a:lnTo>
                <a:lnTo>
                  <a:pt x="1974556" y="1572240"/>
                </a:lnTo>
                <a:lnTo>
                  <a:pt x="0" y="15722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6181335" y="-49120"/>
            <a:ext cx="2046312" cy="1739365"/>
          </a:xfrm>
          <a:custGeom>
            <a:avLst/>
            <a:gdLst/>
            <a:ahLst/>
            <a:cxnLst/>
            <a:rect l="l" t="t" r="r" b="b"/>
            <a:pathLst>
              <a:path w="2046312" h="1739365">
                <a:moveTo>
                  <a:pt x="0" y="0"/>
                </a:moveTo>
                <a:lnTo>
                  <a:pt x="2046312" y="0"/>
                </a:lnTo>
                <a:lnTo>
                  <a:pt x="2046312" y="1739365"/>
                </a:lnTo>
                <a:lnTo>
                  <a:pt x="0" y="17393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21" name="TextBox 21"/>
          <p:cNvSpPr txBox="1"/>
          <p:nvPr/>
        </p:nvSpPr>
        <p:spPr>
          <a:xfrm>
            <a:off x="1022299" y="435841"/>
            <a:ext cx="5136449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95"/>
              </a:lnSpc>
            </a:pPr>
            <a:r>
              <a:rPr lang="en-US" sz="4200" spc="-163" dirty="0" err="1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Ambang</a:t>
            </a:r>
            <a:r>
              <a:rPr lang="en-US" sz="4200" spc="-163" dirty="0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 Batas Median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16BE253-BD38-A40E-7319-8308B74B043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177" y="2004685"/>
            <a:ext cx="9396413" cy="4804843"/>
          </a:xfrm>
          <a:prstGeom prst="rect">
            <a:avLst/>
          </a:prstGeom>
        </p:spPr>
      </p:pic>
      <p:grpSp>
        <p:nvGrpSpPr>
          <p:cNvPr id="26" name="Group 8">
            <a:extLst>
              <a:ext uri="{FF2B5EF4-FFF2-40B4-BE49-F238E27FC236}">
                <a16:creationId xmlns:a16="http://schemas.microsoft.com/office/drawing/2014/main" id="{DCEA8BDE-CF2A-67C7-FEED-DA4BA5421AFA}"/>
              </a:ext>
            </a:extLst>
          </p:cNvPr>
          <p:cNvGrpSpPr/>
          <p:nvPr/>
        </p:nvGrpSpPr>
        <p:grpSpPr>
          <a:xfrm>
            <a:off x="11195280" y="2380710"/>
            <a:ext cx="5700294" cy="3528093"/>
            <a:chOff x="0" y="0"/>
            <a:chExt cx="3584789" cy="157745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F82F5837-9D84-213A-D083-ACE00F078A19}"/>
                </a:ext>
              </a:extLst>
            </p:cNvPr>
            <p:cNvSpPr/>
            <p:nvPr/>
          </p:nvSpPr>
          <p:spPr>
            <a:xfrm>
              <a:off x="0" y="0"/>
              <a:ext cx="3584789" cy="1577451"/>
            </a:xfrm>
            <a:custGeom>
              <a:avLst/>
              <a:gdLst/>
              <a:ahLst/>
              <a:cxnLst/>
              <a:rect l="l" t="t" r="r" b="b"/>
              <a:pathLst>
                <a:path w="3584789" h="1577451">
                  <a:moveTo>
                    <a:pt x="19908" y="0"/>
                  </a:moveTo>
                  <a:lnTo>
                    <a:pt x="3564880" y="0"/>
                  </a:lnTo>
                  <a:cubicBezTo>
                    <a:pt x="3570160" y="0"/>
                    <a:pt x="3575224" y="2097"/>
                    <a:pt x="3578958" y="5831"/>
                  </a:cubicBezTo>
                  <a:cubicBezTo>
                    <a:pt x="3582691" y="9564"/>
                    <a:pt x="3584789" y="14628"/>
                    <a:pt x="3584789" y="19908"/>
                  </a:cubicBezTo>
                  <a:lnTo>
                    <a:pt x="3584789" y="1557543"/>
                  </a:lnTo>
                  <a:cubicBezTo>
                    <a:pt x="3584789" y="1562823"/>
                    <a:pt x="3582691" y="1567887"/>
                    <a:pt x="3578958" y="1571620"/>
                  </a:cubicBezTo>
                  <a:cubicBezTo>
                    <a:pt x="3575224" y="1575354"/>
                    <a:pt x="3570160" y="1577451"/>
                    <a:pt x="3564880" y="1577451"/>
                  </a:cubicBezTo>
                  <a:lnTo>
                    <a:pt x="19908" y="1577451"/>
                  </a:lnTo>
                  <a:cubicBezTo>
                    <a:pt x="14628" y="1577451"/>
                    <a:pt x="9564" y="1575354"/>
                    <a:pt x="5831" y="1571620"/>
                  </a:cubicBezTo>
                  <a:cubicBezTo>
                    <a:pt x="2097" y="1567887"/>
                    <a:pt x="0" y="1562823"/>
                    <a:pt x="0" y="1557543"/>
                  </a:cubicBezTo>
                  <a:lnTo>
                    <a:pt x="0" y="19908"/>
                  </a:lnTo>
                  <a:cubicBezTo>
                    <a:pt x="0" y="14628"/>
                    <a:pt x="2097" y="9564"/>
                    <a:pt x="5831" y="5831"/>
                  </a:cubicBezTo>
                  <a:cubicBezTo>
                    <a:pt x="9564" y="2097"/>
                    <a:pt x="14628" y="0"/>
                    <a:pt x="19908" y="0"/>
                  </a:cubicBezTo>
                  <a:close/>
                </a:path>
              </a:pathLst>
            </a:custGeom>
            <a:grpFill/>
            <a:ln w="95250" cap="rnd">
              <a:solidFill>
                <a:schemeClr val="tx2"/>
              </a:solidFill>
              <a:prstDash val="solid"/>
              <a:round/>
            </a:ln>
          </p:spPr>
        </p:sp>
        <p:sp>
          <p:nvSpPr>
            <p:cNvPr id="28" name="TextBox 10">
              <a:extLst>
                <a:ext uri="{FF2B5EF4-FFF2-40B4-BE49-F238E27FC236}">
                  <a16:creationId xmlns:a16="http://schemas.microsoft.com/office/drawing/2014/main" id="{4C0D7D0A-0DBA-C68F-28FA-91239BBA2B41}"/>
                </a:ext>
              </a:extLst>
            </p:cNvPr>
            <p:cNvSpPr txBox="1"/>
            <p:nvPr/>
          </p:nvSpPr>
          <p:spPr>
            <a:xfrm>
              <a:off x="0" y="-38100"/>
              <a:ext cx="3584789" cy="1615551"/>
            </a:xfrm>
            <a:prstGeom prst="rect">
              <a:avLst/>
            </a:prstGeom>
            <a:grpFill/>
            <a:ln>
              <a:solidFill>
                <a:schemeClr val="tx2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5EA92257-FC6C-B2E5-B467-BECC1A4A4C05}"/>
              </a:ext>
            </a:extLst>
          </p:cNvPr>
          <p:cNvSpPr txBox="1"/>
          <p:nvPr/>
        </p:nvSpPr>
        <p:spPr>
          <a:xfrm>
            <a:off x="11430000" y="2547044"/>
            <a:ext cx="5257800" cy="3166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ts val="3043"/>
              </a:lnSpc>
              <a:spcBef>
                <a:spcPct val="0"/>
              </a:spcBef>
            </a:pP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Ambang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batas median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nasional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menggambarkan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nilai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gaji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tengah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(median)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setiap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sektor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pekerjaan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di Indonesia. Nilai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ini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digunakan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sebagai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tolok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ukur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untuk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membandingkan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gaji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provinsi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atau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kelompok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pekerjaan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tertentu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terhadap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standar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nasional</a:t>
            </a:r>
            <a:endParaRPr lang="en-US" sz="2400" b="1" spc="-35" dirty="0">
              <a:solidFill>
                <a:srgbClr val="162C3B"/>
              </a:solidFill>
              <a:latin typeface="Nunito Bold" panose="020B0604020202020204" charset="0"/>
              <a:ea typeface="Nunito Bold"/>
              <a:cs typeface="Baloo" panose="020B0604020202020204" charset="0"/>
              <a:sym typeface="Nunito Bold"/>
            </a:endParaRPr>
          </a:p>
        </p:txBody>
      </p:sp>
      <p:grpSp>
        <p:nvGrpSpPr>
          <p:cNvPr id="31" name="Group 8">
            <a:extLst>
              <a:ext uri="{FF2B5EF4-FFF2-40B4-BE49-F238E27FC236}">
                <a16:creationId xmlns:a16="http://schemas.microsoft.com/office/drawing/2014/main" id="{462CE116-056F-0FD7-93B9-AB694143422F}"/>
              </a:ext>
            </a:extLst>
          </p:cNvPr>
          <p:cNvGrpSpPr/>
          <p:nvPr/>
        </p:nvGrpSpPr>
        <p:grpSpPr>
          <a:xfrm>
            <a:off x="1360399" y="7235525"/>
            <a:ext cx="13337077" cy="2414181"/>
            <a:chOff x="0" y="0"/>
            <a:chExt cx="3584789" cy="157745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2" name="Freeform 9">
              <a:extLst>
                <a:ext uri="{FF2B5EF4-FFF2-40B4-BE49-F238E27FC236}">
                  <a16:creationId xmlns:a16="http://schemas.microsoft.com/office/drawing/2014/main" id="{04AADC48-AB8A-639C-45D9-061B8CD13091}"/>
                </a:ext>
              </a:extLst>
            </p:cNvPr>
            <p:cNvSpPr/>
            <p:nvPr/>
          </p:nvSpPr>
          <p:spPr>
            <a:xfrm>
              <a:off x="0" y="0"/>
              <a:ext cx="3584789" cy="1577451"/>
            </a:xfrm>
            <a:custGeom>
              <a:avLst/>
              <a:gdLst/>
              <a:ahLst/>
              <a:cxnLst/>
              <a:rect l="l" t="t" r="r" b="b"/>
              <a:pathLst>
                <a:path w="3584789" h="1577451">
                  <a:moveTo>
                    <a:pt x="19908" y="0"/>
                  </a:moveTo>
                  <a:lnTo>
                    <a:pt x="3564880" y="0"/>
                  </a:lnTo>
                  <a:cubicBezTo>
                    <a:pt x="3570160" y="0"/>
                    <a:pt x="3575224" y="2097"/>
                    <a:pt x="3578958" y="5831"/>
                  </a:cubicBezTo>
                  <a:cubicBezTo>
                    <a:pt x="3582691" y="9564"/>
                    <a:pt x="3584789" y="14628"/>
                    <a:pt x="3584789" y="19908"/>
                  </a:cubicBezTo>
                  <a:lnTo>
                    <a:pt x="3584789" y="1557543"/>
                  </a:lnTo>
                  <a:cubicBezTo>
                    <a:pt x="3584789" y="1562823"/>
                    <a:pt x="3582691" y="1567887"/>
                    <a:pt x="3578958" y="1571620"/>
                  </a:cubicBezTo>
                  <a:cubicBezTo>
                    <a:pt x="3575224" y="1575354"/>
                    <a:pt x="3570160" y="1577451"/>
                    <a:pt x="3564880" y="1577451"/>
                  </a:cubicBezTo>
                  <a:lnTo>
                    <a:pt x="19908" y="1577451"/>
                  </a:lnTo>
                  <a:cubicBezTo>
                    <a:pt x="14628" y="1577451"/>
                    <a:pt x="9564" y="1575354"/>
                    <a:pt x="5831" y="1571620"/>
                  </a:cubicBezTo>
                  <a:cubicBezTo>
                    <a:pt x="2097" y="1567887"/>
                    <a:pt x="0" y="1562823"/>
                    <a:pt x="0" y="1557543"/>
                  </a:cubicBezTo>
                  <a:lnTo>
                    <a:pt x="0" y="19908"/>
                  </a:lnTo>
                  <a:cubicBezTo>
                    <a:pt x="0" y="14628"/>
                    <a:pt x="2097" y="9564"/>
                    <a:pt x="5831" y="5831"/>
                  </a:cubicBezTo>
                  <a:cubicBezTo>
                    <a:pt x="9564" y="2097"/>
                    <a:pt x="14628" y="0"/>
                    <a:pt x="19908" y="0"/>
                  </a:cubicBezTo>
                  <a:close/>
                </a:path>
              </a:pathLst>
            </a:custGeom>
            <a:grpFill/>
            <a:ln w="95250" cap="rnd">
              <a:solidFill>
                <a:schemeClr val="tx2"/>
              </a:solidFill>
              <a:prstDash val="solid"/>
              <a:round/>
            </a:ln>
          </p:spPr>
        </p:sp>
        <p:sp>
          <p:nvSpPr>
            <p:cNvPr id="33" name="TextBox 10">
              <a:extLst>
                <a:ext uri="{FF2B5EF4-FFF2-40B4-BE49-F238E27FC236}">
                  <a16:creationId xmlns:a16="http://schemas.microsoft.com/office/drawing/2014/main" id="{79AB1AB0-D6E9-512A-881F-B82450BF1414}"/>
                </a:ext>
              </a:extLst>
            </p:cNvPr>
            <p:cNvSpPr txBox="1"/>
            <p:nvPr/>
          </p:nvSpPr>
          <p:spPr>
            <a:xfrm>
              <a:off x="0" y="-38100"/>
              <a:ext cx="3584789" cy="1615551"/>
            </a:xfrm>
            <a:prstGeom prst="rect">
              <a:avLst/>
            </a:prstGeom>
            <a:grpFill/>
            <a:ln>
              <a:solidFill>
                <a:schemeClr val="tx2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1275B2C8-1720-AE72-F220-AD2E559B441C}"/>
              </a:ext>
            </a:extLst>
          </p:cNvPr>
          <p:cNvSpPr txBox="1"/>
          <p:nvPr/>
        </p:nvSpPr>
        <p:spPr>
          <a:xfrm>
            <a:off x="1829641" y="7448511"/>
            <a:ext cx="1240401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2000" b="1" dirty="0">
                <a:latin typeface="Nunito Bold" panose="020B0604020202020204" charset="0"/>
              </a:rPr>
              <a:t>Sektor Tenaga </a:t>
            </a:r>
            <a:r>
              <a:rPr lang="en-ID" sz="2000" b="1" dirty="0" err="1">
                <a:latin typeface="Nunito Bold" panose="020B0604020202020204" charset="0"/>
              </a:rPr>
              <a:t>Kepemimpinan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memiliki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ambang</a:t>
            </a:r>
            <a:r>
              <a:rPr lang="en-ID" sz="2000" b="1" dirty="0">
                <a:latin typeface="Nunito Bold" panose="020B0604020202020204" charset="0"/>
              </a:rPr>
              <a:t> batas </a:t>
            </a:r>
            <a:r>
              <a:rPr lang="en-ID" sz="2000" b="1" dirty="0" err="1">
                <a:latin typeface="Nunito Bold" panose="020B0604020202020204" charset="0"/>
              </a:rPr>
              <a:t>tertinggi</a:t>
            </a:r>
            <a:r>
              <a:rPr lang="en-ID" sz="2000" b="1" dirty="0">
                <a:latin typeface="Nunito Bold" panose="020B0604020202020204" charset="0"/>
              </a:rPr>
              <a:t>, </a:t>
            </a:r>
            <a:r>
              <a:rPr lang="en-ID" sz="2000" b="1" dirty="0" err="1">
                <a:latin typeface="Nunito Bold" panose="020B0604020202020204" charset="0"/>
              </a:rPr>
              <a:t>menunjukkan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bahwa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posisi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ini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secara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nasional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mendapatkan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kompensasi</a:t>
            </a:r>
            <a:r>
              <a:rPr lang="en-ID" sz="2000" b="1" dirty="0">
                <a:latin typeface="Nunito Bold" panose="020B0604020202020204" charset="0"/>
              </a:rPr>
              <a:t> yang </a:t>
            </a:r>
            <a:r>
              <a:rPr lang="en-ID" sz="2000" b="1" dirty="0" err="1">
                <a:latin typeface="Nunito Bold" panose="020B0604020202020204" charset="0"/>
              </a:rPr>
              <a:t>lebih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besar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dibandingkan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sektor</a:t>
            </a:r>
            <a:r>
              <a:rPr lang="en-ID" sz="2000" b="1" dirty="0">
                <a:latin typeface="Nunito Bold" panose="020B0604020202020204" charset="0"/>
              </a:rPr>
              <a:t> lain. Sektor Jasa dan </a:t>
            </a:r>
            <a:r>
              <a:rPr lang="en-ID" sz="2000" b="1" dirty="0" err="1">
                <a:latin typeface="Nunito Bold" panose="020B0604020202020204" charset="0"/>
              </a:rPr>
              <a:t>Pertanian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memiliki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ambang</a:t>
            </a:r>
            <a:r>
              <a:rPr lang="en-ID" sz="2000" b="1" dirty="0">
                <a:latin typeface="Nunito Bold" panose="020B0604020202020204" charset="0"/>
              </a:rPr>
              <a:t> batas </a:t>
            </a:r>
            <a:r>
              <a:rPr lang="en-ID" sz="2000" b="1" dirty="0" err="1">
                <a:latin typeface="Nunito Bold" panose="020B0604020202020204" charset="0"/>
              </a:rPr>
              <a:t>lebih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rendah</a:t>
            </a:r>
            <a:r>
              <a:rPr lang="en-ID" sz="2000" b="1" dirty="0">
                <a:latin typeface="Nunito Bold" panose="020B0604020202020204" charset="0"/>
              </a:rPr>
              <a:t>, yang </a:t>
            </a:r>
            <a:r>
              <a:rPr lang="en-ID" sz="2000" b="1" dirty="0" err="1">
                <a:latin typeface="Nunito Bold" panose="020B0604020202020204" charset="0"/>
              </a:rPr>
              <a:t>menandakan</a:t>
            </a:r>
            <a:r>
              <a:rPr lang="en-ID" sz="2000" b="1" dirty="0">
                <a:latin typeface="Nunito Bold" panose="020B0604020202020204" charset="0"/>
              </a:rPr>
              <a:t> rata-rata </a:t>
            </a:r>
            <a:r>
              <a:rPr lang="en-ID" sz="2000" b="1" dirty="0" err="1">
                <a:latin typeface="Nunito Bold" panose="020B0604020202020204" charset="0"/>
              </a:rPr>
              <a:t>gaji</a:t>
            </a:r>
            <a:r>
              <a:rPr lang="en-ID" sz="2000" b="1" dirty="0">
                <a:latin typeface="Nunito Bold" panose="020B0604020202020204" charset="0"/>
              </a:rPr>
              <a:t> di </a:t>
            </a:r>
            <a:r>
              <a:rPr lang="en-ID" sz="2000" b="1" dirty="0" err="1">
                <a:latin typeface="Nunito Bold" panose="020B0604020202020204" charset="0"/>
              </a:rPr>
              <a:t>sektor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ini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masih</a:t>
            </a:r>
            <a:r>
              <a:rPr lang="en-ID" sz="2000" b="1" dirty="0">
                <a:latin typeface="Nunito Bold" panose="020B0604020202020204" charset="0"/>
              </a:rPr>
              <a:t> di </a:t>
            </a:r>
            <a:r>
              <a:rPr lang="en-ID" sz="2000" b="1" dirty="0" err="1">
                <a:latin typeface="Nunito Bold" panose="020B0604020202020204" charset="0"/>
              </a:rPr>
              <a:t>bawah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sektor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industri</a:t>
            </a:r>
            <a:r>
              <a:rPr lang="en-ID" sz="2000" b="1" dirty="0">
                <a:latin typeface="Nunito Bold" panose="020B0604020202020204" charset="0"/>
              </a:rPr>
              <a:t> dan </a:t>
            </a:r>
            <a:r>
              <a:rPr lang="en-ID" sz="2000" b="1" dirty="0" err="1">
                <a:latin typeface="Nunito Bold" panose="020B0604020202020204" charset="0"/>
              </a:rPr>
              <a:t>kepemimpinan</a:t>
            </a:r>
            <a:r>
              <a:rPr lang="en-ID" sz="2000" b="1" dirty="0">
                <a:latin typeface="Nunito Bold" panose="020B0604020202020204" charset="0"/>
              </a:rPr>
              <a:t>. </a:t>
            </a:r>
            <a:r>
              <a:rPr lang="en-ID" sz="2000" b="1" dirty="0" err="1">
                <a:latin typeface="Nunito Bold" panose="020B0604020202020204" charset="0"/>
              </a:rPr>
              <a:t>Ambang</a:t>
            </a:r>
            <a:r>
              <a:rPr lang="en-ID" sz="2000" b="1" dirty="0">
                <a:latin typeface="Nunito Bold" panose="020B0604020202020204" charset="0"/>
              </a:rPr>
              <a:t> batas </a:t>
            </a:r>
            <a:r>
              <a:rPr lang="en-ID" sz="2000" b="1" dirty="0" err="1">
                <a:latin typeface="Nunito Bold" panose="020B0604020202020204" charset="0"/>
              </a:rPr>
              <a:t>ini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membantu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dalam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analisis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perbandingan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gaji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antar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provinsi</a:t>
            </a:r>
            <a:r>
              <a:rPr lang="en-ID" sz="2000" b="1" dirty="0">
                <a:latin typeface="Nunito Bold" panose="020B0604020202020204" charset="0"/>
              </a:rPr>
              <a:t> dan </a:t>
            </a:r>
            <a:r>
              <a:rPr lang="en-ID" sz="2000" b="1" dirty="0" err="1">
                <a:latin typeface="Nunito Bold" panose="020B0604020202020204" charset="0"/>
              </a:rPr>
              <a:t>antar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sektor</a:t>
            </a:r>
            <a:r>
              <a:rPr lang="en-ID" sz="2000" b="1" dirty="0">
                <a:latin typeface="Nunito Bold" panose="020B0604020202020204" charset="0"/>
              </a:rPr>
              <a:t>, </a:t>
            </a:r>
            <a:r>
              <a:rPr lang="en-ID" sz="2000" b="1" dirty="0" err="1">
                <a:latin typeface="Nunito Bold" panose="020B0604020202020204" charset="0"/>
              </a:rPr>
              <a:t>serta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memudahkan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identifikasi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sektor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atau</a:t>
            </a:r>
            <a:r>
              <a:rPr lang="en-ID" sz="2000" b="1" dirty="0">
                <a:latin typeface="Nunito Bold" panose="020B0604020202020204" charset="0"/>
              </a:rPr>
              <a:t> wilayah </a:t>
            </a:r>
            <a:r>
              <a:rPr lang="en-ID" sz="2000" b="1" dirty="0" err="1">
                <a:latin typeface="Nunito Bold" panose="020B0604020202020204" charset="0"/>
              </a:rPr>
              <a:t>dengan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gaji</a:t>
            </a:r>
            <a:r>
              <a:rPr lang="en-ID" sz="2000" b="1" dirty="0">
                <a:latin typeface="Nunito Bold" panose="020B0604020202020204" charset="0"/>
              </a:rPr>
              <a:t> di </a:t>
            </a:r>
            <a:r>
              <a:rPr lang="en-ID" sz="2000" b="1" dirty="0" err="1">
                <a:latin typeface="Nunito Bold" panose="020B0604020202020204" charset="0"/>
              </a:rPr>
              <a:t>atas</a:t>
            </a:r>
            <a:r>
              <a:rPr lang="en-ID" sz="2000" b="1" dirty="0">
                <a:latin typeface="Nunito Bold" panose="020B0604020202020204" charset="0"/>
              </a:rPr>
              <a:t> </a:t>
            </a:r>
            <a:r>
              <a:rPr lang="en-ID" sz="2000" b="1" dirty="0" err="1">
                <a:latin typeface="Nunito Bold" panose="020B0604020202020204" charset="0"/>
              </a:rPr>
              <a:t>atau</a:t>
            </a:r>
            <a:r>
              <a:rPr lang="en-ID" sz="2000" b="1" dirty="0">
                <a:latin typeface="Nunito Bold" panose="020B0604020202020204" charset="0"/>
              </a:rPr>
              <a:t> di </a:t>
            </a:r>
            <a:r>
              <a:rPr lang="en-ID" sz="2000" b="1" dirty="0" err="1">
                <a:latin typeface="Nunito Bold" panose="020B0604020202020204" charset="0"/>
              </a:rPr>
              <a:t>bawah</a:t>
            </a:r>
            <a:r>
              <a:rPr lang="en-ID" sz="2000" b="1" dirty="0">
                <a:latin typeface="Nunito Bold" panose="020B0604020202020204" charset="0"/>
              </a:rPr>
              <a:t> median </a:t>
            </a:r>
            <a:r>
              <a:rPr lang="en-ID" sz="2000" b="1" dirty="0" err="1">
                <a:latin typeface="Nunito Bold" panose="020B0604020202020204" charset="0"/>
              </a:rPr>
              <a:t>nasional</a:t>
            </a:r>
            <a:r>
              <a:rPr lang="en-ID" sz="2000" b="1" dirty="0">
                <a:latin typeface="Nunito Bold" panose="020B0604020202020204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211625"/>
            <a:chOff x="0" y="0"/>
            <a:chExt cx="24384000" cy="162821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6227725" y="8115683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227725" y="0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8112082" y="0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8115683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8112082" y="8115683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 rot="-812327" flipH="1" flipV="1">
            <a:off x="-461946" y="555915"/>
            <a:ext cx="5518725" cy="3531984"/>
          </a:xfrm>
          <a:custGeom>
            <a:avLst/>
            <a:gdLst/>
            <a:ahLst/>
            <a:cxnLst/>
            <a:rect l="l" t="t" r="r" b="b"/>
            <a:pathLst>
              <a:path w="5518725" h="3531984">
                <a:moveTo>
                  <a:pt x="5518724" y="3531983"/>
                </a:moveTo>
                <a:lnTo>
                  <a:pt x="0" y="3531983"/>
                </a:lnTo>
                <a:lnTo>
                  <a:pt x="0" y="0"/>
                </a:lnTo>
                <a:lnTo>
                  <a:pt x="5518724" y="0"/>
                </a:lnTo>
                <a:lnTo>
                  <a:pt x="5518724" y="353198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931273">
            <a:off x="12776918" y="6842725"/>
            <a:ext cx="6531429" cy="4114800"/>
          </a:xfrm>
          <a:custGeom>
            <a:avLst/>
            <a:gdLst/>
            <a:ahLst/>
            <a:cxnLst/>
            <a:rect l="l" t="t" r="r" b="b"/>
            <a:pathLst>
              <a:path w="6531429" h="4114800">
                <a:moveTo>
                  <a:pt x="0" y="0"/>
                </a:moveTo>
                <a:lnTo>
                  <a:pt x="6531428" y="0"/>
                </a:lnTo>
                <a:lnTo>
                  <a:pt x="65314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2555187" y="2360539"/>
            <a:ext cx="13610994" cy="5989385"/>
            <a:chOff x="0" y="0"/>
            <a:chExt cx="3584789" cy="15774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84789" cy="1577451"/>
            </a:xfrm>
            <a:custGeom>
              <a:avLst/>
              <a:gdLst/>
              <a:ahLst/>
              <a:cxnLst/>
              <a:rect l="l" t="t" r="r" b="b"/>
              <a:pathLst>
                <a:path w="3584789" h="1577451">
                  <a:moveTo>
                    <a:pt x="19908" y="0"/>
                  </a:moveTo>
                  <a:lnTo>
                    <a:pt x="3564880" y="0"/>
                  </a:lnTo>
                  <a:cubicBezTo>
                    <a:pt x="3570160" y="0"/>
                    <a:pt x="3575224" y="2097"/>
                    <a:pt x="3578958" y="5831"/>
                  </a:cubicBezTo>
                  <a:cubicBezTo>
                    <a:pt x="3582691" y="9564"/>
                    <a:pt x="3584789" y="14628"/>
                    <a:pt x="3584789" y="19908"/>
                  </a:cubicBezTo>
                  <a:lnTo>
                    <a:pt x="3584789" y="1557543"/>
                  </a:lnTo>
                  <a:cubicBezTo>
                    <a:pt x="3584789" y="1562823"/>
                    <a:pt x="3582691" y="1567887"/>
                    <a:pt x="3578958" y="1571620"/>
                  </a:cubicBezTo>
                  <a:cubicBezTo>
                    <a:pt x="3575224" y="1575354"/>
                    <a:pt x="3570160" y="1577451"/>
                    <a:pt x="3564880" y="1577451"/>
                  </a:cubicBezTo>
                  <a:lnTo>
                    <a:pt x="19908" y="1577451"/>
                  </a:lnTo>
                  <a:cubicBezTo>
                    <a:pt x="14628" y="1577451"/>
                    <a:pt x="9564" y="1575354"/>
                    <a:pt x="5831" y="1571620"/>
                  </a:cubicBezTo>
                  <a:cubicBezTo>
                    <a:pt x="2097" y="1567887"/>
                    <a:pt x="0" y="1562823"/>
                    <a:pt x="0" y="1557543"/>
                  </a:cubicBezTo>
                  <a:lnTo>
                    <a:pt x="0" y="19908"/>
                  </a:lnTo>
                  <a:cubicBezTo>
                    <a:pt x="0" y="14628"/>
                    <a:pt x="2097" y="9564"/>
                    <a:pt x="5831" y="5831"/>
                  </a:cubicBezTo>
                  <a:cubicBezTo>
                    <a:pt x="9564" y="2097"/>
                    <a:pt x="14628" y="0"/>
                    <a:pt x="19908" y="0"/>
                  </a:cubicBezTo>
                  <a:close/>
                </a:path>
              </a:pathLst>
            </a:custGeom>
            <a:solidFill>
              <a:srgbClr val="162C3B">
                <a:alpha val="1490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584789" cy="1615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33368" y="628269"/>
            <a:ext cx="17321232" cy="8964504"/>
            <a:chOff x="0" y="0"/>
            <a:chExt cx="3584789" cy="157745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84789" cy="1577451"/>
            </a:xfrm>
            <a:custGeom>
              <a:avLst/>
              <a:gdLst/>
              <a:ahLst/>
              <a:cxnLst/>
              <a:rect l="l" t="t" r="r" b="b"/>
              <a:pathLst>
                <a:path w="3584789" h="1577451">
                  <a:moveTo>
                    <a:pt x="19908" y="0"/>
                  </a:moveTo>
                  <a:lnTo>
                    <a:pt x="3564880" y="0"/>
                  </a:lnTo>
                  <a:cubicBezTo>
                    <a:pt x="3570160" y="0"/>
                    <a:pt x="3575224" y="2097"/>
                    <a:pt x="3578958" y="5831"/>
                  </a:cubicBezTo>
                  <a:cubicBezTo>
                    <a:pt x="3582691" y="9564"/>
                    <a:pt x="3584789" y="14628"/>
                    <a:pt x="3584789" y="19908"/>
                  </a:cubicBezTo>
                  <a:lnTo>
                    <a:pt x="3584789" y="1557543"/>
                  </a:lnTo>
                  <a:cubicBezTo>
                    <a:pt x="3584789" y="1562823"/>
                    <a:pt x="3582691" y="1567887"/>
                    <a:pt x="3578958" y="1571620"/>
                  </a:cubicBezTo>
                  <a:cubicBezTo>
                    <a:pt x="3575224" y="1575354"/>
                    <a:pt x="3570160" y="1577451"/>
                    <a:pt x="3564880" y="1577451"/>
                  </a:cubicBezTo>
                  <a:lnTo>
                    <a:pt x="19908" y="1577451"/>
                  </a:lnTo>
                  <a:cubicBezTo>
                    <a:pt x="14628" y="1577451"/>
                    <a:pt x="9564" y="1575354"/>
                    <a:pt x="5831" y="1571620"/>
                  </a:cubicBezTo>
                  <a:cubicBezTo>
                    <a:pt x="2097" y="1567887"/>
                    <a:pt x="0" y="1562823"/>
                    <a:pt x="0" y="1557543"/>
                  </a:cubicBezTo>
                  <a:lnTo>
                    <a:pt x="0" y="19908"/>
                  </a:lnTo>
                  <a:cubicBezTo>
                    <a:pt x="0" y="14628"/>
                    <a:pt x="2097" y="9564"/>
                    <a:pt x="5831" y="5831"/>
                  </a:cubicBezTo>
                  <a:cubicBezTo>
                    <a:pt x="9564" y="2097"/>
                    <a:pt x="14628" y="0"/>
                    <a:pt x="19908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584789" cy="1615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-1592307" y="7221043"/>
            <a:ext cx="4781724" cy="3765607"/>
          </a:xfrm>
          <a:custGeom>
            <a:avLst/>
            <a:gdLst/>
            <a:ahLst/>
            <a:cxnLst/>
            <a:rect l="l" t="t" r="r" b="b"/>
            <a:pathLst>
              <a:path w="4781724" h="3765607">
                <a:moveTo>
                  <a:pt x="0" y="0"/>
                </a:moveTo>
                <a:lnTo>
                  <a:pt x="4781723" y="0"/>
                </a:lnTo>
                <a:lnTo>
                  <a:pt x="4781723" y="3765608"/>
                </a:lnTo>
                <a:lnTo>
                  <a:pt x="0" y="37656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23" name="Freeform 23"/>
          <p:cNvSpPr/>
          <p:nvPr/>
        </p:nvSpPr>
        <p:spPr>
          <a:xfrm>
            <a:off x="16447187" y="0"/>
            <a:ext cx="1997949" cy="2677319"/>
          </a:xfrm>
          <a:custGeom>
            <a:avLst/>
            <a:gdLst/>
            <a:ahLst/>
            <a:cxnLst/>
            <a:rect l="l" t="t" r="r" b="b"/>
            <a:pathLst>
              <a:path w="1997949" h="2677319">
                <a:moveTo>
                  <a:pt x="0" y="0"/>
                </a:moveTo>
                <a:lnTo>
                  <a:pt x="1997948" y="0"/>
                </a:lnTo>
                <a:lnTo>
                  <a:pt x="1997948" y="2677318"/>
                </a:lnTo>
                <a:lnTo>
                  <a:pt x="0" y="26773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rot="20667543">
            <a:off x="15674503" y="7767594"/>
            <a:ext cx="2571775" cy="1655580"/>
          </a:xfrm>
          <a:custGeom>
            <a:avLst/>
            <a:gdLst/>
            <a:ahLst/>
            <a:cxnLst/>
            <a:rect l="l" t="t" r="r" b="b"/>
            <a:pathLst>
              <a:path w="2571775" h="1655580">
                <a:moveTo>
                  <a:pt x="0" y="0"/>
                </a:moveTo>
                <a:lnTo>
                  <a:pt x="2571774" y="0"/>
                </a:lnTo>
                <a:lnTo>
                  <a:pt x="2571774" y="1655580"/>
                </a:lnTo>
                <a:lnTo>
                  <a:pt x="0" y="16555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26" name="TextBox 26"/>
          <p:cNvSpPr txBox="1"/>
          <p:nvPr/>
        </p:nvSpPr>
        <p:spPr>
          <a:xfrm>
            <a:off x="1548618" y="783024"/>
            <a:ext cx="9278236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</a:pPr>
            <a:r>
              <a:rPr lang="en-US" sz="5000" spc="-163" dirty="0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HASIL KLASIFIKASI INDEKS PROFIL UPAH DISKRIT (DPI)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3935" y="2214324"/>
            <a:ext cx="5902114" cy="49744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43"/>
              </a:lnSpc>
            </a:pP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Berdasarkan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analisis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DPI,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setiap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provinsi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diklasifikasikan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menurut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tingkat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upah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di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berbagai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sektor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dibandingkan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median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nasional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. DPI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menggunakan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kode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biner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untuk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menandai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sektor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mana yang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memiliki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gaji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kompetitif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. Aceh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menempati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kategori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“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Semua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sektor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upah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di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bawah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median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nasional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”, yang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menunjukkan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bahwa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seluruh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sektor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di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provinsi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ini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masih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berada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di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bawah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ambang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gaji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nasional.Sumatera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Utara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memiliki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upah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kompetitif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pada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sektor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Penjualan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dan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Pertanian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,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sedangkan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sektor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lainnya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berada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di </a:t>
            </a:r>
            <a:r>
              <a:rPr lang="en-US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bawah</a:t>
            </a:r>
            <a:r>
              <a:rPr lang="en-US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median. </a:t>
            </a:r>
            <a:r>
              <a:rPr lang="en-ID" dirty="0">
                <a:latin typeface="Nunito Bold" panose="020B0604020202020204" charset="0"/>
              </a:rPr>
              <a:t>Sumatera Barat </a:t>
            </a:r>
            <a:r>
              <a:rPr lang="en-ID" dirty="0" err="1">
                <a:latin typeface="Nunito Bold" panose="020B0604020202020204" charset="0"/>
              </a:rPr>
              <a:t>menunjukkan</a:t>
            </a:r>
            <a:r>
              <a:rPr lang="en-ID" dirty="0">
                <a:latin typeface="Nunito Bold" panose="020B0604020202020204" charset="0"/>
              </a:rPr>
              <a:t> </a:t>
            </a:r>
            <a:r>
              <a:rPr lang="en-ID" dirty="0" err="1">
                <a:latin typeface="Nunito Bold" panose="020B0604020202020204" charset="0"/>
              </a:rPr>
              <a:t>gaji</a:t>
            </a:r>
            <a:r>
              <a:rPr lang="en-ID" dirty="0">
                <a:latin typeface="Nunito Bold" panose="020B0604020202020204" charset="0"/>
              </a:rPr>
              <a:t> </a:t>
            </a:r>
            <a:r>
              <a:rPr lang="en-ID" dirty="0" err="1">
                <a:latin typeface="Nunito Bold" panose="020B0604020202020204" charset="0"/>
              </a:rPr>
              <a:t>kompetitif</a:t>
            </a:r>
            <a:r>
              <a:rPr lang="en-ID" dirty="0">
                <a:latin typeface="Nunito Bold" panose="020B0604020202020204" charset="0"/>
              </a:rPr>
              <a:t> pada </a:t>
            </a:r>
            <a:r>
              <a:rPr lang="en-ID" dirty="0" err="1">
                <a:latin typeface="Nunito Bold" panose="020B0604020202020204" charset="0"/>
              </a:rPr>
              <a:t>sektor</a:t>
            </a:r>
            <a:r>
              <a:rPr lang="en-ID" dirty="0">
                <a:latin typeface="Nunito Bold" panose="020B0604020202020204" charset="0"/>
              </a:rPr>
              <a:t> Tenaga </a:t>
            </a:r>
            <a:r>
              <a:rPr lang="en-ID" dirty="0" err="1">
                <a:latin typeface="Nunito Bold" panose="020B0604020202020204" charset="0"/>
              </a:rPr>
              <a:t>Kepemimpinan</a:t>
            </a:r>
            <a:r>
              <a:rPr lang="en-ID" dirty="0">
                <a:latin typeface="Nunito Bold" panose="020B0604020202020204" charset="0"/>
              </a:rPr>
              <a:t> dan Jasa, </a:t>
            </a:r>
            <a:r>
              <a:rPr lang="en-ID" dirty="0" err="1">
                <a:latin typeface="Nunito Bold" panose="020B0604020202020204" charset="0"/>
              </a:rPr>
              <a:t>memperlihatkan</a:t>
            </a:r>
            <a:r>
              <a:rPr lang="en-ID" dirty="0">
                <a:latin typeface="Nunito Bold" panose="020B0604020202020204" charset="0"/>
              </a:rPr>
              <a:t> </a:t>
            </a:r>
            <a:r>
              <a:rPr lang="en-ID" dirty="0" err="1">
                <a:latin typeface="Nunito Bold" panose="020B0604020202020204" charset="0"/>
              </a:rPr>
              <a:t>fokus</a:t>
            </a:r>
            <a:r>
              <a:rPr lang="en-ID" dirty="0">
                <a:latin typeface="Nunito Bold" panose="020B0604020202020204" charset="0"/>
              </a:rPr>
              <a:t> </a:t>
            </a:r>
            <a:r>
              <a:rPr lang="en-ID" dirty="0" err="1">
                <a:latin typeface="Nunito Bold" panose="020B0604020202020204" charset="0"/>
              </a:rPr>
              <a:t>sektor</a:t>
            </a:r>
            <a:r>
              <a:rPr lang="en-ID" dirty="0">
                <a:latin typeface="Nunito Bold" panose="020B0604020202020204" charset="0"/>
              </a:rPr>
              <a:t> </a:t>
            </a:r>
            <a:r>
              <a:rPr lang="en-ID" dirty="0" err="1">
                <a:latin typeface="Nunito Bold" panose="020B0604020202020204" charset="0"/>
              </a:rPr>
              <a:t>profesional</a:t>
            </a:r>
            <a:r>
              <a:rPr lang="en-ID" dirty="0">
                <a:latin typeface="Nunito Bold" panose="020B0604020202020204" charset="0"/>
              </a:rPr>
              <a:t> di </a:t>
            </a:r>
            <a:r>
              <a:rPr lang="en-ID" dirty="0" err="1">
                <a:latin typeface="Nunito Bold" panose="020B0604020202020204" charset="0"/>
              </a:rPr>
              <a:t>provinsi</a:t>
            </a:r>
            <a:r>
              <a:rPr lang="en-ID" dirty="0">
                <a:latin typeface="Nunito Bold" panose="020B0604020202020204" charset="0"/>
              </a:rPr>
              <a:t> </a:t>
            </a:r>
            <a:r>
              <a:rPr lang="en-ID" dirty="0" err="1">
                <a:latin typeface="Nunito Bold" panose="020B0604020202020204" charset="0"/>
              </a:rPr>
              <a:t>ini</a:t>
            </a:r>
            <a:r>
              <a:rPr lang="en-ID" dirty="0">
                <a:latin typeface="Nunito Bold" panose="020B0604020202020204" charset="0"/>
              </a:rPr>
              <a:t>.</a:t>
            </a:r>
            <a:endParaRPr lang="en-US" b="1" spc="-35" dirty="0">
              <a:solidFill>
                <a:srgbClr val="162C3B"/>
              </a:solidFill>
              <a:latin typeface="Nunito Bold"/>
              <a:ea typeface="Nunito Bold"/>
              <a:cs typeface="Nunito Bold"/>
              <a:sym typeface="Nunito Bold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A5237EC-11B2-7146-A654-F67CF539BEC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778" y="2199136"/>
            <a:ext cx="10587202" cy="453777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A22E5A2-8C8F-B5A7-17D7-21041C7B0DA2}"/>
              </a:ext>
            </a:extLst>
          </p:cNvPr>
          <p:cNvSpPr txBox="1"/>
          <p:nvPr/>
        </p:nvSpPr>
        <p:spPr>
          <a:xfrm>
            <a:off x="3189417" y="7243903"/>
            <a:ext cx="10721892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1900" b="1" dirty="0">
                <a:latin typeface="Nunito Bold" panose="020B0604020202020204" charset="0"/>
              </a:rPr>
              <a:t>Riau </a:t>
            </a:r>
            <a:r>
              <a:rPr lang="en-ID" sz="1900" b="1" dirty="0" err="1">
                <a:latin typeface="Nunito Bold" panose="020B0604020202020204" charset="0"/>
              </a:rPr>
              <a:t>menonjol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dengan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beberapa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sektor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seperti</a:t>
            </a:r>
            <a:r>
              <a:rPr lang="en-ID" sz="1900" b="1" dirty="0">
                <a:latin typeface="Nunito Bold" panose="020B0604020202020204" charset="0"/>
              </a:rPr>
              <a:t> Industri, Tenaga </a:t>
            </a:r>
            <a:r>
              <a:rPr lang="en-ID" sz="1900" b="1" dirty="0" err="1">
                <a:latin typeface="Nunito Bold" panose="020B0604020202020204" charset="0"/>
              </a:rPr>
              <a:t>Kepemimpinan</a:t>
            </a:r>
            <a:r>
              <a:rPr lang="en-ID" sz="1900" b="1" dirty="0">
                <a:latin typeface="Nunito Bold" panose="020B0604020202020204" charset="0"/>
              </a:rPr>
              <a:t>, </a:t>
            </a:r>
            <a:r>
              <a:rPr lang="en-ID" sz="1900" b="1" dirty="0" err="1">
                <a:latin typeface="Nunito Bold" panose="020B0604020202020204" charset="0"/>
              </a:rPr>
              <a:t>Pertanian</a:t>
            </a:r>
            <a:r>
              <a:rPr lang="en-ID" sz="1900" b="1" dirty="0">
                <a:latin typeface="Nunito Bold" panose="020B0604020202020204" charset="0"/>
              </a:rPr>
              <a:t>, dan </a:t>
            </a:r>
            <a:r>
              <a:rPr lang="en-ID" sz="1900" b="1" dirty="0" err="1">
                <a:latin typeface="Nunito Bold" panose="020B0604020202020204" charset="0"/>
              </a:rPr>
              <a:t>Pekerja</a:t>
            </a:r>
            <a:r>
              <a:rPr lang="en-ID" sz="1900" b="1" dirty="0">
                <a:latin typeface="Nunito Bold" panose="020B0604020202020204" charset="0"/>
              </a:rPr>
              <a:t> Kasar yang </a:t>
            </a:r>
            <a:r>
              <a:rPr lang="en-ID" sz="1900" b="1" dirty="0" err="1">
                <a:latin typeface="Nunito Bold" panose="020B0604020202020204" charset="0"/>
              </a:rPr>
              <a:t>gajinya</a:t>
            </a:r>
            <a:r>
              <a:rPr lang="en-ID" sz="1900" b="1" dirty="0">
                <a:latin typeface="Nunito Bold" panose="020B0604020202020204" charset="0"/>
              </a:rPr>
              <a:t> di </a:t>
            </a:r>
            <a:r>
              <a:rPr lang="en-ID" sz="1900" b="1" dirty="0" err="1">
                <a:latin typeface="Nunito Bold" panose="020B0604020202020204" charset="0"/>
              </a:rPr>
              <a:t>atas</a:t>
            </a:r>
            <a:r>
              <a:rPr lang="en-ID" sz="1900" b="1" dirty="0">
                <a:latin typeface="Nunito Bold" panose="020B0604020202020204" charset="0"/>
              </a:rPr>
              <a:t> median, </a:t>
            </a:r>
            <a:r>
              <a:rPr lang="en-ID" sz="1900" b="1" dirty="0" err="1">
                <a:latin typeface="Nunito Bold" panose="020B0604020202020204" charset="0"/>
              </a:rPr>
              <a:t>menandakan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provinsi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ini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memiliki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distribusi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upah</a:t>
            </a:r>
            <a:r>
              <a:rPr lang="en-ID" sz="1900" b="1" dirty="0">
                <a:latin typeface="Nunito Bold" panose="020B0604020202020204" charset="0"/>
              </a:rPr>
              <a:t> yang </a:t>
            </a:r>
            <a:r>
              <a:rPr lang="en-ID" sz="1900" b="1" dirty="0" err="1">
                <a:latin typeface="Nunito Bold" panose="020B0604020202020204" charset="0"/>
              </a:rPr>
              <a:t>lebih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kompetitif</a:t>
            </a:r>
            <a:r>
              <a:rPr lang="en-ID" sz="1900" b="1" dirty="0">
                <a:latin typeface="Nunito Bold" panose="020B0604020202020204" charset="0"/>
              </a:rPr>
              <a:t> di </a:t>
            </a:r>
            <a:r>
              <a:rPr lang="en-ID" sz="1900" b="1" dirty="0" err="1">
                <a:latin typeface="Nunito Bold" panose="020B0604020202020204" charset="0"/>
              </a:rPr>
              <a:t>sektor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strategis</a:t>
            </a:r>
            <a:r>
              <a:rPr lang="en-ID" sz="1900" b="1" dirty="0">
                <a:latin typeface="Nunito Bold" panose="020B0604020202020204" charset="0"/>
              </a:rPr>
              <a:t>. Jambi </a:t>
            </a:r>
            <a:r>
              <a:rPr lang="en-ID" sz="1900" b="1" dirty="0" err="1">
                <a:latin typeface="Nunito Bold" panose="020B0604020202020204" charset="0"/>
              </a:rPr>
              <a:t>hanya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memiliki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sektor</a:t>
            </a:r>
            <a:r>
              <a:rPr lang="en-ID" sz="1900" b="1" dirty="0">
                <a:latin typeface="Nunito Bold" panose="020B0604020202020204" charset="0"/>
              </a:rPr>
              <a:t> Jasa yang </a:t>
            </a:r>
            <a:r>
              <a:rPr lang="en-ID" sz="1900" b="1" dirty="0" err="1">
                <a:latin typeface="Nunito Bold" panose="020B0604020202020204" charset="0"/>
              </a:rPr>
              <a:t>gajinya</a:t>
            </a:r>
            <a:r>
              <a:rPr lang="en-ID" sz="1900" b="1" dirty="0">
                <a:latin typeface="Nunito Bold" panose="020B0604020202020204" charset="0"/>
              </a:rPr>
              <a:t> di </a:t>
            </a:r>
            <a:r>
              <a:rPr lang="en-ID" sz="1900" b="1" dirty="0" err="1">
                <a:latin typeface="Nunito Bold" panose="020B0604020202020204" charset="0"/>
              </a:rPr>
              <a:t>atas</a:t>
            </a:r>
            <a:r>
              <a:rPr lang="en-ID" sz="1900" b="1" dirty="0">
                <a:latin typeface="Nunito Bold" panose="020B0604020202020204" charset="0"/>
              </a:rPr>
              <a:t> median, </a:t>
            </a:r>
            <a:r>
              <a:rPr lang="en-ID" sz="1900" b="1" dirty="0" err="1">
                <a:latin typeface="Nunito Bold" panose="020B0604020202020204" charset="0"/>
              </a:rPr>
              <a:t>sedangkan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sektor</a:t>
            </a:r>
            <a:r>
              <a:rPr lang="en-ID" sz="1900" b="1" dirty="0">
                <a:latin typeface="Nunito Bold" panose="020B0604020202020204" charset="0"/>
              </a:rPr>
              <a:t> lain </a:t>
            </a:r>
            <a:r>
              <a:rPr lang="en-ID" sz="1900" b="1" dirty="0" err="1">
                <a:latin typeface="Nunito Bold" panose="020B0604020202020204" charset="0"/>
              </a:rPr>
              <a:t>relatif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lebih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rendah</a:t>
            </a:r>
            <a:r>
              <a:rPr lang="en-ID" sz="1900" b="1" dirty="0">
                <a:latin typeface="Nunito Bold" panose="020B0604020202020204" charset="0"/>
              </a:rPr>
              <a:t>. </a:t>
            </a:r>
            <a:r>
              <a:rPr lang="en-ID" sz="1900" b="1" dirty="0" err="1">
                <a:latin typeface="Nunito Bold" panose="020B0604020202020204" charset="0"/>
              </a:rPr>
              <a:t>Secara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keseluruhan</a:t>
            </a:r>
            <a:r>
              <a:rPr lang="en-ID" sz="1900" b="1" dirty="0">
                <a:latin typeface="Nunito Bold" panose="020B0604020202020204" charset="0"/>
              </a:rPr>
              <a:t>, </a:t>
            </a:r>
            <a:r>
              <a:rPr lang="en-ID" sz="1900" b="1" dirty="0" err="1">
                <a:latin typeface="Nunito Bold" panose="020B0604020202020204" charset="0"/>
              </a:rPr>
              <a:t>klasifikasi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ini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membantu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memahami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pola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distribusi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upah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antar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sektor</a:t>
            </a:r>
            <a:r>
              <a:rPr lang="en-ID" sz="1900" b="1" dirty="0">
                <a:latin typeface="Nunito Bold" panose="020B0604020202020204" charset="0"/>
              </a:rPr>
              <a:t> per </a:t>
            </a:r>
            <a:r>
              <a:rPr lang="en-ID" sz="1900" b="1" dirty="0" err="1">
                <a:latin typeface="Nunito Bold" panose="020B0604020202020204" charset="0"/>
              </a:rPr>
              <a:t>provinsi</a:t>
            </a:r>
            <a:r>
              <a:rPr lang="en-ID" sz="1900" b="1" dirty="0">
                <a:latin typeface="Nunito Bold" panose="020B0604020202020204" charset="0"/>
              </a:rPr>
              <a:t>, </a:t>
            </a:r>
            <a:r>
              <a:rPr lang="en-ID" sz="1900" b="1" dirty="0" err="1">
                <a:latin typeface="Nunito Bold" panose="020B0604020202020204" charset="0"/>
              </a:rPr>
              <a:t>mempermudah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perbandingan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antar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daerah</a:t>
            </a:r>
            <a:r>
              <a:rPr lang="en-ID" sz="1900" b="1" dirty="0">
                <a:latin typeface="Nunito Bold" panose="020B0604020202020204" charset="0"/>
              </a:rPr>
              <a:t>, </a:t>
            </a:r>
            <a:r>
              <a:rPr lang="en-ID" sz="1900" b="1" dirty="0" err="1">
                <a:latin typeface="Nunito Bold" panose="020B0604020202020204" charset="0"/>
              </a:rPr>
              <a:t>serta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memberikan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informasi</a:t>
            </a:r>
            <a:r>
              <a:rPr lang="en-ID" sz="1900" b="1" dirty="0">
                <a:latin typeface="Nunito Bold" panose="020B0604020202020204" charset="0"/>
              </a:rPr>
              <a:t> yang </a:t>
            </a:r>
            <a:r>
              <a:rPr lang="en-ID" sz="1900" b="1" dirty="0" err="1">
                <a:latin typeface="Nunito Bold" panose="020B0604020202020204" charset="0"/>
              </a:rPr>
              <a:t>berguna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untuk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perencanaan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tenaga</a:t>
            </a:r>
            <a:r>
              <a:rPr lang="en-ID" sz="1900" b="1" dirty="0">
                <a:latin typeface="Nunito Bold" panose="020B0604020202020204" charset="0"/>
              </a:rPr>
              <a:t> </a:t>
            </a:r>
            <a:r>
              <a:rPr lang="en-ID" sz="1900" b="1" dirty="0" err="1">
                <a:latin typeface="Nunito Bold" panose="020B0604020202020204" charset="0"/>
              </a:rPr>
              <a:t>kerja</a:t>
            </a:r>
            <a:r>
              <a:rPr lang="en-ID" sz="1900" b="1" dirty="0">
                <a:latin typeface="Nunito Bold" panose="020B0604020202020204" charset="0"/>
              </a:rPr>
              <a:t> dan </a:t>
            </a:r>
            <a:r>
              <a:rPr lang="en-ID" sz="1900" b="1" dirty="0" err="1">
                <a:latin typeface="Nunito Bold" panose="020B0604020202020204" charset="0"/>
              </a:rPr>
              <a:t>kebijakan</a:t>
            </a:r>
            <a:r>
              <a:rPr lang="en-ID" sz="1900" b="1" dirty="0">
                <a:latin typeface="Nunito Bold" panose="020B0604020202020204" charset="0"/>
              </a:rPr>
              <a:t> regional.</a:t>
            </a:r>
          </a:p>
        </p:txBody>
      </p:sp>
      <p:sp>
        <p:nvSpPr>
          <p:cNvPr id="34" name="Freeform 22">
            <a:extLst>
              <a:ext uri="{FF2B5EF4-FFF2-40B4-BE49-F238E27FC236}">
                <a16:creationId xmlns:a16="http://schemas.microsoft.com/office/drawing/2014/main" id="{E9D29495-C5E2-FBF3-FCFB-98646B9837C8}"/>
              </a:ext>
            </a:extLst>
          </p:cNvPr>
          <p:cNvSpPr/>
          <p:nvPr/>
        </p:nvSpPr>
        <p:spPr>
          <a:xfrm rot="1489742">
            <a:off x="-170141" y="747644"/>
            <a:ext cx="1624718" cy="805556"/>
          </a:xfrm>
          <a:custGeom>
            <a:avLst/>
            <a:gdLst/>
            <a:ahLst/>
            <a:cxnLst/>
            <a:rect l="l" t="t" r="r" b="b"/>
            <a:pathLst>
              <a:path w="1996070" h="1110314">
                <a:moveTo>
                  <a:pt x="0" y="0"/>
                </a:moveTo>
                <a:lnTo>
                  <a:pt x="1996070" y="0"/>
                </a:lnTo>
                <a:lnTo>
                  <a:pt x="1996070" y="1110314"/>
                </a:lnTo>
                <a:lnTo>
                  <a:pt x="0" y="111031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A3C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05F493-8E0F-5CF5-62B0-2E4A14DB0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FD9D0B8-05E6-0A99-9981-DAAC89068D84}"/>
              </a:ext>
            </a:extLst>
          </p:cNvPr>
          <p:cNvGrpSpPr/>
          <p:nvPr/>
        </p:nvGrpSpPr>
        <p:grpSpPr>
          <a:xfrm>
            <a:off x="-1246654" y="0"/>
            <a:ext cx="20781307" cy="10403658"/>
            <a:chOff x="0" y="0"/>
            <a:chExt cx="27708410" cy="1387154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A3C5470-58CB-A3DE-5871-70EE3458602F}"/>
                </a:ext>
              </a:extLst>
            </p:cNvPr>
            <p:cNvSpPr/>
            <p:nvPr/>
          </p:nvSpPr>
          <p:spPr>
            <a:xfrm>
              <a:off x="13854205" y="0"/>
              <a:ext cx="13854205" cy="13871544"/>
            </a:xfrm>
            <a:custGeom>
              <a:avLst/>
              <a:gdLst/>
              <a:ahLst/>
              <a:cxnLst/>
              <a:rect l="l" t="t" r="r" b="b"/>
              <a:pathLst>
                <a:path w="13854205" h="13871544">
                  <a:moveTo>
                    <a:pt x="0" y="0"/>
                  </a:moveTo>
                  <a:lnTo>
                    <a:pt x="13854205" y="0"/>
                  </a:lnTo>
                  <a:lnTo>
                    <a:pt x="13854205" y="13871544"/>
                  </a:lnTo>
                  <a:lnTo>
                    <a:pt x="0" y="13871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BBEFA8A-14DA-BACA-B964-6F5511482859}"/>
                </a:ext>
              </a:extLst>
            </p:cNvPr>
            <p:cNvSpPr/>
            <p:nvPr/>
          </p:nvSpPr>
          <p:spPr>
            <a:xfrm>
              <a:off x="0" y="0"/>
              <a:ext cx="13854205" cy="13871544"/>
            </a:xfrm>
            <a:custGeom>
              <a:avLst/>
              <a:gdLst/>
              <a:ahLst/>
              <a:cxnLst/>
              <a:rect l="l" t="t" r="r" b="b"/>
              <a:pathLst>
                <a:path w="13854205" h="13871544">
                  <a:moveTo>
                    <a:pt x="0" y="0"/>
                  </a:moveTo>
                  <a:lnTo>
                    <a:pt x="13854205" y="0"/>
                  </a:lnTo>
                  <a:lnTo>
                    <a:pt x="13854205" y="13871544"/>
                  </a:lnTo>
                  <a:lnTo>
                    <a:pt x="0" y="13871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9EE2B07-286C-E1C4-F871-896F42E8A3AA}"/>
              </a:ext>
            </a:extLst>
          </p:cNvPr>
          <p:cNvGrpSpPr/>
          <p:nvPr/>
        </p:nvGrpSpPr>
        <p:grpSpPr>
          <a:xfrm>
            <a:off x="381000" y="647700"/>
            <a:ext cx="17373600" cy="9179159"/>
            <a:chOff x="0" y="0"/>
            <a:chExt cx="3584789" cy="157745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C65ED2E-ED56-2993-7637-C2F20DD966A8}"/>
                </a:ext>
              </a:extLst>
            </p:cNvPr>
            <p:cNvSpPr/>
            <p:nvPr/>
          </p:nvSpPr>
          <p:spPr>
            <a:xfrm>
              <a:off x="0" y="0"/>
              <a:ext cx="3584789" cy="1577451"/>
            </a:xfrm>
            <a:custGeom>
              <a:avLst/>
              <a:gdLst/>
              <a:ahLst/>
              <a:cxnLst/>
              <a:rect l="l" t="t" r="r" b="b"/>
              <a:pathLst>
                <a:path w="3584789" h="1577451">
                  <a:moveTo>
                    <a:pt x="19908" y="0"/>
                  </a:moveTo>
                  <a:lnTo>
                    <a:pt x="3564880" y="0"/>
                  </a:lnTo>
                  <a:cubicBezTo>
                    <a:pt x="3570160" y="0"/>
                    <a:pt x="3575224" y="2097"/>
                    <a:pt x="3578958" y="5831"/>
                  </a:cubicBezTo>
                  <a:cubicBezTo>
                    <a:pt x="3582691" y="9564"/>
                    <a:pt x="3584789" y="14628"/>
                    <a:pt x="3584789" y="19908"/>
                  </a:cubicBezTo>
                  <a:lnTo>
                    <a:pt x="3584789" y="1557543"/>
                  </a:lnTo>
                  <a:cubicBezTo>
                    <a:pt x="3584789" y="1562823"/>
                    <a:pt x="3582691" y="1567887"/>
                    <a:pt x="3578958" y="1571620"/>
                  </a:cubicBezTo>
                  <a:cubicBezTo>
                    <a:pt x="3575224" y="1575354"/>
                    <a:pt x="3570160" y="1577451"/>
                    <a:pt x="3564880" y="1577451"/>
                  </a:cubicBezTo>
                  <a:lnTo>
                    <a:pt x="19908" y="1577451"/>
                  </a:lnTo>
                  <a:cubicBezTo>
                    <a:pt x="14628" y="1577451"/>
                    <a:pt x="9564" y="1575354"/>
                    <a:pt x="5831" y="1571620"/>
                  </a:cubicBezTo>
                  <a:cubicBezTo>
                    <a:pt x="2097" y="1567887"/>
                    <a:pt x="0" y="1562823"/>
                    <a:pt x="0" y="1557543"/>
                  </a:cubicBezTo>
                  <a:lnTo>
                    <a:pt x="0" y="19908"/>
                  </a:lnTo>
                  <a:cubicBezTo>
                    <a:pt x="0" y="14628"/>
                    <a:pt x="2097" y="9564"/>
                    <a:pt x="5831" y="5831"/>
                  </a:cubicBezTo>
                  <a:cubicBezTo>
                    <a:pt x="9564" y="2097"/>
                    <a:pt x="14628" y="0"/>
                    <a:pt x="19908" y="0"/>
                  </a:cubicBezTo>
                  <a:close/>
                </a:path>
              </a:pathLst>
            </a:custGeom>
            <a:solidFill>
              <a:srgbClr val="162C3B">
                <a:alpha val="1490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1567F3F-7499-2986-8F2B-97DE0F93B5D7}"/>
                </a:ext>
              </a:extLst>
            </p:cNvPr>
            <p:cNvSpPr txBox="1"/>
            <p:nvPr/>
          </p:nvSpPr>
          <p:spPr>
            <a:xfrm>
              <a:off x="0" y="-38100"/>
              <a:ext cx="3584789" cy="1615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A5CB2A5F-CA93-911A-F3ED-537A4132DE38}"/>
              </a:ext>
            </a:extLst>
          </p:cNvPr>
          <p:cNvSpPr/>
          <p:nvPr/>
        </p:nvSpPr>
        <p:spPr>
          <a:xfrm>
            <a:off x="22105" y="255527"/>
            <a:ext cx="6341793" cy="1894611"/>
          </a:xfrm>
          <a:custGeom>
            <a:avLst/>
            <a:gdLst/>
            <a:ahLst/>
            <a:cxnLst/>
            <a:rect l="l" t="t" r="r" b="b"/>
            <a:pathLst>
              <a:path w="6341793" h="1894611">
                <a:moveTo>
                  <a:pt x="0" y="0"/>
                </a:moveTo>
                <a:lnTo>
                  <a:pt x="6341792" y="0"/>
                </a:lnTo>
                <a:lnTo>
                  <a:pt x="6341792" y="1894610"/>
                </a:lnTo>
                <a:lnTo>
                  <a:pt x="0" y="18946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890E4302-888E-71BA-D880-D9DC8781C49F}"/>
              </a:ext>
            </a:extLst>
          </p:cNvPr>
          <p:cNvSpPr/>
          <p:nvPr/>
        </p:nvSpPr>
        <p:spPr>
          <a:xfrm>
            <a:off x="-533400" y="8831418"/>
            <a:ext cx="1974556" cy="1572240"/>
          </a:xfrm>
          <a:custGeom>
            <a:avLst/>
            <a:gdLst/>
            <a:ahLst/>
            <a:cxnLst/>
            <a:rect l="l" t="t" r="r" b="b"/>
            <a:pathLst>
              <a:path w="1974556" h="1572240">
                <a:moveTo>
                  <a:pt x="0" y="0"/>
                </a:moveTo>
                <a:lnTo>
                  <a:pt x="1974556" y="0"/>
                </a:lnTo>
                <a:lnTo>
                  <a:pt x="1974556" y="1572240"/>
                </a:lnTo>
                <a:lnTo>
                  <a:pt x="0" y="15722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AA86BFA-5CD1-D076-3BDC-8B3396C2D3CC}"/>
              </a:ext>
            </a:extLst>
          </p:cNvPr>
          <p:cNvSpPr txBox="1"/>
          <p:nvPr/>
        </p:nvSpPr>
        <p:spPr>
          <a:xfrm>
            <a:off x="995516" y="470589"/>
            <a:ext cx="5136449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95"/>
              </a:lnSpc>
            </a:pPr>
            <a:r>
              <a:rPr lang="en-US" sz="4200" spc="-163" dirty="0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Mean </a:t>
            </a:r>
            <a:r>
              <a:rPr lang="en-US" sz="4200" spc="-163" dirty="0" err="1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Gaji</a:t>
            </a:r>
            <a:r>
              <a:rPr lang="en-US" sz="4200" spc="-163" dirty="0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 Per-</a:t>
            </a:r>
            <a:r>
              <a:rPr lang="en-US" sz="4200" spc="-163" dirty="0" err="1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Provinsi</a:t>
            </a:r>
            <a:endParaRPr lang="en-US" sz="4200" spc="-163" dirty="0">
              <a:solidFill>
                <a:srgbClr val="162C3B"/>
              </a:solidFill>
              <a:latin typeface="Baloo"/>
              <a:ea typeface="Baloo"/>
              <a:cs typeface="Baloo"/>
              <a:sym typeface="Baloo"/>
            </a:endParaRPr>
          </a:p>
        </p:txBody>
      </p:sp>
      <p:grpSp>
        <p:nvGrpSpPr>
          <p:cNvPr id="26" name="Group 8">
            <a:extLst>
              <a:ext uri="{FF2B5EF4-FFF2-40B4-BE49-F238E27FC236}">
                <a16:creationId xmlns:a16="http://schemas.microsoft.com/office/drawing/2014/main" id="{CB4BDF83-4D58-4811-0F06-BA252DCC13E7}"/>
              </a:ext>
            </a:extLst>
          </p:cNvPr>
          <p:cNvGrpSpPr/>
          <p:nvPr/>
        </p:nvGrpSpPr>
        <p:grpSpPr>
          <a:xfrm>
            <a:off x="1597141" y="6591299"/>
            <a:ext cx="12249922" cy="3457263"/>
            <a:chOff x="0" y="0"/>
            <a:chExt cx="3584789" cy="157745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53FD9206-ADB4-B459-2786-FDFD885AEE05}"/>
                </a:ext>
              </a:extLst>
            </p:cNvPr>
            <p:cNvSpPr/>
            <p:nvPr/>
          </p:nvSpPr>
          <p:spPr>
            <a:xfrm>
              <a:off x="0" y="0"/>
              <a:ext cx="3584789" cy="1577451"/>
            </a:xfrm>
            <a:custGeom>
              <a:avLst/>
              <a:gdLst/>
              <a:ahLst/>
              <a:cxnLst/>
              <a:rect l="l" t="t" r="r" b="b"/>
              <a:pathLst>
                <a:path w="3584789" h="1577451">
                  <a:moveTo>
                    <a:pt x="19908" y="0"/>
                  </a:moveTo>
                  <a:lnTo>
                    <a:pt x="3564880" y="0"/>
                  </a:lnTo>
                  <a:cubicBezTo>
                    <a:pt x="3570160" y="0"/>
                    <a:pt x="3575224" y="2097"/>
                    <a:pt x="3578958" y="5831"/>
                  </a:cubicBezTo>
                  <a:cubicBezTo>
                    <a:pt x="3582691" y="9564"/>
                    <a:pt x="3584789" y="14628"/>
                    <a:pt x="3584789" y="19908"/>
                  </a:cubicBezTo>
                  <a:lnTo>
                    <a:pt x="3584789" y="1557543"/>
                  </a:lnTo>
                  <a:cubicBezTo>
                    <a:pt x="3584789" y="1562823"/>
                    <a:pt x="3582691" y="1567887"/>
                    <a:pt x="3578958" y="1571620"/>
                  </a:cubicBezTo>
                  <a:cubicBezTo>
                    <a:pt x="3575224" y="1575354"/>
                    <a:pt x="3570160" y="1577451"/>
                    <a:pt x="3564880" y="1577451"/>
                  </a:cubicBezTo>
                  <a:lnTo>
                    <a:pt x="19908" y="1577451"/>
                  </a:lnTo>
                  <a:cubicBezTo>
                    <a:pt x="14628" y="1577451"/>
                    <a:pt x="9564" y="1575354"/>
                    <a:pt x="5831" y="1571620"/>
                  </a:cubicBezTo>
                  <a:cubicBezTo>
                    <a:pt x="2097" y="1567887"/>
                    <a:pt x="0" y="1562823"/>
                    <a:pt x="0" y="1557543"/>
                  </a:cubicBezTo>
                  <a:lnTo>
                    <a:pt x="0" y="19908"/>
                  </a:lnTo>
                  <a:cubicBezTo>
                    <a:pt x="0" y="14628"/>
                    <a:pt x="2097" y="9564"/>
                    <a:pt x="5831" y="5831"/>
                  </a:cubicBezTo>
                  <a:cubicBezTo>
                    <a:pt x="9564" y="2097"/>
                    <a:pt x="14628" y="0"/>
                    <a:pt x="19908" y="0"/>
                  </a:cubicBezTo>
                  <a:close/>
                </a:path>
              </a:pathLst>
            </a:custGeom>
            <a:grpFill/>
            <a:ln w="95250" cap="rnd">
              <a:solidFill>
                <a:schemeClr val="tx2"/>
              </a:solidFill>
              <a:prstDash val="solid"/>
              <a:round/>
            </a:ln>
          </p:spPr>
        </p:sp>
        <p:sp>
          <p:nvSpPr>
            <p:cNvPr id="28" name="TextBox 10">
              <a:extLst>
                <a:ext uri="{FF2B5EF4-FFF2-40B4-BE49-F238E27FC236}">
                  <a16:creationId xmlns:a16="http://schemas.microsoft.com/office/drawing/2014/main" id="{D370E134-6C68-426C-8F53-E7A1C9A5F084}"/>
                </a:ext>
              </a:extLst>
            </p:cNvPr>
            <p:cNvSpPr txBox="1"/>
            <p:nvPr/>
          </p:nvSpPr>
          <p:spPr>
            <a:xfrm>
              <a:off x="0" y="-38100"/>
              <a:ext cx="3584789" cy="1615551"/>
            </a:xfrm>
            <a:prstGeom prst="rect">
              <a:avLst/>
            </a:prstGeom>
            <a:grpFill/>
            <a:ln>
              <a:solidFill>
                <a:schemeClr val="tx2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89CFCF9-A341-B2A8-6C3A-7F6C4A913F7D}"/>
              </a:ext>
            </a:extLst>
          </p:cNvPr>
          <p:cNvSpPr txBox="1"/>
          <p:nvPr/>
        </p:nvSpPr>
        <p:spPr>
          <a:xfrm>
            <a:off x="1921352" y="6963131"/>
            <a:ext cx="11572183" cy="2396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ts val="3043"/>
              </a:lnSpc>
              <a:spcBef>
                <a:spcPct val="0"/>
              </a:spcBef>
            </a:pP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Grafik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ini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menunjukkan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rata-rata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gaji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pekerja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di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setiap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provinsi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di Indonesia.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Terlihat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bahwa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DKI Jakarta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memiliki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mean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gaji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tertinggi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,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disusul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beberapa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provinsi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seperti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Kepulauan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Riau, Jawa Barat, dan wilayah Papua. Sebagian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besar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provinsi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berada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pada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kisaran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2,5–3,5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juta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rupiah.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Sementara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beberapa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provinsi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di Nusa Tenggara dan Maluku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memiliki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rata-rata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gaji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lebih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rendah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.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Secara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keseluruhan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,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grafik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ini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menunjukkan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adanya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perbedaan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tingkat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gaji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antarprovinsi</a:t>
            </a:r>
            <a:r>
              <a:rPr lang="en-US" sz="2400" b="1" spc="-35" dirty="0">
                <a:solidFill>
                  <a:srgbClr val="162C3B"/>
                </a:solidFill>
                <a:latin typeface="Nunito Bold" panose="020B0604020202020204" charset="0"/>
                <a:ea typeface="Nunito Bold"/>
                <a:cs typeface="Baloo" panose="020B0604020202020204" charset="0"/>
                <a:sym typeface="Nunito Bold"/>
              </a:rPr>
              <a:t> di Indonesia.</a:t>
            </a:r>
          </a:p>
        </p:txBody>
      </p:sp>
      <p:sp>
        <p:nvSpPr>
          <p:cNvPr id="9" name="Freeform 15">
            <a:extLst>
              <a:ext uri="{FF2B5EF4-FFF2-40B4-BE49-F238E27FC236}">
                <a16:creationId xmlns:a16="http://schemas.microsoft.com/office/drawing/2014/main" id="{15148438-0498-B12D-8347-5E2326326045}"/>
              </a:ext>
            </a:extLst>
          </p:cNvPr>
          <p:cNvSpPr/>
          <p:nvPr/>
        </p:nvSpPr>
        <p:spPr>
          <a:xfrm>
            <a:off x="15410288" y="7311818"/>
            <a:ext cx="2561141" cy="2804391"/>
          </a:xfrm>
          <a:custGeom>
            <a:avLst/>
            <a:gdLst/>
            <a:ahLst/>
            <a:cxnLst/>
            <a:rect l="l" t="t" r="r" b="b"/>
            <a:pathLst>
              <a:path w="1916349" h="2174580">
                <a:moveTo>
                  <a:pt x="0" y="0"/>
                </a:moveTo>
                <a:lnTo>
                  <a:pt x="1916349" y="0"/>
                </a:lnTo>
                <a:lnTo>
                  <a:pt x="1916349" y="2174580"/>
                </a:lnTo>
                <a:lnTo>
                  <a:pt x="0" y="21745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23">
            <a:extLst>
              <a:ext uri="{FF2B5EF4-FFF2-40B4-BE49-F238E27FC236}">
                <a16:creationId xmlns:a16="http://schemas.microsoft.com/office/drawing/2014/main" id="{5EB364A7-69D0-21F2-B7ED-6108FC900592}"/>
              </a:ext>
            </a:extLst>
          </p:cNvPr>
          <p:cNvSpPr/>
          <p:nvPr/>
        </p:nvSpPr>
        <p:spPr>
          <a:xfrm rot="1361598">
            <a:off x="15952935" y="169668"/>
            <a:ext cx="2594982" cy="1664032"/>
          </a:xfrm>
          <a:custGeom>
            <a:avLst/>
            <a:gdLst/>
            <a:ahLst/>
            <a:cxnLst/>
            <a:rect l="l" t="t" r="r" b="b"/>
            <a:pathLst>
              <a:path w="2594982" h="1664032">
                <a:moveTo>
                  <a:pt x="0" y="0"/>
                </a:moveTo>
                <a:lnTo>
                  <a:pt x="2594982" y="0"/>
                </a:lnTo>
                <a:lnTo>
                  <a:pt x="2594982" y="1664032"/>
                </a:lnTo>
                <a:lnTo>
                  <a:pt x="0" y="16640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7EFD7AE-1E36-ED5D-0F2E-2D37E309A6E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299" y="1631279"/>
            <a:ext cx="16351301" cy="4722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3285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29526-349D-AA5D-2E78-27A394E12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A4A5898-6266-206F-3757-D638EF7C53B8}"/>
              </a:ext>
            </a:extLst>
          </p:cNvPr>
          <p:cNvGrpSpPr/>
          <p:nvPr/>
        </p:nvGrpSpPr>
        <p:grpSpPr>
          <a:xfrm>
            <a:off x="0" y="0"/>
            <a:ext cx="18288000" cy="12211625"/>
            <a:chOff x="0" y="0"/>
            <a:chExt cx="24384000" cy="1628216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B1FD87A-AB36-20BC-A604-506B51EAB2E8}"/>
                </a:ext>
              </a:extLst>
            </p:cNvPr>
            <p:cNvSpPr/>
            <p:nvPr/>
          </p:nvSpPr>
          <p:spPr>
            <a:xfrm>
              <a:off x="0" y="0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0B18DCC-3B25-36BC-82DE-F7ADB70011C2}"/>
                </a:ext>
              </a:extLst>
            </p:cNvPr>
            <p:cNvSpPr/>
            <p:nvPr/>
          </p:nvSpPr>
          <p:spPr>
            <a:xfrm>
              <a:off x="16227725" y="8115683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074FB3C-4148-8066-C13B-4276AB6B8468}"/>
                </a:ext>
              </a:extLst>
            </p:cNvPr>
            <p:cNvSpPr/>
            <p:nvPr/>
          </p:nvSpPr>
          <p:spPr>
            <a:xfrm>
              <a:off x="16227725" y="0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B3CC00B-49B9-1F9F-9402-834CB30FD2F8}"/>
                </a:ext>
              </a:extLst>
            </p:cNvPr>
            <p:cNvSpPr/>
            <p:nvPr/>
          </p:nvSpPr>
          <p:spPr>
            <a:xfrm>
              <a:off x="8112082" y="0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93D5CE6-B1DC-925E-921C-B3ABC4500A89}"/>
                </a:ext>
              </a:extLst>
            </p:cNvPr>
            <p:cNvSpPr/>
            <p:nvPr/>
          </p:nvSpPr>
          <p:spPr>
            <a:xfrm>
              <a:off x="0" y="8115683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D20399B-D312-05AA-DE90-B759D2C28289}"/>
                </a:ext>
              </a:extLst>
            </p:cNvPr>
            <p:cNvSpPr/>
            <p:nvPr/>
          </p:nvSpPr>
          <p:spPr>
            <a:xfrm>
              <a:off x="8112082" y="8115683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02DF5968-6006-BB6A-FE7C-662AC86F77B9}"/>
              </a:ext>
            </a:extLst>
          </p:cNvPr>
          <p:cNvSpPr/>
          <p:nvPr/>
        </p:nvSpPr>
        <p:spPr>
          <a:xfrm rot="-812327" flipH="1" flipV="1">
            <a:off x="-461946" y="555915"/>
            <a:ext cx="5518725" cy="3531984"/>
          </a:xfrm>
          <a:custGeom>
            <a:avLst/>
            <a:gdLst/>
            <a:ahLst/>
            <a:cxnLst/>
            <a:rect l="l" t="t" r="r" b="b"/>
            <a:pathLst>
              <a:path w="5518725" h="3531984">
                <a:moveTo>
                  <a:pt x="5518724" y="3531983"/>
                </a:moveTo>
                <a:lnTo>
                  <a:pt x="0" y="3531983"/>
                </a:lnTo>
                <a:lnTo>
                  <a:pt x="0" y="0"/>
                </a:lnTo>
                <a:lnTo>
                  <a:pt x="5518724" y="0"/>
                </a:lnTo>
                <a:lnTo>
                  <a:pt x="5518724" y="353198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9D783EF-4333-6D22-E473-213842A14927}"/>
              </a:ext>
            </a:extLst>
          </p:cNvPr>
          <p:cNvSpPr/>
          <p:nvPr/>
        </p:nvSpPr>
        <p:spPr>
          <a:xfrm rot="-931273">
            <a:off x="12776918" y="6842725"/>
            <a:ext cx="6531429" cy="4114800"/>
          </a:xfrm>
          <a:custGeom>
            <a:avLst/>
            <a:gdLst/>
            <a:ahLst/>
            <a:cxnLst/>
            <a:rect l="l" t="t" r="r" b="b"/>
            <a:pathLst>
              <a:path w="6531429" h="4114800">
                <a:moveTo>
                  <a:pt x="0" y="0"/>
                </a:moveTo>
                <a:lnTo>
                  <a:pt x="6531428" y="0"/>
                </a:lnTo>
                <a:lnTo>
                  <a:pt x="65314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AD64DA1-2872-4193-71C0-AAD7B6117D4F}"/>
              </a:ext>
            </a:extLst>
          </p:cNvPr>
          <p:cNvGrpSpPr/>
          <p:nvPr/>
        </p:nvGrpSpPr>
        <p:grpSpPr>
          <a:xfrm>
            <a:off x="2555187" y="2360539"/>
            <a:ext cx="13610994" cy="5989385"/>
            <a:chOff x="0" y="0"/>
            <a:chExt cx="3584789" cy="1577451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09125D6-8672-48F2-A517-D81788ED68C6}"/>
                </a:ext>
              </a:extLst>
            </p:cNvPr>
            <p:cNvSpPr/>
            <p:nvPr/>
          </p:nvSpPr>
          <p:spPr>
            <a:xfrm>
              <a:off x="0" y="0"/>
              <a:ext cx="3584789" cy="1577451"/>
            </a:xfrm>
            <a:custGeom>
              <a:avLst/>
              <a:gdLst/>
              <a:ahLst/>
              <a:cxnLst/>
              <a:rect l="l" t="t" r="r" b="b"/>
              <a:pathLst>
                <a:path w="3584789" h="1577451">
                  <a:moveTo>
                    <a:pt x="19908" y="0"/>
                  </a:moveTo>
                  <a:lnTo>
                    <a:pt x="3564880" y="0"/>
                  </a:lnTo>
                  <a:cubicBezTo>
                    <a:pt x="3570160" y="0"/>
                    <a:pt x="3575224" y="2097"/>
                    <a:pt x="3578958" y="5831"/>
                  </a:cubicBezTo>
                  <a:cubicBezTo>
                    <a:pt x="3582691" y="9564"/>
                    <a:pt x="3584789" y="14628"/>
                    <a:pt x="3584789" y="19908"/>
                  </a:cubicBezTo>
                  <a:lnTo>
                    <a:pt x="3584789" y="1557543"/>
                  </a:lnTo>
                  <a:cubicBezTo>
                    <a:pt x="3584789" y="1562823"/>
                    <a:pt x="3582691" y="1567887"/>
                    <a:pt x="3578958" y="1571620"/>
                  </a:cubicBezTo>
                  <a:cubicBezTo>
                    <a:pt x="3575224" y="1575354"/>
                    <a:pt x="3570160" y="1577451"/>
                    <a:pt x="3564880" y="1577451"/>
                  </a:cubicBezTo>
                  <a:lnTo>
                    <a:pt x="19908" y="1577451"/>
                  </a:lnTo>
                  <a:cubicBezTo>
                    <a:pt x="14628" y="1577451"/>
                    <a:pt x="9564" y="1575354"/>
                    <a:pt x="5831" y="1571620"/>
                  </a:cubicBezTo>
                  <a:cubicBezTo>
                    <a:pt x="2097" y="1567887"/>
                    <a:pt x="0" y="1562823"/>
                    <a:pt x="0" y="1557543"/>
                  </a:cubicBezTo>
                  <a:lnTo>
                    <a:pt x="0" y="19908"/>
                  </a:lnTo>
                  <a:cubicBezTo>
                    <a:pt x="0" y="14628"/>
                    <a:pt x="2097" y="9564"/>
                    <a:pt x="5831" y="5831"/>
                  </a:cubicBezTo>
                  <a:cubicBezTo>
                    <a:pt x="9564" y="2097"/>
                    <a:pt x="14628" y="0"/>
                    <a:pt x="19908" y="0"/>
                  </a:cubicBezTo>
                  <a:close/>
                </a:path>
              </a:pathLst>
            </a:custGeom>
            <a:solidFill>
              <a:srgbClr val="162C3B">
                <a:alpha val="1490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AB8ED6F-13CF-656A-60E6-4CC7115C5244}"/>
                </a:ext>
              </a:extLst>
            </p:cNvPr>
            <p:cNvSpPr txBox="1"/>
            <p:nvPr/>
          </p:nvSpPr>
          <p:spPr>
            <a:xfrm>
              <a:off x="0" y="-38100"/>
              <a:ext cx="3584789" cy="1615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26A3FE36-6309-2884-5E49-C7FB926FF832}"/>
              </a:ext>
            </a:extLst>
          </p:cNvPr>
          <p:cNvGrpSpPr/>
          <p:nvPr/>
        </p:nvGrpSpPr>
        <p:grpSpPr>
          <a:xfrm>
            <a:off x="433368" y="628269"/>
            <a:ext cx="17321232" cy="8964504"/>
            <a:chOff x="0" y="0"/>
            <a:chExt cx="3584789" cy="1577451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24014C18-DE87-B631-F7FD-A43BD04361FD}"/>
                </a:ext>
              </a:extLst>
            </p:cNvPr>
            <p:cNvSpPr/>
            <p:nvPr/>
          </p:nvSpPr>
          <p:spPr>
            <a:xfrm>
              <a:off x="0" y="0"/>
              <a:ext cx="3584789" cy="1577451"/>
            </a:xfrm>
            <a:custGeom>
              <a:avLst/>
              <a:gdLst/>
              <a:ahLst/>
              <a:cxnLst/>
              <a:rect l="l" t="t" r="r" b="b"/>
              <a:pathLst>
                <a:path w="3584789" h="1577451">
                  <a:moveTo>
                    <a:pt x="19908" y="0"/>
                  </a:moveTo>
                  <a:lnTo>
                    <a:pt x="3564880" y="0"/>
                  </a:lnTo>
                  <a:cubicBezTo>
                    <a:pt x="3570160" y="0"/>
                    <a:pt x="3575224" y="2097"/>
                    <a:pt x="3578958" y="5831"/>
                  </a:cubicBezTo>
                  <a:cubicBezTo>
                    <a:pt x="3582691" y="9564"/>
                    <a:pt x="3584789" y="14628"/>
                    <a:pt x="3584789" y="19908"/>
                  </a:cubicBezTo>
                  <a:lnTo>
                    <a:pt x="3584789" y="1557543"/>
                  </a:lnTo>
                  <a:cubicBezTo>
                    <a:pt x="3584789" y="1562823"/>
                    <a:pt x="3582691" y="1567887"/>
                    <a:pt x="3578958" y="1571620"/>
                  </a:cubicBezTo>
                  <a:cubicBezTo>
                    <a:pt x="3575224" y="1575354"/>
                    <a:pt x="3570160" y="1577451"/>
                    <a:pt x="3564880" y="1577451"/>
                  </a:cubicBezTo>
                  <a:lnTo>
                    <a:pt x="19908" y="1577451"/>
                  </a:lnTo>
                  <a:cubicBezTo>
                    <a:pt x="14628" y="1577451"/>
                    <a:pt x="9564" y="1575354"/>
                    <a:pt x="5831" y="1571620"/>
                  </a:cubicBezTo>
                  <a:cubicBezTo>
                    <a:pt x="2097" y="1567887"/>
                    <a:pt x="0" y="1562823"/>
                    <a:pt x="0" y="1557543"/>
                  </a:cubicBezTo>
                  <a:lnTo>
                    <a:pt x="0" y="19908"/>
                  </a:lnTo>
                  <a:cubicBezTo>
                    <a:pt x="0" y="14628"/>
                    <a:pt x="2097" y="9564"/>
                    <a:pt x="5831" y="5831"/>
                  </a:cubicBezTo>
                  <a:cubicBezTo>
                    <a:pt x="9564" y="2097"/>
                    <a:pt x="14628" y="0"/>
                    <a:pt x="19908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B8FA7E6-8D39-1831-F3B9-B359DDE12420}"/>
                </a:ext>
              </a:extLst>
            </p:cNvPr>
            <p:cNvSpPr txBox="1"/>
            <p:nvPr/>
          </p:nvSpPr>
          <p:spPr>
            <a:xfrm>
              <a:off x="0" y="-38100"/>
              <a:ext cx="3584789" cy="1615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0CC34F30-646E-2FFD-DDD3-4ADC54641382}"/>
              </a:ext>
            </a:extLst>
          </p:cNvPr>
          <p:cNvSpPr/>
          <p:nvPr/>
        </p:nvSpPr>
        <p:spPr>
          <a:xfrm rot="20667543">
            <a:off x="15674503" y="7767594"/>
            <a:ext cx="2571775" cy="1655580"/>
          </a:xfrm>
          <a:custGeom>
            <a:avLst/>
            <a:gdLst/>
            <a:ahLst/>
            <a:cxnLst/>
            <a:rect l="l" t="t" r="r" b="b"/>
            <a:pathLst>
              <a:path w="2571775" h="1655580">
                <a:moveTo>
                  <a:pt x="0" y="0"/>
                </a:moveTo>
                <a:lnTo>
                  <a:pt x="2571774" y="0"/>
                </a:lnTo>
                <a:lnTo>
                  <a:pt x="2571774" y="1655580"/>
                </a:lnTo>
                <a:lnTo>
                  <a:pt x="0" y="16555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65FF967-EA0E-10EE-F54A-82428FD9F911}"/>
              </a:ext>
            </a:extLst>
          </p:cNvPr>
          <p:cNvSpPr txBox="1"/>
          <p:nvPr/>
        </p:nvSpPr>
        <p:spPr>
          <a:xfrm>
            <a:off x="1548618" y="783024"/>
            <a:ext cx="6985782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</a:pPr>
            <a:r>
              <a:rPr lang="en-US" sz="5000" spc="-163" dirty="0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Heatmap </a:t>
            </a:r>
            <a:r>
              <a:rPr lang="en-US" sz="5000" spc="-163" dirty="0" err="1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kategori</a:t>
            </a:r>
            <a:r>
              <a:rPr lang="en-US" sz="5000" spc="-163" dirty="0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000" spc="-163" dirty="0" err="1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Gaji</a:t>
            </a:r>
            <a:r>
              <a:rPr lang="en-US" sz="5000" spc="-163" dirty="0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 Per-</a:t>
            </a:r>
            <a:r>
              <a:rPr lang="en-US" sz="5000" spc="-163" dirty="0" err="1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Provinsi</a:t>
            </a:r>
            <a:endParaRPr lang="en-US" sz="5000" spc="-163" dirty="0">
              <a:solidFill>
                <a:srgbClr val="162C3B"/>
              </a:solidFill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39C75D-4C98-0913-B0BF-105294BDCE8F}"/>
              </a:ext>
            </a:extLst>
          </p:cNvPr>
          <p:cNvSpPr txBox="1"/>
          <p:nvPr/>
        </p:nvSpPr>
        <p:spPr>
          <a:xfrm>
            <a:off x="3505199" y="6630963"/>
            <a:ext cx="1186147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2200" b="1" dirty="0">
                <a:latin typeface="Nunito Bold" panose="020B0604020202020204" charset="0"/>
              </a:rPr>
              <a:t>Heatmap </a:t>
            </a:r>
            <a:r>
              <a:rPr lang="en-ID" sz="2200" b="1" dirty="0" err="1">
                <a:latin typeface="Nunito Bold" panose="020B0604020202020204" charset="0"/>
              </a:rPr>
              <a:t>ini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menunjukkan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perbandingan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gaji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dari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berbagai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kategori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pekerjaan</a:t>
            </a:r>
            <a:r>
              <a:rPr lang="en-ID" sz="2200" b="1" dirty="0">
                <a:latin typeface="Nunito Bold" panose="020B0604020202020204" charset="0"/>
              </a:rPr>
              <a:t> di </a:t>
            </a:r>
            <a:r>
              <a:rPr lang="en-ID" sz="2200" b="1" dirty="0" err="1">
                <a:latin typeface="Nunito Bold" panose="020B0604020202020204" charset="0"/>
              </a:rPr>
              <a:t>setiap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provinsi</a:t>
            </a:r>
            <a:r>
              <a:rPr lang="en-ID" sz="2200" b="1" dirty="0">
                <a:latin typeface="Nunito Bold" panose="020B0604020202020204" charset="0"/>
              </a:rPr>
              <a:t>. Warna yang </a:t>
            </a:r>
            <a:r>
              <a:rPr lang="en-ID" sz="2200" b="1" dirty="0" err="1">
                <a:latin typeface="Nunito Bold" panose="020B0604020202020204" charset="0"/>
              </a:rPr>
              <a:t>lebih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terang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menandakan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gaji</a:t>
            </a:r>
            <a:r>
              <a:rPr lang="en-ID" sz="2200" b="1" dirty="0">
                <a:latin typeface="Nunito Bold" panose="020B0604020202020204" charset="0"/>
              </a:rPr>
              <a:t> yang </a:t>
            </a:r>
            <a:r>
              <a:rPr lang="en-ID" sz="2200" b="1" dirty="0" err="1">
                <a:latin typeface="Nunito Bold" panose="020B0604020202020204" charset="0"/>
              </a:rPr>
              <a:t>lebih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tinggi</a:t>
            </a:r>
            <a:r>
              <a:rPr lang="en-ID" sz="2200" b="1" dirty="0">
                <a:latin typeface="Nunito Bold" panose="020B0604020202020204" charset="0"/>
              </a:rPr>
              <a:t>. </a:t>
            </a:r>
            <a:r>
              <a:rPr lang="en-ID" sz="2200" b="1" dirty="0" err="1">
                <a:latin typeface="Nunito Bold" panose="020B0604020202020204" charset="0"/>
              </a:rPr>
              <a:t>Terlihat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bahwa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kategori</a:t>
            </a:r>
            <a:r>
              <a:rPr lang="en-ID" sz="2200" b="1" dirty="0">
                <a:latin typeface="Nunito Bold" panose="020B0604020202020204" charset="0"/>
              </a:rPr>
              <a:t> “Tenaga </a:t>
            </a:r>
            <a:r>
              <a:rPr lang="en-ID" sz="2200" b="1" dirty="0" err="1">
                <a:latin typeface="Nunito Bold" panose="020B0604020202020204" charset="0"/>
              </a:rPr>
              <a:t>Kepemimpinan</a:t>
            </a:r>
            <a:r>
              <a:rPr lang="en-ID" sz="2200" b="1" dirty="0">
                <a:latin typeface="Nunito Bold" panose="020B0604020202020204" charset="0"/>
              </a:rPr>
              <a:t>” dan “Industri” </a:t>
            </a:r>
            <a:r>
              <a:rPr lang="en-ID" sz="2200" b="1" dirty="0" err="1">
                <a:latin typeface="Nunito Bold" panose="020B0604020202020204" charset="0"/>
              </a:rPr>
              <a:t>memiliki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nilai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gaji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tertinggi</a:t>
            </a:r>
            <a:r>
              <a:rPr lang="en-ID" sz="2200" b="1" dirty="0">
                <a:latin typeface="Nunito Bold" panose="020B0604020202020204" charset="0"/>
              </a:rPr>
              <a:t> di </a:t>
            </a:r>
            <a:r>
              <a:rPr lang="en-ID" sz="2200" b="1" dirty="0" err="1">
                <a:latin typeface="Nunito Bold" panose="020B0604020202020204" charset="0"/>
              </a:rPr>
              <a:t>beberapa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provinsi</a:t>
            </a:r>
            <a:r>
              <a:rPr lang="en-ID" sz="2200" b="1" dirty="0">
                <a:latin typeface="Nunito Bold" panose="020B0604020202020204" charset="0"/>
              </a:rPr>
              <a:t>, </a:t>
            </a:r>
            <a:r>
              <a:rPr lang="en-ID" sz="2200" b="1" dirty="0" err="1">
                <a:latin typeface="Nunito Bold" panose="020B0604020202020204" charset="0"/>
              </a:rPr>
              <a:t>terutama</a:t>
            </a:r>
            <a:r>
              <a:rPr lang="en-ID" sz="2200" b="1" dirty="0">
                <a:latin typeface="Nunito Bold" panose="020B0604020202020204" charset="0"/>
              </a:rPr>
              <a:t> DKI Jakarta dan </a:t>
            </a:r>
            <a:r>
              <a:rPr lang="en-ID" sz="2200" b="1" dirty="0" err="1">
                <a:latin typeface="Nunito Bold" panose="020B0604020202020204" charset="0"/>
              </a:rPr>
              <a:t>Kepulauan</a:t>
            </a:r>
            <a:r>
              <a:rPr lang="en-ID" sz="2200" b="1" dirty="0">
                <a:latin typeface="Nunito Bold" panose="020B0604020202020204" charset="0"/>
              </a:rPr>
              <a:t> Riau. </a:t>
            </a:r>
            <a:r>
              <a:rPr lang="en-ID" sz="2200" b="1" dirty="0" err="1">
                <a:latin typeface="Nunito Bold" panose="020B0604020202020204" charset="0"/>
              </a:rPr>
              <a:t>Sementara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kategori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seperti</a:t>
            </a:r>
            <a:r>
              <a:rPr lang="en-ID" sz="2200" b="1" dirty="0">
                <a:latin typeface="Nunito Bold" panose="020B0604020202020204" charset="0"/>
              </a:rPr>
              <a:t> “</a:t>
            </a:r>
            <a:r>
              <a:rPr lang="en-ID" sz="2200" b="1" dirty="0" err="1">
                <a:latin typeface="Nunito Bold" panose="020B0604020202020204" charset="0"/>
              </a:rPr>
              <a:t>Pertanian</a:t>
            </a:r>
            <a:r>
              <a:rPr lang="en-ID" sz="2200" b="1" dirty="0">
                <a:latin typeface="Nunito Bold" panose="020B0604020202020204" charset="0"/>
              </a:rPr>
              <a:t>” dan “</a:t>
            </a:r>
            <a:r>
              <a:rPr lang="en-ID" sz="2200" b="1" dirty="0" err="1">
                <a:latin typeface="Nunito Bold" panose="020B0604020202020204" charset="0"/>
              </a:rPr>
              <a:t>Pekerja</a:t>
            </a:r>
            <a:r>
              <a:rPr lang="en-ID" sz="2200" b="1" dirty="0">
                <a:latin typeface="Nunito Bold" panose="020B0604020202020204" charset="0"/>
              </a:rPr>
              <a:t> Kasar” </a:t>
            </a:r>
            <a:r>
              <a:rPr lang="en-ID" sz="2200" b="1" dirty="0" err="1">
                <a:latin typeface="Nunito Bold" panose="020B0604020202020204" charset="0"/>
              </a:rPr>
              <a:t>umumnya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memiliki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gaji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lebih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rendah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hampir</a:t>
            </a:r>
            <a:r>
              <a:rPr lang="en-ID" sz="2200" b="1" dirty="0">
                <a:latin typeface="Nunito Bold" panose="020B0604020202020204" charset="0"/>
              </a:rPr>
              <a:t> di </a:t>
            </a:r>
            <a:r>
              <a:rPr lang="en-ID" sz="2200" b="1" dirty="0" err="1">
                <a:latin typeface="Nunito Bold" panose="020B0604020202020204" charset="0"/>
              </a:rPr>
              <a:t>seluruh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provinsi</a:t>
            </a:r>
            <a:r>
              <a:rPr lang="en-ID" sz="2200" b="1" dirty="0">
                <a:latin typeface="Nunito Bold" panose="020B0604020202020204" charset="0"/>
              </a:rPr>
              <a:t>. Heatmap </a:t>
            </a:r>
            <a:r>
              <a:rPr lang="en-ID" sz="2200" b="1" dirty="0" err="1">
                <a:latin typeface="Nunito Bold" panose="020B0604020202020204" charset="0"/>
              </a:rPr>
              <a:t>ini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memperlihatkan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adanya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variasi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gaji</a:t>
            </a:r>
            <a:r>
              <a:rPr lang="en-ID" sz="2200" b="1" dirty="0">
                <a:latin typeface="Nunito Bold" panose="020B0604020202020204" charset="0"/>
              </a:rPr>
              <a:t> yang </a:t>
            </a:r>
            <a:r>
              <a:rPr lang="en-ID" sz="2200" b="1" dirty="0" err="1">
                <a:latin typeface="Nunito Bold" panose="020B0604020202020204" charset="0"/>
              </a:rPr>
              <a:t>cukup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besar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antar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kategori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pekerjaan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maupun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antar</a:t>
            </a:r>
            <a:r>
              <a:rPr lang="en-ID" sz="2200" b="1" dirty="0">
                <a:latin typeface="Nunito Bold" panose="020B0604020202020204" charset="0"/>
              </a:rPr>
              <a:t> </a:t>
            </a:r>
            <a:r>
              <a:rPr lang="en-ID" sz="2200" b="1" dirty="0" err="1">
                <a:latin typeface="Nunito Bold" panose="020B0604020202020204" charset="0"/>
              </a:rPr>
              <a:t>provinsi</a:t>
            </a:r>
            <a:r>
              <a:rPr lang="en-ID" sz="2200" b="1" dirty="0">
                <a:latin typeface="Nunito Bold" panose="020B0604020202020204" charset="0"/>
              </a:rPr>
              <a:t>.</a:t>
            </a:r>
          </a:p>
        </p:txBody>
      </p:sp>
      <p:sp>
        <p:nvSpPr>
          <p:cNvPr id="17" name="Freeform 38">
            <a:extLst>
              <a:ext uri="{FF2B5EF4-FFF2-40B4-BE49-F238E27FC236}">
                <a16:creationId xmlns:a16="http://schemas.microsoft.com/office/drawing/2014/main" id="{15B70D98-7086-C964-CC42-234E6BE44FAE}"/>
              </a:ext>
            </a:extLst>
          </p:cNvPr>
          <p:cNvSpPr/>
          <p:nvPr/>
        </p:nvSpPr>
        <p:spPr>
          <a:xfrm>
            <a:off x="-57201" y="7463090"/>
            <a:ext cx="3277098" cy="2937099"/>
          </a:xfrm>
          <a:custGeom>
            <a:avLst/>
            <a:gdLst/>
            <a:ahLst/>
            <a:cxnLst/>
            <a:rect l="l" t="t" r="r" b="b"/>
            <a:pathLst>
              <a:path w="3277098" h="2937099">
                <a:moveTo>
                  <a:pt x="0" y="0"/>
                </a:moveTo>
                <a:lnTo>
                  <a:pt x="3277099" y="0"/>
                </a:lnTo>
                <a:lnTo>
                  <a:pt x="3277099" y="2937100"/>
                </a:lnTo>
                <a:lnTo>
                  <a:pt x="0" y="2937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21">
            <a:extLst>
              <a:ext uri="{FF2B5EF4-FFF2-40B4-BE49-F238E27FC236}">
                <a16:creationId xmlns:a16="http://schemas.microsoft.com/office/drawing/2014/main" id="{F60D9A1E-1F2C-89D1-C919-EEC6CF6A854A}"/>
              </a:ext>
            </a:extLst>
          </p:cNvPr>
          <p:cNvSpPr/>
          <p:nvPr/>
        </p:nvSpPr>
        <p:spPr>
          <a:xfrm rot="4001565">
            <a:off x="15716134" y="847935"/>
            <a:ext cx="1766828" cy="1303035"/>
          </a:xfrm>
          <a:custGeom>
            <a:avLst/>
            <a:gdLst/>
            <a:ahLst/>
            <a:cxnLst/>
            <a:rect l="l" t="t" r="r" b="b"/>
            <a:pathLst>
              <a:path w="1766828" h="1303035">
                <a:moveTo>
                  <a:pt x="0" y="0"/>
                </a:moveTo>
                <a:lnTo>
                  <a:pt x="1766827" y="0"/>
                </a:lnTo>
                <a:lnTo>
                  <a:pt x="1766827" y="1303036"/>
                </a:lnTo>
                <a:lnTo>
                  <a:pt x="0" y="13030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2">
            <a:extLst>
              <a:ext uri="{FF2B5EF4-FFF2-40B4-BE49-F238E27FC236}">
                <a16:creationId xmlns:a16="http://schemas.microsoft.com/office/drawing/2014/main" id="{C2527E6C-7205-75B9-DE51-B80CAA4F6DED}"/>
              </a:ext>
            </a:extLst>
          </p:cNvPr>
          <p:cNvSpPr/>
          <p:nvPr/>
        </p:nvSpPr>
        <p:spPr>
          <a:xfrm rot="602452">
            <a:off x="-494408" y="-232848"/>
            <a:ext cx="2050276" cy="1722232"/>
          </a:xfrm>
          <a:custGeom>
            <a:avLst/>
            <a:gdLst/>
            <a:ahLst/>
            <a:cxnLst/>
            <a:rect l="l" t="t" r="r" b="b"/>
            <a:pathLst>
              <a:path w="2050276" h="1722232">
                <a:moveTo>
                  <a:pt x="0" y="0"/>
                </a:moveTo>
                <a:lnTo>
                  <a:pt x="2050276" y="0"/>
                </a:lnTo>
                <a:lnTo>
                  <a:pt x="2050276" y="1722232"/>
                </a:lnTo>
                <a:lnTo>
                  <a:pt x="0" y="172223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422C86A-6984-B2DB-1CFB-388EA97E96D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354" y="2330418"/>
            <a:ext cx="14465374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054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A3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46654" y="0"/>
            <a:ext cx="20781307" cy="10403658"/>
            <a:chOff x="0" y="0"/>
            <a:chExt cx="27708410" cy="13871544"/>
          </a:xfrm>
        </p:grpSpPr>
        <p:sp>
          <p:nvSpPr>
            <p:cNvPr id="3" name="Freeform 3"/>
            <p:cNvSpPr/>
            <p:nvPr/>
          </p:nvSpPr>
          <p:spPr>
            <a:xfrm>
              <a:off x="13854205" y="0"/>
              <a:ext cx="13854205" cy="13871544"/>
            </a:xfrm>
            <a:custGeom>
              <a:avLst/>
              <a:gdLst/>
              <a:ahLst/>
              <a:cxnLst/>
              <a:rect l="l" t="t" r="r" b="b"/>
              <a:pathLst>
                <a:path w="13854205" h="13871544">
                  <a:moveTo>
                    <a:pt x="0" y="0"/>
                  </a:moveTo>
                  <a:lnTo>
                    <a:pt x="13854205" y="0"/>
                  </a:lnTo>
                  <a:lnTo>
                    <a:pt x="13854205" y="13871544"/>
                  </a:lnTo>
                  <a:lnTo>
                    <a:pt x="0" y="13871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3854205" cy="13871544"/>
            </a:xfrm>
            <a:custGeom>
              <a:avLst/>
              <a:gdLst/>
              <a:ahLst/>
              <a:cxnLst/>
              <a:rect l="l" t="t" r="r" b="b"/>
              <a:pathLst>
                <a:path w="13854205" h="13871544">
                  <a:moveTo>
                    <a:pt x="0" y="0"/>
                  </a:moveTo>
                  <a:lnTo>
                    <a:pt x="13854205" y="0"/>
                  </a:lnTo>
                  <a:lnTo>
                    <a:pt x="13854205" y="13871544"/>
                  </a:lnTo>
                  <a:lnTo>
                    <a:pt x="0" y="13871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381000" y="600476"/>
            <a:ext cx="17373600" cy="9297779"/>
            <a:chOff x="0" y="0"/>
            <a:chExt cx="3584789" cy="15774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584789" cy="1577451"/>
            </a:xfrm>
            <a:custGeom>
              <a:avLst/>
              <a:gdLst/>
              <a:ahLst/>
              <a:cxnLst/>
              <a:rect l="l" t="t" r="r" b="b"/>
              <a:pathLst>
                <a:path w="3584789" h="1577451">
                  <a:moveTo>
                    <a:pt x="19908" y="0"/>
                  </a:moveTo>
                  <a:lnTo>
                    <a:pt x="3564880" y="0"/>
                  </a:lnTo>
                  <a:cubicBezTo>
                    <a:pt x="3570160" y="0"/>
                    <a:pt x="3575224" y="2097"/>
                    <a:pt x="3578958" y="5831"/>
                  </a:cubicBezTo>
                  <a:cubicBezTo>
                    <a:pt x="3582691" y="9564"/>
                    <a:pt x="3584789" y="14628"/>
                    <a:pt x="3584789" y="19908"/>
                  </a:cubicBezTo>
                  <a:lnTo>
                    <a:pt x="3584789" y="1557543"/>
                  </a:lnTo>
                  <a:cubicBezTo>
                    <a:pt x="3584789" y="1562823"/>
                    <a:pt x="3582691" y="1567887"/>
                    <a:pt x="3578958" y="1571620"/>
                  </a:cubicBezTo>
                  <a:cubicBezTo>
                    <a:pt x="3575224" y="1575354"/>
                    <a:pt x="3570160" y="1577451"/>
                    <a:pt x="3564880" y="1577451"/>
                  </a:cubicBezTo>
                  <a:lnTo>
                    <a:pt x="19908" y="1577451"/>
                  </a:lnTo>
                  <a:cubicBezTo>
                    <a:pt x="14628" y="1577451"/>
                    <a:pt x="9564" y="1575354"/>
                    <a:pt x="5831" y="1571620"/>
                  </a:cubicBezTo>
                  <a:cubicBezTo>
                    <a:pt x="2097" y="1567887"/>
                    <a:pt x="0" y="1562823"/>
                    <a:pt x="0" y="1557543"/>
                  </a:cubicBezTo>
                  <a:lnTo>
                    <a:pt x="0" y="19908"/>
                  </a:lnTo>
                  <a:cubicBezTo>
                    <a:pt x="0" y="14628"/>
                    <a:pt x="2097" y="9564"/>
                    <a:pt x="5831" y="5831"/>
                  </a:cubicBezTo>
                  <a:cubicBezTo>
                    <a:pt x="9564" y="2097"/>
                    <a:pt x="14628" y="0"/>
                    <a:pt x="19908" y="0"/>
                  </a:cubicBezTo>
                  <a:close/>
                </a:path>
              </a:pathLst>
            </a:custGeom>
            <a:solidFill>
              <a:srgbClr val="162C3B">
                <a:alpha val="1490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584789" cy="1615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85800" y="388744"/>
            <a:ext cx="15248509" cy="774944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-1224932" y="7020623"/>
            <a:ext cx="4278664" cy="3995202"/>
          </a:xfrm>
          <a:custGeom>
            <a:avLst/>
            <a:gdLst/>
            <a:ahLst/>
            <a:cxnLst/>
            <a:rect l="l" t="t" r="r" b="b"/>
            <a:pathLst>
              <a:path w="4278664" h="3995202">
                <a:moveTo>
                  <a:pt x="0" y="0"/>
                </a:moveTo>
                <a:lnTo>
                  <a:pt x="4278664" y="0"/>
                </a:lnTo>
                <a:lnTo>
                  <a:pt x="4278664" y="3995202"/>
                </a:lnTo>
                <a:lnTo>
                  <a:pt x="0" y="39952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15" name="Freeform 15"/>
          <p:cNvSpPr/>
          <p:nvPr/>
        </p:nvSpPr>
        <p:spPr>
          <a:xfrm>
            <a:off x="16036339" y="8654056"/>
            <a:ext cx="2769306" cy="1635045"/>
          </a:xfrm>
          <a:custGeom>
            <a:avLst/>
            <a:gdLst/>
            <a:ahLst/>
            <a:cxnLst/>
            <a:rect l="l" t="t" r="r" b="b"/>
            <a:pathLst>
              <a:path w="2769306" h="1635045">
                <a:moveTo>
                  <a:pt x="0" y="0"/>
                </a:moveTo>
                <a:lnTo>
                  <a:pt x="2769307" y="0"/>
                </a:lnTo>
                <a:lnTo>
                  <a:pt x="2769307" y="1635045"/>
                </a:lnTo>
                <a:lnTo>
                  <a:pt x="0" y="16350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341876" y="0"/>
            <a:ext cx="2052776" cy="2192551"/>
          </a:xfrm>
          <a:custGeom>
            <a:avLst/>
            <a:gdLst/>
            <a:ahLst/>
            <a:cxnLst/>
            <a:rect l="l" t="t" r="r" b="b"/>
            <a:pathLst>
              <a:path w="2052776" h="2192551">
                <a:moveTo>
                  <a:pt x="0" y="0"/>
                </a:moveTo>
                <a:lnTo>
                  <a:pt x="2052776" y="0"/>
                </a:lnTo>
                <a:lnTo>
                  <a:pt x="2052776" y="2192552"/>
                </a:lnTo>
                <a:lnTo>
                  <a:pt x="0" y="21925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20" name="Freeform 15">
            <a:extLst>
              <a:ext uri="{FF2B5EF4-FFF2-40B4-BE49-F238E27FC236}">
                <a16:creationId xmlns:a16="http://schemas.microsoft.com/office/drawing/2014/main" id="{4A6BD1C0-0DFA-93A0-6EF3-84882D2A014A}"/>
              </a:ext>
            </a:extLst>
          </p:cNvPr>
          <p:cNvSpPr/>
          <p:nvPr/>
        </p:nvSpPr>
        <p:spPr>
          <a:xfrm>
            <a:off x="22105" y="255527"/>
            <a:ext cx="6341793" cy="1894611"/>
          </a:xfrm>
          <a:custGeom>
            <a:avLst/>
            <a:gdLst/>
            <a:ahLst/>
            <a:cxnLst/>
            <a:rect l="l" t="t" r="r" b="b"/>
            <a:pathLst>
              <a:path w="6341793" h="1894611">
                <a:moveTo>
                  <a:pt x="0" y="0"/>
                </a:moveTo>
                <a:lnTo>
                  <a:pt x="6341792" y="0"/>
                </a:lnTo>
                <a:lnTo>
                  <a:pt x="6341792" y="1894610"/>
                </a:lnTo>
                <a:lnTo>
                  <a:pt x="0" y="18946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A50DB5-CB6B-71C5-A079-700D4D89ED0B}"/>
              </a:ext>
            </a:extLst>
          </p:cNvPr>
          <p:cNvSpPr txBox="1"/>
          <p:nvPr/>
        </p:nvSpPr>
        <p:spPr>
          <a:xfrm>
            <a:off x="935958" y="429893"/>
            <a:ext cx="563172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995"/>
              </a:lnSpc>
            </a:pPr>
            <a:r>
              <a:rPr lang="en-US" sz="4000" spc="-163" dirty="0" err="1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Distribusi</a:t>
            </a:r>
            <a:r>
              <a:rPr lang="en-US" sz="4000" spc="-163" dirty="0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4000" spc="-163" dirty="0" err="1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Kategori</a:t>
            </a:r>
            <a:r>
              <a:rPr lang="en-US" sz="4000" spc="-163" dirty="0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  </a:t>
            </a:r>
            <a:r>
              <a:rPr lang="en-US" sz="4000" spc="-163" dirty="0" err="1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Gaji</a:t>
            </a:r>
            <a:endParaRPr lang="en-US" sz="4000" spc="-163" dirty="0">
              <a:solidFill>
                <a:srgbClr val="162C3B"/>
              </a:solidFill>
              <a:latin typeface="Baloo"/>
              <a:ea typeface="Baloo"/>
              <a:cs typeface="Baloo"/>
              <a:sym typeface="Baloo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97FB8F5-30F9-34C0-01D0-4516BB4E179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805560"/>
            <a:ext cx="6096000" cy="5608650"/>
          </a:xfrm>
          <a:prstGeom prst="rect">
            <a:avLst/>
          </a:prstGeom>
        </p:spPr>
      </p:pic>
      <p:grpSp>
        <p:nvGrpSpPr>
          <p:cNvPr id="26" name="Group 8">
            <a:extLst>
              <a:ext uri="{FF2B5EF4-FFF2-40B4-BE49-F238E27FC236}">
                <a16:creationId xmlns:a16="http://schemas.microsoft.com/office/drawing/2014/main" id="{616F9920-E19C-01FB-E040-52147A116438}"/>
              </a:ext>
            </a:extLst>
          </p:cNvPr>
          <p:cNvGrpSpPr/>
          <p:nvPr/>
        </p:nvGrpSpPr>
        <p:grpSpPr>
          <a:xfrm>
            <a:off x="7506455" y="2664223"/>
            <a:ext cx="8589568" cy="6807356"/>
            <a:chOff x="0" y="0"/>
            <a:chExt cx="3584789" cy="157745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5420061E-AD74-1E74-27A6-B2B7E263E7DF}"/>
                </a:ext>
              </a:extLst>
            </p:cNvPr>
            <p:cNvSpPr/>
            <p:nvPr/>
          </p:nvSpPr>
          <p:spPr>
            <a:xfrm>
              <a:off x="0" y="0"/>
              <a:ext cx="3584789" cy="1577451"/>
            </a:xfrm>
            <a:custGeom>
              <a:avLst/>
              <a:gdLst/>
              <a:ahLst/>
              <a:cxnLst/>
              <a:rect l="l" t="t" r="r" b="b"/>
              <a:pathLst>
                <a:path w="3584789" h="1577451">
                  <a:moveTo>
                    <a:pt x="19908" y="0"/>
                  </a:moveTo>
                  <a:lnTo>
                    <a:pt x="3564880" y="0"/>
                  </a:lnTo>
                  <a:cubicBezTo>
                    <a:pt x="3570160" y="0"/>
                    <a:pt x="3575224" y="2097"/>
                    <a:pt x="3578958" y="5831"/>
                  </a:cubicBezTo>
                  <a:cubicBezTo>
                    <a:pt x="3582691" y="9564"/>
                    <a:pt x="3584789" y="14628"/>
                    <a:pt x="3584789" y="19908"/>
                  </a:cubicBezTo>
                  <a:lnTo>
                    <a:pt x="3584789" y="1557543"/>
                  </a:lnTo>
                  <a:cubicBezTo>
                    <a:pt x="3584789" y="1562823"/>
                    <a:pt x="3582691" y="1567887"/>
                    <a:pt x="3578958" y="1571620"/>
                  </a:cubicBezTo>
                  <a:cubicBezTo>
                    <a:pt x="3575224" y="1575354"/>
                    <a:pt x="3570160" y="1577451"/>
                    <a:pt x="3564880" y="1577451"/>
                  </a:cubicBezTo>
                  <a:lnTo>
                    <a:pt x="19908" y="1577451"/>
                  </a:lnTo>
                  <a:cubicBezTo>
                    <a:pt x="14628" y="1577451"/>
                    <a:pt x="9564" y="1575354"/>
                    <a:pt x="5831" y="1571620"/>
                  </a:cubicBezTo>
                  <a:cubicBezTo>
                    <a:pt x="2097" y="1567887"/>
                    <a:pt x="0" y="1562823"/>
                    <a:pt x="0" y="1557543"/>
                  </a:cubicBezTo>
                  <a:lnTo>
                    <a:pt x="0" y="19908"/>
                  </a:lnTo>
                  <a:cubicBezTo>
                    <a:pt x="0" y="14628"/>
                    <a:pt x="2097" y="9564"/>
                    <a:pt x="5831" y="5831"/>
                  </a:cubicBezTo>
                  <a:cubicBezTo>
                    <a:pt x="9564" y="2097"/>
                    <a:pt x="14628" y="0"/>
                    <a:pt x="19908" y="0"/>
                  </a:cubicBezTo>
                  <a:close/>
                </a:path>
              </a:pathLst>
            </a:custGeom>
            <a:grpFill/>
            <a:ln w="95250" cap="rnd">
              <a:solidFill>
                <a:schemeClr val="tx2"/>
              </a:solidFill>
              <a:prstDash val="solid"/>
              <a:round/>
            </a:ln>
          </p:spPr>
        </p:sp>
        <p:sp>
          <p:nvSpPr>
            <p:cNvPr id="28" name="TextBox 10">
              <a:extLst>
                <a:ext uri="{FF2B5EF4-FFF2-40B4-BE49-F238E27FC236}">
                  <a16:creationId xmlns:a16="http://schemas.microsoft.com/office/drawing/2014/main" id="{D944BDFE-A777-EB49-81F9-4E14483EECC5}"/>
                </a:ext>
              </a:extLst>
            </p:cNvPr>
            <p:cNvSpPr txBox="1"/>
            <p:nvPr/>
          </p:nvSpPr>
          <p:spPr>
            <a:xfrm>
              <a:off x="0" y="-38100"/>
              <a:ext cx="3584789" cy="1615551"/>
            </a:xfrm>
            <a:prstGeom prst="rect">
              <a:avLst/>
            </a:prstGeom>
            <a:grpFill/>
            <a:ln>
              <a:solidFill>
                <a:schemeClr val="tx2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29A6E9CC-70D9-87AD-EDB3-45E437B51256}"/>
              </a:ext>
            </a:extLst>
          </p:cNvPr>
          <p:cNvSpPr txBox="1"/>
          <p:nvPr/>
        </p:nvSpPr>
        <p:spPr>
          <a:xfrm>
            <a:off x="7662743" y="2671323"/>
            <a:ext cx="8276992" cy="6628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ts val="3043"/>
              </a:lnSpc>
              <a:spcBef>
                <a:spcPct val="0"/>
              </a:spcBef>
            </a:pP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Berdasarkan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perhitungan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rata-rata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gaji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dari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seluruh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sektor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pekerjaan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,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provinsi-provinsi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diklasifikasikan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ke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dalam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tiga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kategori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: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Rendah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, Sedang, dan Tinggi. Hasil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analisis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menunjukkan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bahwa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sebagian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besar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provinsi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termasuk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dalam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kategori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Rendah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,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yaitu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sekitar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78,9%, yang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menunjukkan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bahwa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rata-rata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gaji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di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sebagian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besar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provinsi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masih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relatif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rendah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dibandingkan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median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nasional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.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Provinsi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dalam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kategori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Sedang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mencapai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18,4%,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menandakan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beberapa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sektor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di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provinsi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tersebut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sudah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memiliki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gaji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cukup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kompetitif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.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Sementara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itu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,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hanya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sekitar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2,6%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provinsi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yang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berada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di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kategori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Tinggi,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contohnya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DKI Jakarta, yang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menunjukkan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rata-rata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gaji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secara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signifikan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lebih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tinggi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dibanding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provinsi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lain.Pie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chart yang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ditampilkan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mempermudah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kita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melihat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proporsi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provinsi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di masing-masing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kategori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,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sehingga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lebih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mudah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membandingkan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tingkat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gaji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antar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wilayah di Indonesia.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7689D-60C9-929D-D060-81C9A1920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64FDD57-1BEA-203D-8C19-6E014DADD119}"/>
              </a:ext>
            </a:extLst>
          </p:cNvPr>
          <p:cNvGrpSpPr/>
          <p:nvPr/>
        </p:nvGrpSpPr>
        <p:grpSpPr>
          <a:xfrm>
            <a:off x="0" y="0"/>
            <a:ext cx="18288000" cy="12211625"/>
            <a:chOff x="0" y="0"/>
            <a:chExt cx="24384000" cy="1628216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0BE510C-8F67-A2C2-DC05-9B57E787EDCD}"/>
                </a:ext>
              </a:extLst>
            </p:cNvPr>
            <p:cNvSpPr/>
            <p:nvPr/>
          </p:nvSpPr>
          <p:spPr>
            <a:xfrm>
              <a:off x="0" y="0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2BBCB17-54A7-1822-FF72-C602B1297072}"/>
                </a:ext>
              </a:extLst>
            </p:cNvPr>
            <p:cNvSpPr/>
            <p:nvPr/>
          </p:nvSpPr>
          <p:spPr>
            <a:xfrm>
              <a:off x="16227725" y="8115683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F1562E2-2A61-511F-DBAC-A44ACCA6BB49}"/>
                </a:ext>
              </a:extLst>
            </p:cNvPr>
            <p:cNvSpPr/>
            <p:nvPr/>
          </p:nvSpPr>
          <p:spPr>
            <a:xfrm>
              <a:off x="16227725" y="0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D9B03EB-B9D9-012D-6136-7287B1494F99}"/>
                </a:ext>
              </a:extLst>
            </p:cNvPr>
            <p:cNvSpPr/>
            <p:nvPr/>
          </p:nvSpPr>
          <p:spPr>
            <a:xfrm>
              <a:off x="8112082" y="0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BDFB51E-9E64-0F11-D11C-53C4A1F5EC43}"/>
                </a:ext>
              </a:extLst>
            </p:cNvPr>
            <p:cNvSpPr/>
            <p:nvPr/>
          </p:nvSpPr>
          <p:spPr>
            <a:xfrm>
              <a:off x="0" y="8115683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0B5A58B-A083-7BAF-766F-FD647BEFE410}"/>
                </a:ext>
              </a:extLst>
            </p:cNvPr>
            <p:cNvSpPr/>
            <p:nvPr/>
          </p:nvSpPr>
          <p:spPr>
            <a:xfrm>
              <a:off x="8112082" y="8115683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9086A181-1EA7-DB58-227F-794DDB94F33F}"/>
              </a:ext>
            </a:extLst>
          </p:cNvPr>
          <p:cNvSpPr/>
          <p:nvPr/>
        </p:nvSpPr>
        <p:spPr>
          <a:xfrm rot="-1535247">
            <a:off x="12737117" y="6237706"/>
            <a:ext cx="5216862" cy="4114800"/>
          </a:xfrm>
          <a:custGeom>
            <a:avLst/>
            <a:gdLst/>
            <a:ahLst/>
            <a:cxnLst/>
            <a:rect l="l" t="t" r="r" b="b"/>
            <a:pathLst>
              <a:path w="5216862" h="4114800">
                <a:moveTo>
                  <a:pt x="0" y="0"/>
                </a:moveTo>
                <a:lnTo>
                  <a:pt x="5216862" y="0"/>
                </a:lnTo>
                <a:lnTo>
                  <a:pt x="52168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92EC687-4546-C1C0-AF14-A160ABA9B41C}"/>
              </a:ext>
            </a:extLst>
          </p:cNvPr>
          <p:cNvSpPr/>
          <p:nvPr/>
        </p:nvSpPr>
        <p:spPr>
          <a:xfrm rot="-10609366">
            <a:off x="-11903" y="-252057"/>
            <a:ext cx="3914204" cy="4114800"/>
          </a:xfrm>
          <a:custGeom>
            <a:avLst/>
            <a:gdLst/>
            <a:ahLst/>
            <a:cxnLst/>
            <a:rect l="l" t="t" r="r" b="b"/>
            <a:pathLst>
              <a:path w="3914204" h="4114800">
                <a:moveTo>
                  <a:pt x="0" y="0"/>
                </a:moveTo>
                <a:lnTo>
                  <a:pt x="3914204" y="0"/>
                </a:lnTo>
                <a:lnTo>
                  <a:pt x="39142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754A8F1-3DC0-132B-8DD2-3749876D3AAE}"/>
              </a:ext>
            </a:extLst>
          </p:cNvPr>
          <p:cNvGrpSpPr/>
          <p:nvPr/>
        </p:nvGrpSpPr>
        <p:grpSpPr>
          <a:xfrm>
            <a:off x="2555187" y="2360539"/>
            <a:ext cx="13610994" cy="5989385"/>
            <a:chOff x="0" y="0"/>
            <a:chExt cx="3584789" cy="1577451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B7F54D77-D491-06A6-B7EC-29D468F1D28C}"/>
                </a:ext>
              </a:extLst>
            </p:cNvPr>
            <p:cNvSpPr/>
            <p:nvPr/>
          </p:nvSpPr>
          <p:spPr>
            <a:xfrm>
              <a:off x="0" y="0"/>
              <a:ext cx="3584789" cy="1577451"/>
            </a:xfrm>
            <a:custGeom>
              <a:avLst/>
              <a:gdLst/>
              <a:ahLst/>
              <a:cxnLst/>
              <a:rect l="l" t="t" r="r" b="b"/>
              <a:pathLst>
                <a:path w="3584789" h="1577451">
                  <a:moveTo>
                    <a:pt x="19908" y="0"/>
                  </a:moveTo>
                  <a:lnTo>
                    <a:pt x="3564880" y="0"/>
                  </a:lnTo>
                  <a:cubicBezTo>
                    <a:pt x="3570160" y="0"/>
                    <a:pt x="3575224" y="2097"/>
                    <a:pt x="3578958" y="5831"/>
                  </a:cubicBezTo>
                  <a:cubicBezTo>
                    <a:pt x="3582691" y="9564"/>
                    <a:pt x="3584789" y="14628"/>
                    <a:pt x="3584789" y="19908"/>
                  </a:cubicBezTo>
                  <a:lnTo>
                    <a:pt x="3584789" y="1557543"/>
                  </a:lnTo>
                  <a:cubicBezTo>
                    <a:pt x="3584789" y="1562823"/>
                    <a:pt x="3582691" y="1567887"/>
                    <a:pt x="3578958" y="1571620"/>
                  </a:cubicBezTo>
                  <a:cubicBezTo>
                    <a:pt x="3575224" y="1575354"/>
                    <a:pt x="3570160" y="1577451"/>
                    <a:pt x="3564880" y="1577451"/>
                  </a:cubicBezTo>
                  <a:lnTo>
                    <a:pt x="19908" y="1577451"/>
                  </a:lnTo>
                  <a:cubicBezTo>
                    <a:pt x="14628" y="1577451"/>
                    <a:pt x="9564" y="1575354"/>
                    <a:pt x="5831" y="1571620"/>
                  </a:cubicBezTo>
                  <a:cubicBezTo>
                    <a:pt x="2097" y="1567887"/>
                    <a:pt x="0" y="1562823"/>
                    <a:pt x="0" y="1557543"/>
                  </a:cubicBezTo>
                  <a:lnTo>
                    <a:pt x="0" y="19908"/>
                  </a:lnTo>
                  <a:cubicBezTo>
                    <a:pt x="0" y="14628"/>
                    <a:pt x="2097" y="9564"/>
                    <a:pt x="5831" y="5831"/>
                  </a:cubicBezTo>
                  <a:cubicBezTo>
                    <a:pt x="9564" y="2097"/>
                    <a:pt x="14628" y="0"/>
                    <a:pt x="19908" y="0"/>
                  </a:cubicBezTo>
                  <a:close/>
                </a:path>
              </a:pathLst>
            </a:custGeom>
            <a:solidFill>
              <a:srgbClr val="162C3B">
                <a:alpha val="1490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83E8506-F51E-567F-B471-F697253FA11D}"/>
                </a:ext>
              </a:extLst>
            </p:cNvPr>
            <p:cNvSpPr txBox="1"/>
            <p:nvPr/>
          </p:nvSpPr>
          <p:spPr>
            <a:xfrm>
              <a:off x="0" y="-38100"/>
              <a:ext cx="3584789" cy="1615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A1463CDE-1531-37AF-F30D-BD4238EFF37C}"/>
              </a:ext>
            </a:extLst>
          </p:cNvPr>
          <p:cNvGrpSpPr/>
          <p:nvPr/>
        </p:nvGrpSpPr>
        <p:grpSpPr>
          <a:xfrm>
            <a:off x="433368" y="419100"/>
            <a:ext cx="17397432" cy="9524999"/>
            <a:chOff x="0" y="0"/>
            <a:chExt cx="3584789" cy="1577451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4792C902-043F-2750-D3C5-A5714CA04443}"/>
                </a:ext>
              </a:extLst>
            </p:cNvPr>
            <p:cNvSpPr/>
            <p:nvPr/>
          </p:nvSpPr>
          <p:spPr>
            <a:xfrm>
              <a:off x="0" y="0"/>
              <a:ext cx="3584789" cy="1577451"/>
            </a:xfrm>
            <a:custGeom>
              <a:avLst/>
              <a:gdLst/>
              <a:ahLst/>
              <a:cxnLst/>
              <a:rect l="l" t="t" r="r" b="b"/>
              <a:pathLst>
                <a:path w="3584789" h="1577451">
                  <a:moveTo>
                    <a:pt x="19908" y="0"/>
                  </a:moveTo>
                  <a:lnTo>
                    <a:pt x="3564880" y="0"/>
                  </a:lnTo>
                  <a:cubicBezTo>
                    <a:pt x="3570160" y="0"/>
                    <a:pt x="3575224" y="2097"/>
                    <a:pt x="3578958" y="5831"/>
                  </a:cubicBezTo>
                  <a:cubicBezTo>
                    <a:pt x="3582691" y="9564"/>
                    <a:pt x="3584789" y="14628"/>
                    <a:pt x="3584789" y="19908"/>
                  </a:cubicBezTo>
                  <a:lnTo>
                    <a:pt x="3584789" y="1557543"/>
                  </a:lnTo>
                  <a:cubicBezTo>
                    <a:pt x="3584789" y="1562823"/>
                    <a:pt x="3582691" y="1567887"/>
                    <a:pt x="3578958" y="1571620"/>
                  </a:cubicBezTo>
                  <a:cubicBezTo>
                    <a:pt x="3575224" y="1575354"/>
                    <a:pt x="3570160" y="1577451"/>
                    <a:pt x="3564880" y="1577451"/>
                  </a:cubicBezTo>
                  <a:lnTo>
                    <a:pt x="19908" y="1577451"/>
                  </a:lnTo>
                  <a:cubicBezTo>
                    <a:pt x="14628" y="1577451"/>
                    <a:pt x="9564" y="1575354"/>
                    <a:pt x="5831" y="1571620"/>
                  </a:cubicBezTo>
                  <a:cubicBezTo>
                    <a:pt x="2097" y="1567887"/>
                    <a:pt x="0" y="1562823"/>
                    <a:pt x="0" y="1557543"/>
                  </a:cubicBezTo>
                  <a:lnTo>
                    <a:pt x="0" y="19908"/>
                  </a:lnTo>
                  <a:cubicBezTo>
                    <a:pt x="0" y="14628"/>
                    <a:pt x="2097" y="9564"/>
                    <a:pt x="5831" y="5831"/>
                  </a:cubicBezTo>
                  <a:cubicBezTo>
                    <a:pt x="9564" y="2097"/>
                    <a:pt x="14628" y="0"/>
                    <a:pt x="19908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352E50-7ED1-48ED-4735-3F6ADBD327EC}"/>
                </a:ext>
              </a:extLst>
            </p:cNvPr>
            <p:cNvSpPr txBox="1"/>
            <p:nvPr/>
          </p:nvSpPr>
          <p:spPr>
            <a:xfrm>
              <a:off x="0" y="-38100"/>
              <a:ext cx="3584789" cy="1615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15B90E53-DFD0-3661-AA20-5DAEAEDE7D0C}"/>
              </a:ext>
            </a:extLst>
          </p:cNvPr>
          <p:cNvSpPr txBox="1"/>
          <p:nvPr/>
        </p:nvSpPr>
        <p:spPr>
          <a:xfrm>
            <a:off x="1354573" y="809751"/>
            <a:ext cx="6341627" cy="1558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98"/>
              </a:lnSpc>
            </a:pPr>
            <a:r>
              <a:rPr lang="en-US" sz="5500" spc="-163" dirty="0" err="1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Operasi</a:t>
            </a:r>
            <a:r>
              <a:rPr lang="en-US" sz="5500" spc="-163" dirty="0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 Logika Pada Data </a:t>
            </a:r>
            <a:r>
              <a:rPr lang="en-US" sz="5500" spc="-163" dirty="0" err="1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Gaji</a:t>
            </a:r>
            <a:endParaRPr lang="en-US" sz="5500" spc="-163" dirty="0">
              <a:solidFill>
                <a:srgbClr val="162C3B"/>
              </a:solidFill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9E53B334-271E-0E97-D946-4F47A33C311B}"/>
              </a:ext>
            </a:extLst>
          </p:cNvPr>
          <p:cNvSpPr txBox="1"/>
          <p:nvPr/>
        </p:nvSpPr>
        <p:spPr>
          <a:xfrm>
            <a:off x="1135508" y="2407660"/>
            <a:ext cx="5098200" cy="4997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3043"/>
              </a:lnSpc>
              <a:spcBef>
                <a:spcPct val="0"/>
              </a:spcBef>
            </a:pP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Heatmap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ini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menunjukkan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perbandingan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gaji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antar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sektor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di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setiap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provinsi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berdasarkan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operasi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logika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P: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Gaji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Penjualan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&gt; Jasa Q: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Gaji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Tata Usaha &gt;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Pekerja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Kasar</a:t>
            </a:r>
          </a:p>
          <a:p>
            <a:pPr lvl="0" algn="just">
              <a:lnSpc>
                <a:spcPts val="3043"/>
              </a:lnSpc>
              <a:spcBef>
                <a:spcPct val="0"/>
              </a:spcBef>
            </a:pP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 AND Q (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hijau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):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Kedua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sektor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unggul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. Aceh, Sumatera Utara, Sumatera Barat.</a:t>
            </a:r>
          </a:p>
          <a:p>
            <a:pPr lvl="0" algn="just">
              <a:lnSpc>
                <a:spcPts val="3043"/>
              </a:lnSpc>
              <a:spcBef>
                <a:spcPct val="0"/>
              </a:spcBef>
            </a:pP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 OR Q: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Setidaknya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satu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sektor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unggul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.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Hampir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semua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provinsi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True.P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→ Q (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merah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): P True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tapi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Q False.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Contoh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: Riau,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Penjualan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tinggi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tapi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Tata Usaha </a:t>
            </a:r>
            <a:r>
              <a:rPr lang="en-US" sz="24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rendah</a:t>
            </a:r>
            <a:r>
              <a:rPr lang="en-US" sz="24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..</a:t>
            </a:r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40289F98-1E2B-F957-5A50-3B4A17699463}"/>
              </a:ext>
            </a:extLst>
          </p:cNvPr>
          <p:cNvSpPr/>
          <p:nvPr/>
        </p:nvSpPr>
        <p:spPr>
          <a:xfrm>
            <a:off x="-393189" y="7124700"/>
            <a:ext cx="3974589" cy="3488774"/>
          </a:xfrm>
          <a:custGeom>
            <a:avLst/>
            <a:gdLst/>
            <a:ahLst/>
            <a:cxnLst/>
            <a:rect l="l" t="t" r="r" b="b"/>
            <a:pathLst>
              <a:path w="4812632" h="4114800">
                <a:moveTo>
                  <a:pt x="0" y="0"/>
                </a:moveTo>
                <a:lnTo>
                  <a:pt x="4812631" y="0"/>
                </a:lnTo>
                <a:lnTo>
                  <a:pt x="48126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19">
            <a:extLst>
              <a:ext uri="{FF2B5EF4-FFF2-40B4-BE49-F238E27FC236}">
                <a16:creationId xmlns:a16="http://schemas.microsoft.com/office/drawing/2014/main" id="{CC318FF1-7A32-AEDC-236A-B69472604079}"/>
              </a:ext>
            </a:extLst>
          </p:cNvPr>
          <p:cNvSpPr/>
          <p:nvPr/>
        </p:nvSpPr>
        <p:spPr>
          <a:xfrm rot="8401355">
            <a:off x="16287202" y="8749223"/>
            <a:ext cx="2046312" cy="1739365"/>
          </a:xfrm>
          <a:custGeom>
            <a:avLst/>
            <a:gdLst/>
            <a:ahLst/>
            <a:cxnLst/>
            <a:rect l="l" t="t" r="r" b="b"/>
            <a:pathLst>
              <a:path w="2046312" h="1739365">
                <a:moveTo>
                  <a:pt x="0" y="0"/>
                </a:moveTo>
                <a:lnTo>
                  <a:pt x="2046312" y="0"/>
                </a:lnTo>
                <a:lnTo>
                  <a:pt x="2046312" y="1739365"/>
                </a:lnTo>
                <a:lnTo>
                  <a:pt x="0" y="17393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26" name="Freeform 34">
            <a:extLst>
              <a:ext uri="{FF2B5EF4-FFF2-40B4-BE49-F238E27FC236}">
                <a16:creationId xmlns:a16="http://schemas.microsoft.com/office/drawing/2014/main" id="{076668B8-F635-20D1-8CA6-ACAB3C09F3B1}"/>
              </a:ext>
            </a:extLst>
          </p:cNvPr>
          <p:cNvSpPr/>
          <p:nvPr/>
        </p:nvSpPr>
        <p:spPr>
          <a:xfrm rot="17957352">
            <a:off x="15887552" y="-672352"/>
            <a:ext cx="2001352" cy="3792045"/>
          </a:xfrm>
          <a:custGeom>
            <a:avLst/>
            <a:gdLst/>
            <a:ahLst/>
            <a:cxnLst/>
            <a:rect l="l" t="t" r="r" b="b"/>
            <a:pathLst>
              <a:path w="3115551" h="4026560">
                <a:moveTo>
                  <a:pt x="0" y="0"/>
                </a:moveTo>
                <a:lnTo>
                  <a:pt x="3115551" y="0"/>
                </a:lnTo>
                <a:lnTo>
                  <a:pt x="3115551" y="4026560"/>
                </a:lnTo>
                <a:lnTo>
                  <a:pt x="0" y="40265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4ED8CCA-3817-9462-2179-25AA4BFB45F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002" y="1418576"/>
            <a:ext cx="10417683" cy="6178945"/>
          </a:xfrm>
          <a:prstGeom prst="rect">
            <a:avLst/>
          </a:prstGeom>
        </p:spPr>
      </p:pic>
      <p:sp>
        <p:nvSpPr>
          <p:cNvPr id="30" name="Freeform 29">
            <a:extLst>
              <a:ext uri="{FF2B5EF4-FFF2-40B4-BE49-F238E27FC236}">
                <a16:creationId xmlns:a16="http://schemas.microsoft.com/office/drawing/2014/main" id="{CD052A80-0812-712A-99BE-D0083A60B52F}"/>
              </a:ext>
            </a:extLst>
          </p:cNvPr>
          <p:cNvSpPr/>
          <p:nvPr/>
        </p:nvSpPr>
        <p:spPr>
          <a:xfrm rot="3265551">
            <a:off x="4517749" y="1538806"/>
            <a:ext cx="1246595" cy="1154709"/>
          </a:xfrm>
          <a:custGeom>
            <a:avLst/>
            <a:gdLst/>
            <a:ahLst/>
            <a:cxnLst/>
            <a:rect l="l" t="t" r="r" b="b"/>
            <a:pathLst>
              <a:path w="1680937" h="1378368">
                <a:moveTo>
                  <a:pt x="0" y="0"/>
                </a:moveTo>
                <a:lnTo>
                  <a:pt x="1680937" y="0"/>
                </a:lnTo>
                <a:lnTo>
                  <a:pt x="1680937" y="1378368"/>
                </a:lnTo>
                <a:lnTo>
                  <a:pt x="0" y="137836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989F98A9-1CF6-29B1-03FC-688292B9C323}"/>
              </a:ext>
            </a:extLst>
          </p:cNvPr>
          <p:cNvSpPr/>
          <p:nvPr/>
        </p:nvSpPr>
        <p:spPr>
          <a:xfrm flipH="1">
            <a:off x="-81668" y="-34048"/>
            <a:ext cx="1281526" cy="1214246"/>
          </a:xfrm>
          <a:custGeom>
            <a:avLst/>
            <a:gdLst/>
            <a:ahLst/>
            <a:cxnLst/>
            <a:rect l="l" t="t" r="r" b="b"/>
            <a:pathLst>
              <a:path w="1281526" h="1214246">
                <a:moveTo>
                  <a:pt x="0" y="0"/>
                </a:moveTo>
                <a:lnTo>
                  <a:pt x="1281526" y="0"/>
                </a:lnTo>
                <a:lnTo>
                  <a:pt x="1281526" y="1214245"/>
                </a:lnTo>
                <a:lnTo>
                  <a:pt x="0" y="121424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365218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A3C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AB255A-21A9-E969-562E-AEC774C8A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7C5CE34-1195-1222-28FE-B2C8BE0264CF}"/>
              </a:ext>
            </a:extLst>
          </p:cNvPr>
          <p:cNvGrpSpPr/>
          <p:nvPr/>
        </p:nvGrpSpPr>
        <p:grpSpPr>
          <a:xfrm>
            <a:off x="-1246654" y="0"/>
            <a:ext cx="20781307" cy="10403658"/>
            <a:chOff x="0" y="0"/>
            <a:chExt cx="27708410" cy="1387154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A11CD31-6252-FE5F-CFBF-A847341AC548}"/>
                </a:ext>
              </a:extLst>
            </p:cNvPr>
            <p:cNvSpPr/>
            <p:nvPr/>
          </p:nvSpPr>
          <p:spPr>
            <a:xfrm>
              <a:off x="13854205" y="0"/>
              <a:ext cx="13854205" cy="13871544"/>
            </a:xfrm>
            <a:custGeom>
              <a:avLst/>
              <a:gdLst/>
              <a:ahLst/>
              <a:cxnLst/>
              <a:rect l="l" t="t" r="r" b="b"/>
              <a:pathLst>
                <a:path w="13854205" h="13871544">
                  <a:moveTo>
                    <a:pt x="0" y="0"/>
                  </a:moveTo>
                  <a:lnTo>
                    <a:pt x="13854205" y="0"/>
                  </a:lnTo>
                  <a:lnTo>
                    <a:pt x="13854205" y="13871544"/>
                  </a:lnTo>
                  <a:lnTo>
                    <a:pt x="0" y="13871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219D180-91C1-B63F-7482-890EA7D4C5B6}"/>
                </a:ext>
              </a:extLst>
            </p:cNvPr>
            <p:cNvSpPr/>
            <p:nvPr/>
          </p:nvSpPr>
          <p:spPr>
            <a:xfrm>
              <a:off x="0" y="0"/>
              <a:ext cx="13854205" cy="13871544"/>
            </a:xfrm>
            <a:custGeom>
              <a:avLst/>
              <a:gdLst/>
              <a:ahLst/>
              <a:cxnLst/>
              <a:rect l="l" t="t" r="r" b="b"/>
              <a:pathLst>
                <a:path w="13854205" h="13871544">
                  <a:moveTo>
                    <a:pt x="0" y="0"/>
                  </a:moveTo>
                  <a:lnTo>
                    <a:pt x="13854205" y="0"/>
                  </a:lnTo>
                  <a:lnTo>
                    <a:pt x="13854205" y="13871544"/>
                  </a:lnTo>
                  <a:lnTo>
                    <a:pt x="0" y="13871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B01C6E0-673B-1B47-2C8A-031395004B0E}"/>
              </a:ext>
            </a:extLst>
          </p:cNvPr>
          <p:cNvGrpSpPr/>
          <p:nvPr/>
        </p:nvGrpSpPr>
        <p:grpSpPr>
          <a:xfrm>
            <a:off x="457200" y="571500"/>
            <a:ext cx="17373600" cy="9372599"/>
            <a:chOff x="0" y="0"/>
            <a:chExt cx="3584789" cy="157745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A1F417F-E9C0-A7C7-F159-A1B4AD48A9B6}"/>
                </a:ext>
              </a:extLst>
            </p:cNvPr>
            <p:cNvSpPr/>
            <p:nvPr/>
          </p:nvSpPr>
          <p:spPr>
            <a:xfrm>
              <a:off x="0" y="0"/>
              <a:ext cx="3584789" cy="1577451"/>
            </a:xfrm>
            <a:custGeom>
              <a:avLst/>
              <a:gdLst/>
              <a:ahLst/>
              <a:cxnLst/>
              <a:rect l="l" t="t" r="r" b="b"/>
              <a:pathLst>
                <a:path w="3584789" h="1577451">
                  <a:moveTo>
                    <a:pt x="19908" y="0"/>
                  </a:moveTo>
                  <a:lnTo>
                    <a:pt x="3564880" y="0"/>
                  </a:lnTo>
                  <a:cubicBezTo>
                    <a:pt x="3570160" y="0"/>
                    <a:pt x="3575224" y="2097"/>
                    <a:pt x="3578958" y="5831"/>
                  </a:cubicBezTo>
                  <a:cubicBezTo>
                    <a:pt x="3582691" y="9564"/>
                    <a:pt x="3584789" y="14628"/>
                    <a:pt x="3584789" y="19908"/>
                  </a:cubicBezTo>
                  <a:lnTo>
                    <a:pt x="3584789" y="1557543"/>
                  </a:lnTo>
                  <a:cubicBezTo>
                    <a:pt x="3584789" y="1562823"/>
                    <a:pt x="3582691" y="1567887"/>
                    <a:pt x="3578958" y="1571620"/>
                  </a:cubicBezTo>
                  <a:cubicBezTo>
                    <a:pt x="3575224" y="1575354"/>
                    <a:pt x="3570160" y="1577451"/>
                    <a:pt x="3564880" y="1577451"/>
                  </a:cubicBezTo>
                  <a:lnTo>
                    <a:pt x="19908" y="1577451"/>
                  </a:lnTo>
                  <a:cubicBezTo>
                    <a:pt x="14628" y="1577451"/>
                    <a:pt x="9564" y="1575354"/>
                    <a:pt x="5831" y="1571620"/>
                  </a:cubicBezTo>
                  <a:cubicBezTo>
                    <a:pt x="2097" y="1567887"/>
                    <a:pt x="0" y="1562823"/>
                    <a:pt x="0" y="1557543"/>
                  </a:cubicBezTo>
                  <a:lnTo>
                    <a:pt x="0" y="19908"/>
                  </a:lnTo>
                  <a:cubicBezTo>
                    <a:pt x="0" y="14628"/>
                    <a:pt x="2097" y="9564"/>
                    <a:pt x="5831" y="5831"/>
                  </a:cubicBezTo>
                  <a:cubicBezTo>
                    <a:pt x="9564" y="2097"/>
                    <a:pt x="14628" y="0"/>
                    <a:pt x="19908" y="0"/>
                  </a:cubicBezTo>
                  <a:close/>
                </a:path>
              </a:pathLst>
            </a:custGeom>
            <a:solidFill>
              <a:srgbClr val="162C3B">
                <a:alpha val="1490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0E0B36B-E492-FE59-6B3B-A415C7A49896}"/>
                </a:ext>
              </a:extLst>
            </p:cNvPr>
            <p:cNvSpPr txBox="1"/>
            <p:nvPr/>
          </p:nvSpPr>
          <p:spPr>
            <a:xfrm>
              <a:off x="0" y="-38100"/>
              <a:ext cx="3584789" cy="1615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C5D0487A-5564-9E35-7EA6-32900401B054}"/>
              </a:ext>
            </a:extLst>
          </p:cNvPr>
          <p:cNvSpPr/>
          <p:nvPr/>
        </p:nvSpPr>
        <p:spPr>
          <a:xfrm>
            <a:off x="15914451" y="-114434"/>
            <a:ext cx="1916349" cy="2174580"/>
          </a:xfrm>
          <a:custGeom>
            <a:avLst/>
            <a:gdLst/>
            <a:ahLst/>
            <a:cxnLst/>
            <a:rect l="l" t="t" r="r" b="b"/>
            <a:pathLst>
              <a:path w="1916349" h="2174580">
                <a:moveTo>
                  <a:pt x="0" y="0"/>
                </a:moveTo>
                <a:lnTo>
                  <a:pt x="1916349" y="0"/>
                </a:lnTo>
                <a:lnTo>
                  <a:pt x="1916349" y="2174580"/>
                </a:lnTo>
                <a:lnTo>
                  <a:pt x="0" y="21745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6716B2B8-39AB-2634-863C-91EAC39DB77E}"/>
              </a:ext>
            </a:extLst>
          </p:cNvPr>
          <p:cNvSpPr/>
          <p:nvPr/>
        </p:nvSpPr>
        <p:spPr>
          <a:xfrm rot="-884333">
            <a:off x="-537521" y="7969077"/>
            <a:ext cx="2902239" cy="2601132"/>
          </a:xfrm>
          <a:custGeom>
            <a:avLst/>
            <a:gdLst/>
            <a:ahLst/>
            <a:cxnLst/>
            <a:rect l="l" t="t" r="r" b="b"/>
            <a:pathLst>
              <a:path w="2902239" h="2601132">
                <a:moveTo>
                  <a:pt x="0" y="0"/>
                </a:moveTo>
                <a:lnTo>
                  <a:pt x="2902239" y="0"/>
                </a:lnTo>
                <a:lnTo>
                  <a:pt x="2902239" y="2601132"/>
                </a:lnTo>
                <a:lnTo>
                  <a:pt x="0" y="26011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12" name="Freeform 15">
            <a:extLst>
              <a:ext uri="{FF2B5EF4-FFF2-40B4-BE49-F238E27FC236}">
                <a16:creationId xmlns:a16="http://schemas.microsoft.com/office/drawing/2014/main" id="{3ACEA8C3-6C4F-C42E-3F1F-00AE6311241A}"/>
              </a:ext>
            </a:extLst>
          </p:cNvPr>
          <p:cNvSpPr/>
          <p:nvPr/>
        </p:nvSpPr>
        <p:spPr>
          <a:xfrm>
            <a:off x="-425446" y="367986"/>
            <a:ext cx="6341793" cy="1894611"/>
          </a:xfrm>
          <a:custGeom>
            <a:avLst/>
            <a:gdLst/>
            <a:ahLst/>
            <a:cxnLst/>
            <a:rect l="l" t="t" r="r" b="b"/>
            <a:pathLst>
              <a:path w="6341793" h="1894611">
                <a:moveTo>
                  <a:pt x="0" y="0"/>
                </a:moveTo>
                <a:lnTo>
                  <a:pt x="6341792" y="0"/>
                </a:lnTo>
                <a:lnTo>
                  <a:pt x="6341792" y="1894610"/>
                </a:lnTo>
                <a:lnTo>
                  <a:pt x="0" y="18946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>
              <a:lnSpc>
                <a:spcPts val="5995"/>
              </a:lnSpc>
            </a:pPr>
            <a:endParaRPr lang="en-US" sz="5400" spc="-163" dirty="0">
              <a:solidFill>
                <a:srgbClr val="162C3B"/>
              </a:solidFill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F34EF8-F3C5-BC8C-FB26-15EBE0AC730A}"/>
              </a:ext>
            </a:extLst>
          </p:cNvPr>
          <p:cNvSpPr txBox="1"/>
          <p:nvPr/>
        </p:nvSpPr>
        <p:spPr>
          <a:xfrm>
            <a:off x="566215" y="628071"/>
            <a:ext cx="51302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spc="-35" dirty="0">
                <a:solidFill>
                  <a:srgbClr val="162C3B"/>
                </a:solidFill>
                <a:latin typeface="Baloo" panose="020B0604020202020204" charset="0"/>
                <a:ea typeface="Nunito Bold"/>
                <a:cs typeface="Baloo" panose="020B0604020202020204" charset="0"/>
                <a:sym typeface="Nunito Bold"/>
              </a:rPr>
              <a:t>Graf Antar Sektor </a:t>
            </a:r>
            <a:endParaRPr lang="en-ID" sz="4800" dirty="0">
              <a:latin typeface="Baloo" panose="020B0604020202020204" charset="0"/>
              <a:cs typeface="Baloo" panose="020B060402020202020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DE403C3-9C25-D770-90ED-33CB47D856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17" y="2270217"/>
            <a:ext cx="8161446" cy="6065484"/>
          </a:xfrm>
          <a:prstGeom prst="rect">
            <a:avLst/>
          </a:prstGeom>
        </p:spPr>
      </p:pic>
      <p:grpSp>
        <p:nvGrpSpPr>
          <p:cNvPr id="25" name="Group 8">
            <a:extLst>
              <a:ext uri="{FF2B5EF4-FFF2-40B4-BE49-F238E27FC236}">
                <a16:creationId xmlns:a16="http://schemas.microsoft.com/office/drawing/2014/main" id="{419D435B-97D3-A7C1-5598-B27305F82010}"/>
              </a:ext>
            </a:extLst>
          </p:cNvPr>
          <p:cNvGrpSpPr/>
          <p:nvPr/>
        </p:nvGrpSpPr>
        <p:grpSpPr>
          <a:xfrm>
            <a:off x="9526171" y="2903878"/>
            <a:ext cx="8148992" cy="6527590"/>
            <a:chOff x="0" y="0"/>
            <a:chExt cx="3584789" cy="157745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8108D637-ECEC-B14D-31C2-33DD716AD4C2}"/>
                </a:ext>
              </a:extLst>
            </p:cNvPr>
            <p:cNvSpPr/>
            <p:nvPr/>
          </p:nvSpPr>
          <p:spPr>
            <a:xfrm>
              <a:off x="0" y="0"/>
              <a:ext cx="3584789" cy="1577451"/>
            </a:xfrm>
            <a:custGeom>
              <a:avLst/>
              <a:gdLst/>
              <a:ahLst/>
              <a:cxnLst/>
              <a:rect l="l" t="t" r="r" b="b"/>
              <a:pathLst>
                <a:path w="3584789" h="1577451">
                  <a:moveTo>
                    <a:pt x="19908" y="0"/>
                  </a:moveTo>
                  <a:lnTo>
                    <a:pt x="3564880" y="0"/>
                  </a:lnTo>
                  <a:cubicBezTo>
                    <a:pt x="3570160" y="0"/>
                    <a:pt x="3575224" y="2097"/>
                    <a:pt x="3578958" y="5831"/>
                  </a:cubicBezTo>
                  <a:cubicBezTo>
                    <a:pt x="3582691" y="9564"/>
                    <a:pt x="3584789" y="14628"/>
                    <a:pt x="3584789" y="19908"/>
                  </a:cubicBezTo>
                  <a:lnTo>
                    <a:pt x="3584789" y="1557543"/>
                  </a:lnTo>
                  <a:cubicBezTo>
                    <a:pt x="3584789" y="1562823"/>
                    <a:pt x="3582691" y="1567887"/>
                    <a:pt x="3578958" y="1571620"/>
                  </a:cubicBezTo>
                  <a:cubicBezTo>
                    <a:pt x="3575224" y="1575354"/>
                    <a:pt x="3570160" y="1577451"/>
                    <a:pt x="3564880" y="1577451"/>
                  </a:cubicBezTo>
                  <a:lnTo>
                    <a:pt x="19908" y="1577451"/>
                  </a:lnTo>
                  <a:cubicBezTo>
                    <a:pt x="14628" y="1577451"/>
                    <a:pt x="9564" y="1575354"/>
                    <a:pt x="5831" y="1571620"/>
                  </a:cubicBezTo>
                  <a:cubicBezTo>
                    <a:pt x="2097" y="1567887"/>
                    <a:pt x="0" y="1562823"/>
                    <a:pt x="0" y="1557543"/>
                  </a:cubicBezTo>
                  <a:lnTo>
                    <a:pt x="0" y="19908"/>
                  </a:lnTo>
                  <a:cubicBezTo>
                    <a:pt x="0" y="14628"/>
                    <a:pt x="2097" y="9564"/>
                    <a:pt x="5831" y="5831"/>
                  </a:cubicBezTo>
                  <a:cubicBezTo>
                    <a:pt x="9564" y="2097"/>
                    <a:pt x="14628" y="0"/>
                    <a:pt x="19908" y="0"/>
                  </a:cubicBezTo>
                  <a:close/>
                </a:path>
              </a:pathLst>
            </a:custGeom>
            <a:grpFill/>
            <a:ln w="95250" cap="rnd">
              <a:solidFill>
                <a:schemeClr val="tx2"/>
              </a:solidFill>
              <a:prstDash val="solid"/>
              <a:round/>
            </a:ln>
          </p:spPr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D6661278-5EB5-0AD2-13C0-039A1136A8A8}"/>
                </a:ext>
              </a:extLst>
            </p:cNvPr>
            <p:cNvSpPr txBox="1"/>
            <p:nvPr/>
          </p:nvSpPr>
          <p:spPr>
            <a:xfrm>
              <a:off x="0" y="-38100"/>
              <a:ext cx="3584789" cy="1615551"/>
            </a:xfrm>
            <a:prstGeom prst="rect">
              <a:avLst/>
            </a:prstGeom>
            <a:grpFill/>
            <a:ln>
              <a:solidFill>
                <a:schemeClr val="tx2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B1D52D8-78D5-8149-A0CD-FB8E89E9F06D}"/>
              </a:ext>
            </a:extLst>
          </p:cNvPr>
          <p:cNvSpPr txBox="1"/>
          <p:nvPr/>
        </p:nvSpPr>
        <p:spPr>
          <a:xfrm>
            <a:off x="9945649" y="2926738"/>
            <a:ext cx="7310036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2400" b="1" dirty="0">
                <a:latin typeface="Nunito Bold" panose="020B0604020202020204" charset="0"/>
              </a:rPr>
              <a:t>Graf </a:t>
            </a:r>
            <a:r>
              <a:rPr lang="en-ID" sz="2400" b="1" dirty="0" err="1">
                <a:latin typeface="Nunito Bold" panose="020B0604020202020204" charset="0"/>
              </a:rPr>
              <a:t>ini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menggambarkan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perbedaan</a:t>
            </a:r>
            <a:r>
              <a:rPr lang="en-ID" sz="2400" b="1" dirty="0">
                <a:latin typeface="Nunito Bold" panose="020B0604020202020204" charset="0"/>
              </a:rPr>
              <a:t> rata-rata </a:t>
            </a:r>
            <a:r>
              <a:rPr lang="en-ID" sz="2400" b="1" dirty="0" err="1">
                <a:latin typeface="Nunito Bold" panose="020B0604020202020204" charset="0"/>
              </a:rPr>
              <a:t>gaji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antar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berbagai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sektor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pekerjaan</a:t>
            </a:r>
            <a:r>
              <a:rPr lang="en-ID" sz="2400" b="1" dirty="0">
                <a:latin typeface="Nunito Bold" panose="020B0604020202020204" charset="0"/>
              </a:rPr>
              <a:t>. </a:t>
            </a:r>
            <a:r>
              <a:rPr lang="en-ID" sz="2400" b="1" dirty="0" err="1">
                <a:latin typeface="Nunito Bold" panose="020B0604020202020204" charset="0"/>
              </a:rPr>
              <a:t>Setiap</a:t>
            </a:r>
            <a:r>
              <a:rPr lang="en-ID" sz="2400" b="1" dirty="0">
                <a:latin typeface="Nunito Bold" panose="020B0604020202020204" charset="0"/>
              </a:rPr>
              <a:t> node </a:t>
            </a:r>
            <a:r>
              <a:rPr lang="en-ID" sz="2400" b="1" dirty="0" err="1">
                <a:latin typeface="Nunito Bold" panose="020B0604020202020204" charset="0"/>
              </a:rPr>
              <a:t>mewakili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satu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sektor</a:t>
            </a:r>
            <a:r>
              <a:rPr lang="en-ID" sz="2400" b="1" dirty="0">
                <a:latin typeface="Nunito Bold" panose="020B0604020202020204" charset="0"/>
              </a:rPr>
              <a:t>, </a:t>
            </a:r>
            <a:r>
              <a:rPr lang="en-ID" sz="2400" b="1" dirty="0" err="1">
                <a:latin typeface="Nunito Bold" panose="020B0604020202020204" charset="0"/>
              </a:rPr>
              <a:t>sedangkan</a:t>
            </a:r>
            <a:r>
              <a:rPr lang="en-ID" sz="2400" b="1" dirty="0">
                <a:latin typeface="Nunito Bold" panose="020B0604020202020204" charset="0"/>
              </a:rPr>
              <a:t> garis </a:t>
            </a:r>
            <a:r>
              <a:rPr lang="en-ID" sz="2400" b="1" dirty="0" err="1">
                <a:latin typeface="Nunito Bold" panose="020B0604020202020204" charset="0"/>
              </a:rPr>
              <a:t>penghubung</a:t>
            </a:r>
            <a:r>
              <a:rPr lang="en-ID" sz="2400" b="1" dirty="0">
                <a:latin typeface="Nunito Bold" panose="020B0604020202020204" charset="0"/>
              </a:rPr>
              <a:t> (edge) </a:t>
            </a:r>
            <a:r>
              <a:rPr lang="en-ID" sz="2400" b="1" dirty="0" err="1">
                <a:latin typeface="Nunito Bold" panose="020B0604020202020204" charset="0"/>
              </a:rPr>
              <a:t>menunjukkan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selisih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gaji</a:t>
            </a:r>
            <a:r>
              <a:rPr lang="en-ID" sz="2400" b="1" dirty="0">
                <a:latin typeface="Nunito Bold" panose="020B0604020202020204" charset="0"/>
              </a:rPr>
              <a:t> rata-rata </a:t>
            </a:r>
            <a:r>
              <a:rPr lang="en-ID" sz="2400" b="1" dirty="0" err="1">
                <a:latin typeface="Nunito Bold" panose="020B0604020202020204" charset="0"/>
              </a:rPr>
              <a:t>antara</a:t>
            </a:r>
            <a:r>
              <a:rPr lang="en-ID" sz="2400" b="1" dirty="0">
                <a:latin typeface="Nunito Bold" panose="020B0604020202020204" charset="0"/>
              </a:rPr>
              <a:t> dua </a:t>
            </a:r>
            <a:r>
              <a:rPr lang="en-ID" sz="2400" b="1" dirty="0" err="1">
                <a:latin typeface="Nunito Bold" panose="020B0604020202020204" charset="0"/>
              </a:rPr>
              <a:t>sektor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tersebut</a:t>
            </a:r>
            <a:r>
              <a:rPr lang="en-ID" sz="2400" b="1" dirty="0">
                <a:latin typeface="Nunito Bold" panose="020B0604020202020204" charset="0"/>
              </a:rPr>
              <a:t>. </a:t>
            </a:r>
            <a:r>
              <a:rPr lang="en-ID" sz="2400" b="1" dirty="0" err="1">
                <a:latin typeface="Nunito Bold" panose="020B0604020202020204" charset="0"/>
              </a:rPr>
              <a:t>Semakin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besar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angka</a:t>
            </a:r>
            <a:r>
              <a:rPr lang="en-ID" sz="2400" b="1" dirty="0">
                <a:latin typeface="Nunito Bold" panose="020B0604020202020204" charset="0"/>
              </a:rPr>
              <a:t> pada garis, </a:t>
            </a:r>
            <a:r>
              <a:rPr lang="en-ID" sz="2400" b="1" dirty="0" err="1">
                <a:latin typeface="Nunito Bold" panose="020B0604020202020204" charset="0"/>
              </a:rPr>
              <a:t>semakin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besar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perbedaan</a:t>
            </a:r>
            <a:r>
              <a:rPr lang="en-ID" sz="2400" b="1" dirty="0">
                <a:latin typeface="Nunito Bold" panose="020B0604020202020204" charset="0"/>
              </a:rPr>
              <a:t> rata-rata </a:t>
            </a:r>
            <a:r>
              <a:rPr lang="en-ID" sz="2400" b="1" dirty="0" err="1">
                <a:latin typeface="Nunito Bold" panose="020B0604020202020204" charset="0"/>
              </a:rPr>
              <a:t>gaji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antara</a:t>
            </a:r>
            <a:r>
              <a:rPr lang="en-ID" sz="2400" b="1" dirty="0">
                <a:latin typeface="Nunito Bold" panose="020B0604020202020204" charset="0"/>
              </a:rPr>
              <a:t> dua </a:t>
            </a:r>
            <a:r>
              <a:rPr lang="en-ID" sz="2400" b="1" dirty="0" err="1">
                <a:latin typeface="Nunito Bold" panose="020B0604020202020204" charset="0"/>
              </a:rPr>
              <a:t>sektor</a:t>
            </a:r>
            <a:r>
              <a:rPr lang="en-ID" sz="2400" b="1" dirty="0">
                <a:latin typeface="Nunito Bold" panose="020B0604020202020204" charset="0"/>
              </a:rPr>
              <a:t>. Tenaga </a:t>
            </a:r>
            <a:r>
              <a:rPr lang="en-ID" sz="2400" b="1" dirty="0" err="1">
                <a:latin typeface="Nunito Bold" panose="020B0604020202020204" charset="0"/>
              </a:rPr>
              <a:t>Kepemimpinan</a:t>
            </a:r>
            <a:r>
              <a:rPr lang="en-ID" sz="2400" b="1" dirty="0">
                <a:latin typeface="Nunito Bold" panose="020B0604020202020204" charset="0"/>
              </a:rPr>
              <a:t>, Industri, dan Tata Usaha </a:t>
            </a:r>
            <a:r>
              <a:rPr lang="en-ID" sz="2400" b="1" dirty="0" err="1">
                <a:latin typeface="Nunito Bold" panose="020B0604020202020204" charset="0"/>
              </a:rPr>
              <a:t>cenderung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memiliki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gaji</a:t>
            </a:r>
            <a:r>
              <a:rPr lang="en-ID" sz="2400" b="1" dirty="0">
                <a:latin typeface="Nunito Bold" panose="020B0604020202020204" charset="0"/>
              </a:rPr>
              <a:t> rata-rata </a:t>
            </a:r>
            <a:r>
              <a:rPr lang="en-ID" sz="2400" b="1" dirty="0" err="1">
                <a:latin typeface="Nunito Bold" panose="020B0604020202020204" charset="0"/>
              </a:rPr>
              <a:t>lebih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tinggi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dibanding</a:t>
            </a:r>
            <a:r>
              <a:rPr lang="en-ID" sz="2400" b="1" dirty="0">
                <a:latin typeface="Nunito Bold" panose="020B0604020202020204" charset="0"/>
              </a:rPr>
              <a:t> Jasa, </a:t>
            </a:r>
            <a:r>
              <a:rPr lang="en-ID" sz="2400" b="1" dirty="0" err="1">
                <a:latin typeface="Nunito Bold" panose="020B0604020202020204" charset="0"/>
              </a:rPr>
              <a:t>Pertanian</a:t>
            </a:r>
            <a:r>
              <a:rPr lang="en-ID" sz="2400" b="1" dirty="0">
                <a:latin typeface="Nunito Bold" panose="020B0604020202020204" charset="0"/>
              </a:rPr>
              <a:t>, dan </a:t>
            </a:r>
            <a:r>
              <a:rPr lang="en-ID" sz="2400" b="1" dirty="0" err="1">
                <a:latin typeface="Nunito Bold" panose="020B0604020202020204" charset="0"/>
              </a:rPr>
              <a:t>Pekerja</a:t>
            </a:r>
            <a:r>
              <a:rPr lang="en-ID" sz="2400" b="1" dirty="0">
                <a:latin typeface="Nunito Bold" panose="020B0604020202020204" charset="0"/>
              </a:rPr>
              <a:t> Kasar </a:t>
            </a:r>
            <a:r>
              <a:rPr lang="en-ID" sz="2400" b="1" dirty="0" err="1">
                <a:latin typeface="Nunito Bold" panose="020B0604020202020204" charset="0"/>
              </a:rPr>
              <a:t>terlihat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memiliki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selisih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gaji</a:t>
            </a:r>
            <a:r>
              <a:rPr lang="en-ID" sz="2400" b="1" dirty="0">
                <a:latin typeface="Nunito Bold" panose="020B0604020202020204" charset="0"/>
              </a:rPr>
              <a:t> yang </a:t>
            </a:r>
            <a:r>
              <a:rPr lang="en-ID" sz="2400" b="1" dirty="0" err="1">
                <a:latin typeface="Nunito Bold" panose="020B0604020202020204" charset="0"/>
              </a:rPr>
              <a:t>cukup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besar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ketika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dibandingkan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dengan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sektor-sektor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seperti</a:t>
            </a:r>
            <a:r>
              <a:rPr lang="en-ID" sz="2400" b="1" dirty="0">
                <a:latin typeface="Nunito Bold" panose="020B0604020202020204" charset="0"/>
              </a:rPr>
              <a:t> Tenaga </a:t>
            </a:r>
            <a:r>
              <a:rPr lang="en-ID" sz="2400" b="1" dirty="0" err="1">
                <a:latin typeface="Nunito Bold" panose="020B0604020202020204" charset="0"/>
              </a:rPr>
              <a:t>Kepemimpinan</a:t>
            </a:r>
            <a:r>
              <a:rPr lang="en-ID" sz="2400" b="1" dirty="0">
                <a:latin typeface="Nunito Bold" panose="020B0604020202020204" charset="0"/>
              </a:rPr>
              <a:t> dan Industri. Sektor Jasa dan </a:t>
            </a:r>
            <a:r>
              <a:rPr lang="en-ID" sz="2400" b="1" dirty="0" err="1">
                <a:latin typeface="Nunito Bold" panose="020B0604020202020204" charset="0"/>
              </a:rPr>
              <a:t>Penjualan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memiliki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selisih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gaji</a:t>
            </a:r>
            <a:r>
              <a:rPr lang="en-ID" sz="2400" b="1" dirty="0">
                <a:latin typeface="Nunito Bold" panose="020B0604020202020204" charset="0"/>
              </a:rPr>
              <a:t> yang </a:t>
            </a:r>
            <a:r>
              <a:rPr lang="en-ID" sz="2400" b="1" dirty="0" err="1">
                <a:latin typeface="Nunito Bold" panose="020B0604020202020204" charset="0"/>
              </a:rPr>
              <a:t>lebih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kecil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dibandingkan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pasangan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sektor</a:t>
            </a:r>
            <a:r>
              <a:rPr lang="en-ID" sz="2400" b="1" dirty="0">
                <a:latin typeface="Nunito Bold" panose="020B0604020202020204" charset="0"/>
              </a:rPr>
              <a:t> lain, </a:t>
            </a:r>
            <a:r>
              <a:rPr lang="en-ID" sz="2400" b="1" dirty="0" err="1">
                <a:latin typeface="Nunito Bold" panose="020B0604020202020204" charset="0"/>
              </a:rPr>
              <a:t>menunjukkan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tingkat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pendapatan</a:t>
            </a:r>
            <a:r>
              <a:rPr lang="en-ID" sz="2400" b="1" dirty="0">
                <a:latin typeface="Nunito Bold" panose="020B0604020202020204" charset="0"/>
              </a:rPr>
              <a:t> yang </a:t>
            </a:r>
            <a:r>
              <a:rPr lang="en-ID" sz="2400" b="1" dirty="0" err="1">
                <a:latin typeface="Nunito Bold" panose="020B0604020202020204" charset="0"/>
              </a:rPr>
              <a:t>relatif</a:t>
            </a:r>
            <a:r>
              <a:rPr lang="en-ID" sz="2400" b="1" dirty="0">
                <a:latin typeface="Nunito Bold" panose="020B0604020202020204" charset="0"/>
              </a:rPr>
              <a:t> </a:t>
            </a:r>
            <a:r>
              <a:rPr lang="en-ID" sz="2400" b="1" dirty="0" err="1">
                <a:latin typeface="Nunito Bold" panose="020B0604020202020204" charset="0"/>
              </a:rPr>
              <a:t>mirip</a:t>
            </a:r>
            <a:r>
              <a:rPr lang="en-ID" sz="2400" b="1" dirty="0">
                <a:latin typeface="Nunito Bold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0532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8DE05-9828-3CF6-2804-607914DC5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D70ED82-466D-A5C9-9519-2DD6579D910F}"/>
              </a:ext>
            </a:extLst>
          </p:cNvPr>
          <p:cNvGrpSpPr/>
          <p:nvPr/>
        </p:nvGrpSpPr>
        <p:grpSpPr>
          <a:xfrm>
            <a:off x="0" y="0"/>
            <a:ext cx="18288000" cy="12211625"/>
            <a:chOff x="0" y="0"/>
            <a:chExt cx="24384000" cy="1628216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28E2AA3-C5E0-DF1B-203B-969C78C286BC}"/>
                </a:ext>
              </a:extLst>
            </p:cNvPr>
            <p:cNvSpPr/>
            <p:nvPr/>
          </p:nvSpPr>
          <p:spPr>
            <a:xfrm>
              <a:off x="0" y="0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BB22DB6-FBC9-489C-789E-FDF8AA51275A}"/>
                </a:ext>
              </a:extLst>
            </p:cNvPr>
            <p:cNvSpPr/>
            <p:nvPr/>
          </p:nvSpPr>
          <p:spPr>
            <a:xfrm>
              <a:off x="16227725" y="8115683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C348585-283F-0A22-7CC1-F0B4CB70112D}"/>
                </a:ext>
              </a:extLst>
            </p:cNvPr>
            <p:cNvSpPr/>
            <p:nvPr/>
          </p:nvSpPr>
          <p:spPr>
            <a:xfrm>
              <a:off x="16227725" y="0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4BAC3D6-3287-5A07-5268-6085B64CDBC6}"/>
                </a:ext>
              </a:extLst>
            </p:cNvPr>
            <p:cNvSpPr/>
            <p:nvPr/>
          </p:nvSpPr>
          <p:spPr>
            <a:xfrm>
              <a:off x="8112082" y="0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A2F5C70-E252-815F-9C23-3E815D091B59}"/>
                </a:ext>
              </a:extLst>
            </p:cNvPr>
            <p:cNvSpPr/>
            <p:nvPr/>
          </p:nvSpPr>
          <p:spPr>
            <a:xfrm>
              <a:off x="0" y="8115683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FA3769D-0DCA-3E57-6B70-ACF5859E6EB0}"/>
                </a:ext>
              </a:extLst>
            </p:cNvPr>
            <p:cNvSpPr/>
            <p:nvPr/>
          </p:nvSpPr>
          <p:spPr>
            <a:xfrm>
              <a:off x="8112082" y="8115683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E19845D4-312A-0A75-D2ED-F64A09AD9096}"/>
              </a:ext>
            </a:extLst>
          </p:cNvPr>
          <p:cNvSpPr/>
          <p:nvPr/>
        </p:nvSpPr>
        <p:spPr>
          <a:xfrm rot="5101567">
            <a:off x="-407190" y="6480693"/>
            <a:ext cx="4168567" cy="3788185"/>
          </a:xfrm>
          <a:custGeom>
            <a:avLst/>
            <a:gdLst/>
            <a:ahLst/>
            <a:cxnLst/>
            <a:rect l="l" t="t" r="r" b="b"/>
            <a:pathLst>
              <a:path w="4168567" h="3788185">
                <a:moveTo>
                  <a:pt x="0" y="0"/>
                </a:moveTo>
                <a:lnTo>
                  <a:pt x="4168567" y="0"/>
                </a:lnTo>
                <a:lnTo>
                  <a:pt x="4168567" y="3788186"/>
                </a:lnTo>
                <a:lnTo>
                  <a:pt x="0" y="3788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A700BC9-D98D-5531-46AE-9447447992B3}"/>
              </a:ext>
            </a:extLst>
          </p:cNvPr>
          <p:cNvGrpSpPr/>
          <p:nvPr/>
        </p:nvGrpSpPr>
        <p:grpSpPr>
          <a:xfrm>
            <a:off x="2555187" y="2360539"/>
            <a:ext cx="13610994" cy="5989385"/>
            <a:chOff x="0" y="0"/>
            <a:chExt cx="3584789" cy="1577451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5D21DEB-A468-8988-E678-47642D144F87}"/>
                </a:ext>
              </a:extLst>
            </p:cNvPr>
            <p:cNvSpPr/>
            <p:nvPr/>
          </p:nvSpPr>
          <p:spPr>
            <a:xfrm>
              <a:off x="0" y="0"/>
              <a:ext cx="3584789" cy="1577451"/>
            </a:xfrm>
            <a:custGeom>
              <a:avLst/>
              <a:gdLst/>
              <a:ahLst/>
              <a:cxnLst/>
              <a:rect l="l" t="t" r="r" b="b"/>
              <a:pathLst>
                <a:path w="3584789" h="1577451">
                  <a:moveTo>
                    <a:pt x="19908" y="0"/>
                  </a:moveTo>
                  <a:lnTo>
                    <a:pt x="3564880" y="0"/>
                  </a:lnTo>
                  <a:cubicBezTo>
                    <a:pt x="3570160" y="0"/>
                    <a:pt x="3575224" y="2097"/>
                    <a:pt x="3578958" y="5831"/>
                  </a:cubicBezTo>
                  <a:cubicBezTo>
                    <a:pt x="3582691" y="9564"/>
                    <a:pt x="3584789" y="14628"/>
                    <a:pt x="3584789" y="19908"/>
                  </a:cubicBezTo>
                  <a:lnTo>
                    <a:pt x="3584789" y="1557543"/>
                  </a:lnTo>
                  <a:cubicBezTo>
                    <a:pt x="3584789" y="1562823"/>
                    <a:pt x="3582691" y="1567887"/>
                    <a:pt x="3578958" y="1571620"/>
                  </a:cubicBezTo>
                  <a:cubicBezTo>
                    <a:pt x="3575224" y="1575354"/>
                    <a:pt x="3570160" y="1577451"/>
                    <a:pt x="3564880" y="1577451"/>
                  </a:cubicBezTo>
                  <a:lnTo>
                    <a:pt x="19908" y="1577451"/>
                  </a:lnTo>
                  <a:cubicBezTo>
                    <a:pt x="14628" y="1577451"/>
                    <a:pt x="9564" y="1575354"/>
                    <a:pt x="5831" y="1571620"/>
                  </a:cubicBezTo>
                  <a:cubicBezTo>
                    <a:pt x="2097" y="1567887"/>
                    <a:pt x="0" y="1562823"/>
                    <a:pt x="0" y="1557543"/>
                  </a:cubicBezTo>
                  <a:lnTo>
                    <a:pt x="0" y="19908"/>
                  </a:lnTo>
                  <a:cubicBezTo>
                    <a:pt x="0" y="14628"/>
                    <a:pt x="2097" y="9564"/>
                    <a:pt x="5831" y="5831"/>
                  </a:cubicBezTo>
                  <a:cubicBezTo>
                    <a:pt x="9564" y="2097"/>
                    <a:pt x="14628" y="0"/>
                    <a:pt x="19908" y="0"/>
                  </a:cubicBezTo>
                  <a:close/>
                </a:path>
              </a:pathLst>
            </a:custGeom>
            <a:solidFill>
              <a:srgbClr val="162C3B">
                <a:alpha val="1490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95ABE6AF-A98B-01A4-1AA0-AA44FF243BBC}"/>
                </a:ext>
              </a:extLst>
            </p:cNvPr>
            <p:cNvSpPr txBox="1"/>
            <p:nvPr/>
          </p:nvSpPr>
          <p:spPr>
            <a:xfrm>
              <a:off x="0" y="-38100"/>
              <a:ext cx="3584789" cy="1615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C83DEA42-1561-27DC-23FC-5BD31D47892E}"/>
              </a:ext>
            </a:extLst>
          </p:cNvPr>
          <p:cNvGrpSpPr/>
          <p:nvPr/>
        </p:nvGrpSpPr>
        <p:grpSpPr>
          <a:xfrm>
            <a:off x="433368" y="619695"/>
            <a:ext cx="17187357" cy="9104336"/>
            <a:chOff x="0" y="0"/>
            <a:chExt cx="3584789" cy="1577451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F7500A54-E765-657A-4580-2F374DD190AE}"/>
                </a:ext>
              </a:extLst>
            </p:cNvPr>
            <p:cNvSpPr/>
            <p:nvPr/>
          </p:nvSpPr>
          <p:spPr>
            <a:xfrm>
              <a:off x="0" y="0"/>
              <a:ext cx="3584789" cy="1577451"/>
            </a:xfrm>
            <a:custGeom>
              <a:avLst/>
              <a:gdLst/>
              <a:ahLst/>
              <a:cxnLst/>
              <a:rect l="l" t="t" r="r" b="b"/>
              <a:pathLst>
                <a:path w="3584789" h="1577451">
                  <a:moveTo>
                    <a:pt x="19908" y="0"/>
                  </a:moveTo>
                  <a:lnTo>
                    <a:pt x="3564880" y="0"/>
                  </a:lnTo>
                  <a:cubicBezTo>
                    <a:pt x="3570160" y="0"/>
                    <a:pt x="3575224" y="2097"/>
                    <a:pt x="3578958" y="5831"/>
                  </a:cubicBezTo>
                  <a:cubicBezTo>
                    <a:pt x="3582691" y="9564"/>
                    <a:pt x="3584789" y="14628"/>
                    <a:pt x="3584789" y="19908"/>
                  </a:cubicBezTo>
                  <a:lnTo>
                    <a:pt x="3584789" y="1557543"/>
                  </a:lnTo>
                  <a:cubicBezTo>
                    <a:pt x="3584789" y="1562823"/>
                    <a:pt x="3582691" y="1567887"/>
                    <a:pt x="3578958" y="1571620"/>
                  </a:cubicBezTo>
                  <a:cubicBezTo>
                    <a:pt x="3575224" y="1575354"/>
                    <a:pt x="3570160" y="1577451"/>
                    <a:pt x="3564880" y="1577451"/>
                  </a:cubicBezTo>
                  <a:lnTo>
                    <a:pt x="19908" y="1577451"/>
                  </a:lnTo>
                  <a:cubicBezTo>
                    <a:pt x="14628" y="1577451"/>
                    <a:pt x="9564" y="1575354"/>
                    <a:pt x="5831" y="1571620"/>
                  </a:cubicBezTo>
                  <a:cubicBezTo>
                    <a:pt x="2097" y="1567887"/>
                    <a:pt x="0" y="1562823"/>
                    <a:pt x="0" y="1557543"/>
                  </a:cubicBezTo>
                  <a:lnTo>
                    <a:pt x="0" y="19908"/>
                  </a:lnTo>
                  <a:cubicBezTo>
                    <a:pt x="0" y="14628"/>
                    <a:pt x="2097" y="9564"/>
                    <a:pt x="5831" y="5831"/>
                  </a:cubicBezTo>
                  <a:cubicBezTo>
                    <a:pt x="9564" y="2097"/>
                    <a:pt x="14628" y="0"/>
                    <a:pt x="19908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7922ACA4-8EF9-8211-756C-03A6DEF18451}"/>
                </a:ext>
              </a:extLst>
            </p:cNvPr>
            <p:cNvSpPr txBox="1"/>
            <p:nvPr/>
          </p:nvSpPr>
          <p:spPr>
            <a:xfrm>
              <a:off x="0" y="-38100"/>
              <a:ext cx="3584789" cy="1615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3B54EAD8-EFCA-E42E-593B-D37A74F6F72D}"/>
              </a:ext>
            </a:extLst>
          </p:cNvPr>
          <p:cNvSpPr/>
          <p:nvPr/>
        </p:nvSpPr>
        <p:spPr>
          <a:xfrm>
            <a:off x="-1249927" y="7588174"/>
            <a:ext cx="4291624" cy="3379654"/>
          </a:xfrm>
          <a:custGeom>
            <a:avLst/>
            <a:gdLst/>
            <a:ahLst/>
            <a:cxnLst/>
            <a:rect l="l" t="t" r="r" b="b"/>
            <a:pathLst>
              <a:path w="4291624" h="3379654">
                <a:moveTo>
                  <a:pt x="0" y="0"/>
                </a:moveTo>
                <a:lnTo>
                  <a:pt x="4291624" y="0"/>
                </a:lnTo>
                <a:lnTo>
                  <a:pt x="4291624" y="3379654"/>
                </a:lnTo>
                <a:lnTo>
                  <a:pt x="0" y="33796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B75680D3-71CF-52D6-EDCA-DF7419E6A24F}"/>
              </a:ext>
            </a:extLst>
          </p:cNvPr>
          <p:cNvSpPr/>
          <p:nvPr/>
        </p:nvSpPr>
        <p:spPr>
          <a:xfrm>
            <a:off x="-131275" y="-318078"/>
            <a:ext cx="7315200" cy="2395728"/>
          </a:xfrm>
          <a:custGeom>
            <a:avLst/>
            <a:gdLst/>
            <a:ahLst/>
            <a:cxnLst/>
            <a:rect l="l" t="t" r="r" b="b"/>
            <a:pathLst>
              <a:path w="7315200" h="2395728">
                <a:moveTo>
                  <a:pt x="0" y="0"/>
                </a:moveTo>
                <a:lnTo>
                  <a:pt x="7315200" y="0"/>
                </a:lnTo>
                <a:lnTo>
                  <a:pt x="7315200" y="2395728"/>
                </a:lnTo>
                <a:lnTo>
                  <a:pt x="0" y="23957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62C32610-F5F8-1668-613F-B9E1066E3298}"/>
              </a:ext>
            </a:extLst>
          </p:cNvPr>
          <p:cNvSpPr/>
          <p:nvPr/>
        </p:nvSpPr>
        <p:spPr>
          <a:xfrm rot="2952126">
            <a:off x="16185277" y="817610"/>
            <a:ext cx="1766828" cy="1303035"/>
          </a:xfrm>
          <a:custGeom>
            <a:avLst/>
            <a:gdLst/>
            <a:ahLst/>
            <a:cxnLst/>
            <a:rect l="l" t="t" r="r" b="b"/>
            <a:pathLst>
              <a:path w="1766828" h="1303035">
                <a:moveTo>
                  <a:pt x="0" y="0"/>
                </a:moveTo>
                <a:lnTo>
                  <a:pt x="1766827" y="0"/>
                </a:lnTo>
                <a:lnTo>
                  <a:pt x="1766827" y="1303036"/>
                </a:lnTo>
                <a:lnTo>
                  <a:pt x="0" y="13030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23EF055-FFC0-1B11-C1C6-FB73C738EDC6}"/>
              </a:ext>
            </a:extLst>
          </p:cNvPr>
          <p:cNvSpPr txBox="1"/>
          <p:nvPr/>
        </p:nvSpPr>
        <p:spPr>
          <a:xfrm>
            <a:off x="1034332" y="631669"/>
            <a:ext cx="5616233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8"/>
              </a:lnSpc>
            </a:pPr>
            <a:r>
              <a:rPr lang="en-US" sz="4000" spc="-163" dirty="0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Graf </a:t>
            </a:r>
            <a:r>
              <a:rPr lang="en-US" sz="4000" spc="-163" dirty="0" err="1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Gaji</a:t>
            </a:r>
            <a:r>
              <a:rPr lang="en-US" sz="4000" spc="-163" dirty="0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 Antar </a:t>
            </a:r>
            <a:r>
              <a:rPr lang="en-US" sz="4000" spc="-163" dirty="0" err="1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Provinsi</a:t>
            </a:r>
            <a:endParaRPr lang="en-US" sz="4000" spc="-163" dirty="0">
              <a:solidFill>
                <a:srgbClr val="162C3B"/>
              </a:solidFill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8D251A0-2DED-EB39-04BD-9D9A7FC7C050}"/>
              </a:ext>
            </a:extLst>
          </p:cNvPr>
          <p:cNvSpPr txBox="1"/>
          <p:nvPr/>
        </p:nvSpPr>
        <p:spPr>
          <a:xfrm>
            <a:off x="911005" y="2010851"/>
            <a:ext cx="7020894" cy="53899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043"/>
              </a:lnSpc>
            </a:pP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Grafik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ini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menunjukkan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hubungan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antar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provinsi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berdasarkan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kemiripan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gaji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sektor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industri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. Garis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tebal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pada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grafik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adalah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hasil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MST,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yaitu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pasangan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provinsi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dengan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selisih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gaji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paling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kecil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. Dari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pola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yang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terlihat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,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banyak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provinsi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memiliki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gaji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yang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mirip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,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terutama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di wilayah Sulawesi, Kalimantan, dan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sebagian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Sumatera.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Sementara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provinsi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seperti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DKI Jakarta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tampak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berbeda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karena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gajinya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jauh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lebih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tinggi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dibanding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provinsi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lain.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Secara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keseluruhan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,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grafik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ini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menggambarkan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bahwa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gaji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industri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antar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provinsi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bervariasi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,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namun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terbentuk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kelompok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provinsi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dengan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tingkat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gaji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 yang </a:t>
            </a:r>
            <a:r>
              <a:rPr lang="en-US" sz="2600" b="1" spc="-35" dirty="0" err="1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berdekatan</a:t>
            </a:r>
            <a:r>
              <a:rPr lang="en-US" sz="2600" b="1" spc="-35" dirty="0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A587BB7-744F-6A77-E49F-24D34EC84B6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7004" y="2313929"/>
            <a:ext cx="8893222" cy="5954290"/>
          </a:xfrm>
          <a:prstGeom prst="rect">
            <a:avLst/>
          </a:prstGeom>
        </p:spPr>
      </p:pic>
      <p:sp>
        <p:nvSpPr>
          <p:cNvPr id="27" name="Freeform 17">
            <a:extLst>
              <a:ext uri="{FF2B5EF4-FFF2-40B4-BE49-F238E27FC236}">
                <a16:creationId xmlns:a16="http://schemas.microsoft.com/office/drawing/2014/main" id="{03C19083-C72E-D6A2-96E1-D511C404F0C3}"/>
              </a:ext>
            </a:extLst>
          </p:cNvPr>
          <p:cNvSpPr/>
          <p:nvPr/>
        </p:nvSpPr>
        <p:spPr>
          <a:xfrm rot="932537" flipH="1">
            <a:off x="15974797" y="8444834"/>
            <a:ext cx="2350857" cy="1851403"/>
          </a:xfrm>
          <a:custGeom>
            <a:avLst/>
            <a:gdLst/>
            <a:ahLst/>
            <a:cxnLst/>
            <a:rect l="l" t="t" r="r" b="b"/>
            <a:pathLst>
              <a:path w="1401337" h="1177123">
                <a:moveTo>
                  <a:pt x="0" y="0"/>
                </a:moveTo>
                <a:lnTo>
                  <a:pt x="1401336" y="0"/>
                </a:lnTo>
                <a:lnTo>
                  <a:pt x="1401336" y="1177123"/>
                </a:lnTo>
                <a:lnTo>
                  <a:pt x="0" y="117712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750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A3C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1584CE-5D4D-D1B7-8228-C4B40DA14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6A933E4-E42C-EA56-8CB4-284B2532E5DE}"/>
              </a:ext>
            </a:extLst>
          </p:cNvPr>
          <p:cNvGrpSpPr/>
          <p:nvPr/>
        </p:nvGrpSpPr>
        <p:grpSpPr>
          <a:xfrm>
            <a:off x="-1246654" y="0"/>
            <a:ext cx="20781307" cy="10403658"/>
            <a:chOff x="0" y="0"/>
            <a:chExt cx="27708410" cy="1387154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DF01552-A4C5-ACBF-DCCF-9B83907A10C7}"/>
                </a:ext>
              </a:extLst>
            </p:cNvPr>
            <p:cNvSpPr/>
            <p:nvPr/>
          </p:nvSpPr>
          <p:spPr>
            <a:xfrm>
              <a:off x="13854205" y="0"/>
              <a:ext cx="13854205" cy="13871544"/>
            </a:xfrm>
            <a:custGeom>
              <a:avLst/>
              <a:gdLst/>
              <a:ahLst/>
              <a:cxnLst/>
              <a:rect l="l" t="t" r="r" b="b"/>
              <a:pathLst>
                <a:path w="13854205" h="13871544">
                  <a:moveTo>
                    <a:pt x="0" y="0"/>
                  </a:moveTo>
                  <a:lnTo>
                    <a:pt x="13854205" y="0"/>
                  </a:lnTo>
                  <a:lnTo>
                    <a:pt x="13854205" y="13871544"/>
                  </a:lnTo>
                  <a:lnTo>
                    <a:pt x="0" y="13871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E22EBB6-E643-BFF2-6CE6-3DBE4715E56A}"/>
                </a:ext>
              </a:extLst>
            </p:cNvPr>
            <p:cNvSpPr/>
            <p:nvPr/>
          </p:nvSpPr>
          <p:spPr>
            <a:xfrm>
              <a:off x="0" y="0"/>
              <a:ext cx="13854205" cy="13871544"/>
            </a:xfrm>
            <a:custGeom>
              <a:avLst/>
              <a:gdLst/>
              <a:ahLst/>
              <a:cxnLst/>
              <a:rect l="l" t="t" r="r" b="b"/>
              <a:pathLst>
                <a:path w="13854205" h="13871544">
                  <a:moveTo>
                    <a:pt x="0" y="0"/>
                  </a:moveTo>
                  <a:lnTo>
                    <a:pt x="13854205" y="0"/>
                  </a:lnTo>
                  <a:lnTo>
                    <a:pt x="13854205" y="13871544"/>
                  </a:lnTo>
                  <a:lnTo>
                    <a:pt x="0" y="13871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A3F0880-6FF3-E89F-2EBE-9D60D53A1A1A}"/>
              </a:ext>
            </a:extLst>
          </p:cNvPr>
          <p:cNvGrpSpPr/>
          <p:nvPr/>
        </p:nvGrpSpPr>
        <p:grpSpPr>
          <a:xfrm>
            <a:off x="381000" y="647700"/>
            <a:ext cx="17373600" cy="9179159"/>
            <a:chOff x="0" y="0"/>
            <a:chExt cx="3584789" cy="157745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B1BD659-1E8A-7393-316E-67FE6E6A3623}"/>
                </a:ext>
              </a:extLst>
            </p:cNvPr>
            <p:cNvSpPr/>
            <p:nvPr/>
          </p:nvSpPr>
          <p:spPr>
            <a:xfrm>
              <a:off x="0" y="0"/>
              <a:ext cx="3584789" cy="1577451"/>
            </a:xfrm>
            <a:custGeom>
              <a:avLst/>
              <a:gdLst/>
              <a:ahLst/>
              <a:cxnLst/>
              <a:rect l="l" t="t" r="r" b="b"/>
              <a:pathLst>
                <a:path w="3584789" h="1577451">
                  <a:moveTo>
                    <a:pt x="19908" y="0"/>
                  </a:moveTo>
                  <a:lnTo>
                    <a:pt x="3564880" y="0"/>
                  </a:lnTo>
                  <a:cubicBezTo>
                    <a:pt x="3570160" y="0"/>
                    <a:pt x="3575224" y="2097"/>
                    <a:pt x="3578958" y="5831"/>
                  </a:cubicBezTo>
                  <a:cubicBezTo>
                    <a:pt x="3582691" y="9564"/>
                    <a:pt x="3584789" y="14628"/>
                    <a:pt x="3584789" y="19908"/>
                  </a:cubicBezTo>
                  <a:lnTo>
                    <a:pt x="3584789" y="1557543"/>
                  </a:lnTo>
                  <a:cubicBezTo>
                    <a:pt x="3584789" y="1562823"/>
                    <a:pt x="3582691" y="1567887"/>
                    <a:pt x="3578958" y="1571620"/>
                  </a:cubicBezTo>
                  <a:cubicBezTo>
                    <a:pt x="3575224" y="1575354"/>
                    <a:pt x="3570160" y="1577451"/>
                    <a:pt x="3564880" y="1577451"/>
                  </a:cubicBezTo>
                  <a:lnTo>
                    <a:pt x="19908" y="1577451"/>
                  </a:lnTo>
                  <a:cubicBezTo>
                    <a:pt x="14628" y="1577451"/>
                    <a:pt x="9564" y="1575354"/>
                    <a:pt x="5831" y="1571620"/>
                  </a:cubicBezTo>
                  <a:cubicBezTo>
                    <a:pt x="2097" y="1567887"/>
                    <a:pt x="0" y="1562823"/>
                    <a:pt x="0" y="1557543"/>
                  </a:cubicBezTo>
                  <a:lnTo>
                    <a:pt x="0" y="19908"/>
                  </a:lnTo>
                  <a:cubicBezTo>
                    <a:pt x="0" y="14628"/>
                    <a:pt x="2097" y="9564"/>
                    <a:pt x="5831" y="5831"/>
                  </a:cubicBezTo>
                  <a:cubicBezTo>
                    <a:pt x="9564" y="2097"/>
                    <a:pt x="14628" y="0"/>
                    <a:pt x="19908" y="0"/>
                  </a:cubicBezTo>
                  <a:close/>
                </a:path>
              </a:pathLst>
            </a:custGeom>
            <a:solidFill>
              <a:srgbClr val="162C3B">
                <a:alpha val="1490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08770A2-3048-8CA4-9C67-8FDA58B71CBE}"/>
                </a:ext>
              </a:extLst>
            </p:cNvPr>
            <p:cNvSpPr txBox="1"/>
            <p:nvPr/>
          </p:nvSpPr>
          <p:spPr>
            <a:xfrm>
              <a:off x="0" y="-38100"/>
              <a:ext cx="3584789" cy="1615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546FA35D-A5A5-3B0C-9FFF-1169FA66D2E2}"/>
              </a:ext>
            </a:extLst>
          </p:cNvPr>
          <p:cNvSpPr/>
          <p:nvPr/>
        </p:nvSpPr>
        <p:spPr>
          <a:xfrm>
            <a:off x="15162006" y="6800159"/>
            <a:ext cx="4225164" cy="4494855"/>
          </a:xfrm>
          <a:custGeom>
            <a:avLst/>
            <a:gdLst/>
            <a:ahLst/>
            <a:cxnLst/>
            <a:rect l="l" t="t" r="r" b="b"/>
            <a:pathLst>
              <a:path w="4225164" h="4494855">
                <a:moveTo>
                  <a:pt x="0" y="0"/>
                </a:moveTo>
                <a:lnTo>
                  <a:pt x="4225163" y="0"/>
                </a:lnTo>
                <a:lnTo>
                  <a:pt x="4225163" y="4494855"/>
                </a:lnTo>
                <a:lnTo>
                  <a:pt x="0" y="4494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E475060D-6459-8E8E-77FF-35125A5DEEF4}"/>
              </a:ext>
            </a:extLst>
          </p:cNvPr>
          <p:cNvSpPr/>
          <p:nvPr/>
        </p:nvSpPr>
        <p:spPr>
          <a:xfrm>
            <a:off x="22105" y="255527"/>
            <a:ext cx="6341793" cy="1894611"/>
          </a:xfrm>
          <a:custGeom>
            <a:avLst/>
            <a:gdLst/>
            <a:ahLst/>
            <a:cxnLst/>
            <a:rect l="l" t="t" r="r" b="b"/>
            <a:pathLst>
              <a:path w="6341793" h="1894611">
                <a:moveTo>
                  <a:pt x="0" y="0"/>
                </a:moveTo>
                <a:lnTo>
                  <a:pt x="6341792" y="0"/>
                </a:lnTo>
                <a:lnTo>
                  <a:pt x="6341792" y="1894610"/>
                </a:lnTo>
                <a:lnTo>
                  <a:pt x="0" y="18946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011CA7D0-9EF7-250D-8D57-5717281DDF84}"/>
              </a:ext>
            </a:extLst>
          </p:cNvPr>
          <p:cNvSpPr/>
          <p:nvPr/>
        </p:nvSpPr>
        <p:spPr>
          <a:xfrm>
            <a:off x="16181335" y="-49120"/>
            <a:ext cx="2046312" cy="1739365"/>
          </a:xfrm>
          <a:custGeom>
            <a:avLst/>
            <a:gdLst/>
            <a:ahLst/>
            <a:cxnLst/>
            <a:rect l="l" t="t" r="r" b="b"/>
            <a:pathLst>
              <a:path w="2046312" h="1739365">
                <a:moveTo>
                  <a:pt x="0" y="0"/>
                </a:moveTo>
                <a:lnTo>
                  <a:pt x="2046312" y="0"/>
                </a:lnTo>
                <a:lnTo>
                  <a:pt x="2046312" y="1739365"/>
                </a:lnTo>
                <a:lnTo>
                  <a:pt x="0" y="17393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64E04B9-65F3-C3AA-75AD-6D4B9E13456B}"/>
              </a:ext>
            </a:extLst>
          </p:cNvPr>
          <p:cNvSpPr txBox="1"/>
          <p:nvPr/>
        </p:nvSpPr>
        <p:spPr>
          <a:xfrm>
            <a:off x="1380448" y="486433"/>
            <a:ext cx="5136449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95"/>
              </a:lnSpc>
            </a:pPr>
            <a:r>
              <a:rPr lang="en-US" sz="4200" spc="-163" dirty="0" err="1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Kombinatorika</a:t>
            </a:r>
            <a:endParaRPr lang="en-US" sz="4200" spc="-163" dirty="0">
              <a:solidFill>
                <a:srgbClr val="162C3B"/>
              </a:solidFill>
              <a:latin typeface="Baloo"/>
              <a:ea typeface="Baloo"/>
              <a:cs typeface="Baloo"/>
              <a:sym typeface="Baloo"/>
            </a:endParaRPr>
          </a:p>
        </p:txBody>
      </p:sp>
      <p:grpSp>
        <p:nvGrpSpPr>
          <p:cNvPr id="26" name="Group 8">
            <a:extLst>
              <a:ext uri="{FF2B5EF4-FFF2-40B4-BE49-F238E27FC236}">
                <a16:creationId xmlns:a16="http://schemas.microsoft.com/office/drawing/2014/main" id="{8EC10680-E3F4-8DA3-E0FB-6C9BE0986652}"/>
              </a:ext>
            </a:extLst>
          </p:cNvPr>
          <p:cNvGrpSpPr/>
          <p:nvPr/>
        </p:nvGrpSpPr>
        <p:grpSpPr>
          <a:xfrm>
            <a:off x="2076843" y="4028060"/>
            <a:ext cx="12031692" cy="1971865"/>
            <a:chOff x="0" y="-38100"/>
            <a:chExt cx="3584789" cy="161555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B7DF3091-8253-1914-FDA8-080DCA4E84C8}"/>
                </a:ext>
              </a:extLst>
            </p:cNvPr>
            <p:cNvSpPr/>
            <p:nvPr/>
          </p:nvSpPr>
          <p:spPr>
            <a:xfrm>
              <a:off x="0" y="0"/>
              <a:ext cx="3584789" cy="1577451"/>
            </a:xfrm>
            <a:custGeom>
              <a:avLst/>
              <a:gdLst/>
              <a:ahLst/>
              <a:cxnLst/>
              <a:rect l="l" t="t" r="r" b="b"/>
              <a:pathLst>
                <a:path w="3584789" h="1577451">
                  <a:moveTo>
                    <a:pt x="19908" y="0"/>
                  </a:moveTo>
                  <a:lnTo>
                    <a:pt x="3564880" y="0"/>
                  </a:lnTo>
                  <a:cubicBezTo>
                    <a:pt x="3570160" y="0"/>
                    <a:pt x="3575224" y="2097"/>
                    <a:pt x="3578958" y="5831"/>
                  </a:cubicBezTo>
                  <a:cubicBezTo>
                    <a:pt x="3582691" y="9564"/>
                    <a:pt x="3584789" y="14628"/>
                    <a:pt x="3584789" y="19908"/>
                  </a:cubicBezTo>
                  <a:lnTo>
                    <a:pt x="3584789" y="1557543"/>
                  </a:lnTo>
                  <a:cubicBezTo>
                    <a:pt x="3584789" y="1562823"/>
                    <a:pt x="3582691" y="1567887"/>
                    <a:pt x="3578958" y="1571620"/>
                  </a:cubicBezTo>
                  <a:cubicBezTo>
                    <a:pt x="3575224" y="1575354"/>
                    <a:pt x="3570160" y="1577451"/>
                    <a:pt x="3564880" y="1577451"/>
                  </a:cubicBezTo>
                  <a:lnTo>
                    <a:pt x="19908" y="1577451"/>
                  </a:lnTo>
                  <a:cubicBezTo>
                    <a:pt x="14628" y="1577451"/>
                    <a:pt x="9564" y="1575354"/>
                    <a:pt x="5831" y="1571620"/>
                  </a:cubicBezTo>
                  <a:cubicBezTo>
                    <a:pt x="2097" y="1567887"/>
                    <a:pt x="0" y="1562823"/>
                    <a:pt x="0" y="1557543"/>
                  </a:cubicBezTo>
                  <a:lnTo>
                    <a:pt x="0" y="19908"/>
                  </a:lnTo>
                  <a:cubicBezTo>
                    <a:pt x="0" y="14628"/>
                    <a:pt x="2097" y="9564"/>
                    <a:pt x="5831" y="5831"/>
                  </a:cubicBezTo>
                  <a:cubicBezTo>
                    <a:pt x="9564" y="2097"/>
                    <a:pt x="14628" y="0"/>
                    <a:pt x="19908" y="0"/>
                  </a:cubicBezTo>
                  <a:close/>
                </a:path>
              </a:pathLst>
            </a:custGeom>
            <a:grpFill/>
            <a:ln w="95250" cap="rnd">
              <a:solidFill>
                <a:schemeClr val="tx2"/>
              </a:solidFill>
              <a:prstDash val="solid"/>
              <a:round/>
            </a:ln>
          </p:spPr>
        </p:sp>
        <p:sp>
          <p:nvSpPr>
            <p:cNvPr id="28" name="TextBox 10">
              <a:extLst>
                <a:ext uri="{FF2B5EF4-FFF2-40B4-BE49-F238E27FC236}">
                  <a16:creationId xmlns:a16="http://schemas.microsoft.com/office/drawing/2014/main" id="{024ABB13-87BE-DBFF-7FCF-49ACBF06AB4B}"/>
                </a:ext>
              </a:extLst>
            </p:cNvPr>
            <p:cNvSpPr txBox="1"/>
            <p:nvPr/>
          </p:nvSpPr>
          <p:spPr>
            <a:xfrm>
              <a:off x="0" y="-38100"/>
              <a:ext cx="3584789" cy="1615551"/>
            </a:xfrm>
            <a:prstGeom prst="rect">
              <a:avLst/>
            </a:prstGeom>
            <a:grpFill/>
            <a:ln>
              <a:solidFill>
                <a:schemeClr val="tx2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31" name="Group 8">
            <a:extLst>
              <a:ext uri="{FF2B5EF4-FFF2-40B4-BE49-F238E27FC236}">
                <a16:creationId xmlns:a16="http://schemas.microsoft.com/office/drawing/2014/main" id="{2B7D1D10-4F23-8381-D40B-D9ED5BCDB81F}"/>
              </a:ext>
            </a:extLst>
          </p:cNvPr>
          <p:cNvGrpSpPr/>
          <p:nvPr/>
        </p:nvGrpSpPr>
        <p:grpSpPr>
          <a:xfrm>
            <a:off x="630975" y="7111297"/>
            <a:ext cx="9661123" cy="2472490"/>
            <a:chOff x="0" y="-38100"/>
            <a:chExt cx="3584789" cy="161555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2" name="Freeform 9">
              <a:extLst>
                <a:ext uri="{FF2B5EF4-FFF2-40B4-BE49-F238E27FC236}">
                  <a16:creationId xmlns:a16="http://schemas.microsoft.com/office/drawing/2014/main" id="{22E37FDD-6177-790E-D609-1C619F2A07D0}"/>
                </a:ext>
              </a:extLst>
            </p:cNvPr>
            <p:cNvSpPr/>
            <p:nvPr/>
          </p:nvSpPr>
          <p:spPr>
            <a:xfrm>
              <a:off x="0" y="0"/>
              <a:ext cx="3584789" cy="1577451"/>
            </a:xfrm>
            <a:custGeom>
              <a:avLst/>
              <a:gdLst/>
              <a:ahLst/>
              <a:cxnLst/>
              <a:rect l="l" t="t" r="r" b="b"/>
              <a:pathLst>
                <a:path w="3584789" h="1577451">
                  <a:moveTo>
                    <a:pt x="19908" y="0"/>
                  </a:moveTo>
                  <a:lnTo>
                    <a:pt x="3564880" y="0"/>
                  </a:lnTo>
                  <a:cubicBezTo>
                    <a:pt x="3570160" y="0"/>
                    <a:pt x="3575224" y="2097"/>
                    <a:pt x="3578958" y="5831"/>
                  </a:cubicBezTo>
                  <a:cubicBezTo>
                    <a:pt x="3582691" y="9564"/>
                    <a:pt x="3584789" y="14628"/>
                    <a:pt x="3584789" y="19908"/>
                  </a:cubicBezTo>
                  <a:lnTo>
                    <a:pt x="3584789" y="1557543"/>
                  </a:lnTo>
                  <a:cubicBezTo>
                    <a:pt x="3584789" y="1562823"/>
                    <a:pt x="3582691" y="1567887"/>
                    <a:pt x="3578958" y="1571620"/>
                  </a:cubicBezTo>
                  <a:cubicBezTo>
                    <a:pt x="3575224" y="1575354"/>
                    <a:pt x="3570160" y="1577451"/>
                    <a:pt x="3564880" y="1577451"/>
                  </a:cubicBezTo>
                  <a:lnTo>
                    <a:pt x="19908" y="1577451"/>
                  </a:lnTo>
                  <a:cubicBezTo>
                    <a:pt x="14628" y="1577451"/>
                    <a:pt x="9564" y="1575354"/>
                    <a:pt x="5831" y="1571620"/>
                  </a:cubicBezTo>
                  <a:cubicBezTo>
                    <a:pt x="2097" y="1567887"/>
                    <a:pt x="0" y="1562823"/>
                    <a:pt x="0" y="1557543"/>
                  </a:cubicBezTo>
                  <a:lnTo>
                    <a:pt x="0" y="19908"/>
                  </a:lnTo>
                  <a:cubicBezTo>
                    <a:pt x="0" y="14628"/>
                    <a:pt x="2097" y="9564"/>
                    <a:pt x="5831" y="5831"/>
                  </a:cubicBezTo>
                  <a:cubicBezTo>
                    <a:pt x="9564" y="2097"/>
                    <a:pt x="14628" y="0"/>
                    <a:pt x="19908" y="0"/>
                  </a:cubicBezTo>
                  <a:close/>
                </a:path>
              </a:pathLst>
            </a:custGeom>
            <a:grpFill/>
            <a:ln w="95250" cap="rnd">
              <a:solidFill>
                <a:schemeClr val="tx2"/>
              </a:solidFill>
              <a:prstDash val="solid"/>
              <a:round/>
            </a:ln>
          </p:spPr>
        </p:sp>
        <p:sp>
          <p:nvSpPr>
            <p:cNvPr id="33" name="TextBox 10">
              <a:extLst>
                <a:ext uri="{FF2B5EF4-FFF2-40B4-BE49-F238E27FC236}">
                  <a16:creationId xmlns:a16="http://schemas.microsoft.com/office/drawing/2014/main" id="{BE5A7C73-3D4B-78E0-D476-D2BD43596208}"/>
                </a:ext>
              </a:extLst>
            </p:cNvPr>
            <p:cNvSpPr txBox="1"/>
            <p:nvPr/>
          </p:nvSpPr>
          <p:spPr>
            <a:xfrm>
              <a:off x="0" y="-38100"/>
              <a:ext cx="3584789" cy="1615551"/>
            </a:xfrm>
            <a:prstGeom prst="rect">
              <a:avLst/>
            </a:prstGeom>
            <a:grpFill/>
            <a:ln>
              <a:solidFill>
                <a:schemeClr val="tx2"/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10909E9E-1225-7824-D651-E0A2150734B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679" y="1662797"/>
            <a:ext cx="5431714" cy="20607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196C10-5272-1765-6CE5-D42EABD5E5C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915" y="1711382"/>
            <a:ext cx="5902956" cy="19718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7D5733-E644-B67B-AD3C-A2694730B2C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993" y="6506889"/>
            <a:ext cx="6944581" cy="192536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D576CF1-B403-5F07-1EA3-3F7E8BC40506}"/>
              </a:ext>
            </a:extLst>
          </p:cNvPr>
          <p:cNvSpPr txBox="1"/>
          <p:nvPr/>
        </p:nvSpPr>
        <p:spPr>
          <a:xfrm>
            <a:off x="2436462" y="4144382"/>
            <a:ext cx="113026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b="1" dirty="0" err="1">
                <a:latin typeface="Nunito Bold" panose="020B0604020202020204" charset="0"/>
              </a:rPr>
              <a:t>Perhitungan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kombinasi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provinsi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menggunakan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nCr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dilakukan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untuk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membentuk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semua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kelompok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provinsi</a:t>
            </a:r>
            <a:r>
              <a:rPr lang="en-ID" b="1" dirty="0">
                <a:latin typeface="Nunito Bold" panose="020B0604020202020204" charset="0"/>
              </a:rPr>
              <a:t> yang </a:t>
            </a:r>
            <a:r>
              <a:rPr lang="en-ID" b="1" dirty="0" err="1">
                <a:latin typeface="Nunito Bold" panose="020B0604020202020204" charset="0"/>
              </a:rPr>
              <a:t>diperlukan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dalam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analisis</a:t>
            </a:r>
            <a:r>
              <a:rPr lang="en-ID" b="1" dirty="0">
                <a:latin typeface="Nunito Bold" panose="020B0604020202020204" charset="0"/>
              </a:rPr>
              <a:t>. </a:t>
            </a:r>
            <a:r>
              <a:rPr lang="en-ID" b="1" dirty="0" err="1">
                <a:latin typeface="Nunito Bold" panose="020B0604020202020204" charset="0"/>
              </a:rPr>
              <a:t>Untuk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nCr</a:t>
            </a:r>
            <a:r>
              <a:rPr lang="en-ID" b="1" dirty="0">
                <a:latin typeface="Nunito Bold" panose="020B0604020202020204" charset="0"/>
              </a:rPr>
              <a:t> = 2, </a:t>
            </a:r>
            <a:r>
              <a:rPr lang="en-ID" b="1" dirty="0" err="1">
                <a:latin typeface="Nunito Bold" panose="020B0604020202020204" charset="0"/>
              </a:rPr>
              <a:t>kombinasi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menghasilkan</a:t>
            </a:r>
            <a:r>
              <a:rPr lang="en-ID" b="1" dirty="0">
                <a:latin typeface="Nunito Bold" panose="020B0604020202020204" charset="0"/>
              </a:rPr>
              <a:t> 703 </a:t>
            </a:r>
            <a:r>
              <a:rPr lang="en-ID" b="1" dirty="0" err="1">
                <a:latin typeface="Nunito Bold" panose="020B0604020202020204" charset="0"/>
              </a:rPr>
              <a:t>pasangan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provinsi</a:t>
            </a:r>
            <a:r>
              <a:rPr lang="en-ID" b="1" dirty="0">
                <a:latin typeface="Nunito Bold" panose="020B0604020202020204" charset="0"/>
              </a:rPr>
              <a:t>, </a:t>
            </a:r>
            <a:r>
              <a:rPr lang="en-ID" b="1" dirty="0" err="1">
                <a:latin typeface="Nunito Bold" panose="020B0604020202020204" charset="0"/>
              </a:rPr>
              <a:t>yaitu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seluruh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pasangan</a:t>
            </a:r>
            <a:r>
              <a:rPr lang="en-ID" b="1" dirty="0">
                <a:latin typeface="Nunito Bold" panose="020B0604020202020204" charset="0"/>
              </a:rPr>
              <a:t> dua </a:t>
            </a:r>
            <a:r>
              <a:rPr lang="en-ID" b="1" dirty="0" err="1">
                <a:latin typeface="Nunito Bold" panose="020B0604020202020204" charset="0"/>
              </a:rPr>
              <a:t>provinsi</a:t>
            </a:r>
            <a:r>
              <a:rPr lang="en-ID" b="1" dirty="0">
                <a:latin typeface="Nunito Bold" panose="020B0604020202020204" charset="0"/>
              </a:rPr>
              <a:t> yang </a:t>
            </a:r>
            <a:r>
              <a:rPr lang="en-ID" b="1" dirty="0" err="1">
                <a:latin typeface="Nunito Bold" panose="020B0604020202020204" charset="0"/>
              </a:rPr>
              <a:t>bisa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dibandingkan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selisih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gajinya</a:t>
            </a:r>
            <a:r>
              <a:rPr lang="en-ID" b="1" dirty="0">
                <a:latin typeface="Nunito Bold" panose="020B0604020202020204" charset="0"/>
              </a:rPr>
              <a:t>. </a:t>
            </a:r>
            <a:r>
              <a:rPr lang="en-ID" b="1" dirty="0" err="1">
                <a:latin typeface="Nunito Bold" panose="020B0604020202020204" charset="0"/>
              </a:rPr>
              <a:t>Sementara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itu</a:t>
            </a:r>
            <a:r>
              <a:rPr lang="en-ID" b="1" dirty="0">
                <a:latin typeface="Nunito Bold" panose="020B0604020202020204" charset="0"/>
              </a:rPr>
              <a:t>, </a:t>
            </a:r>
            <a:r>
              <a:rPr lang="en-ID" b="1" dirty="0" err="1">
                <a:latin typeface="Nunito Bold" panose="020B0604020202020204" charset="0"/>
              </a:rPr>
              <a:t>nCr</a:t>
            </a:r>
            <a:r>
              <a:rPr lang="en-ID" b="1" dirty="0">
                <a:latin typeface="Nunito Bold" panose="020B0604020202020204" charset="0"/>
              </a:rPr>
              <a:t> = 3 </a:t>
            </a:r>
            <a:r>
              <a:rPr lang="en-ID" b="1" dirty="0" err="1">
                <a:latin typeface="Nunito Bold" panose="020B0604020202020204" charset="0"/>
              </a:rPr>
              <a:t>menghasilkan</a:t>
            </a:r>
            <a:r>
              <a:rPr lang="en-ID" b="1" dirty="0">
                <a:latin typeface="Nunito Bold" panose="020B0604020202020204" charset="0"/>
              </a:rPr>
              <a:t> 8.436 </a:t>
            </a:r>
            <a:r>
              <a:rPr lang="en-ID" b="1" dirty="0" err="1">
                <a:latin typeface="Nunito Bold" panose="020B0604020202020204" charset="0"/>
              </a:rPr>
              <a:t>kombinasi</a:t>
            </a:r>
            <a:r>
              <a:rPr lang="en-ID" b="1" dirty="0">
                <a:latin typeface="Nunito Bold" panose="020B0604020202020204" charset="0"/>
              </a:rPr>
              <a:t>, </a:t>
            </a:r>
            <a:r>
              <a:rPr lang="en-ID" b="1" dirty="0" err="1">
                <a:latin typeface="Nunito Bold" panose="020B0604020202020204" charset="0"/>
              </a:rPr>
              <a:t>yaitu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seluruh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kelompok</a:t>
            </a:r>
            <a:r>
              <a:rPr lang="en-ID" b="1" dirty="0">
                <a:latin typeface="Nunito Bold" panose="020B0604020202020204" charset="0"/>
              </a:rPr>
              <a:t> yang </a:t>
            </a:r>
            <a:r>
              <a:rPr lang="en-ID" b="1" dirty="0" err="1">
                <a:latin typeface="Nunito Bold" panose="020B0604020202020204" charset="0"/>
              </a:rPr>
              <a:t>terdiri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dari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tiga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provinsi</a:t>
            </a:r>
            <a:r>
              <a:rPr lang="en-ID" b="1" dirty="0">
                <a:latin typeface="Nunito Bold" panose="020B0604020202020204" charset="0"/>
              </a:rPr>
              <a:t>. Daftar pada slide </a:t>
            </a:r>
            <a:r>
              <a:rPr lang="en-ID" b="1" dirty="0" err="1">
                <a:latin typeface="Nunito Bold" panose="020B0604020202020204" charset="0"/>
              </a:rPr>
              <a:t>hanya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menampilkan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beberapa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contoh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dari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kombinasi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tersebut</a:t>
            </a:r>
            <a:r>
              <a:rPr lang="en-ID" b="1" dirty="0">
                <a:latin typeface="Nunito Bold" panose="020B0604020202020204" charset="0"/>
              </a:rPr>
              <a:t>. </a:t>
            </a:r>
            <a:r>
              <a:rPr lang="en-ID" b="1" dirty="0" err="1">
                <a:latin typeface="Nunito Bold" panose="020B0604020202020204" charset="0"/>
              </a:rPr>
              <a:t>Kedua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jenis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kombinasi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ini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membantu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memetakan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kemungkinan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hubungan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antar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provinsi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sebelum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analisis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lanjutan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dilakukan</a:t>
            </a:r>
            <a:r>
              <a:rPr lang="en-ID" b="1" dirty="0">
                <a:latin typeface="Nunito Bold" panose="020B0604020202020204" charset="0"/>
              </a:rPr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1991BF-830B-97AB-4745-7275A8372FF9}"/>
              </a:ext>
            </a:extLst>
          </p:cNvPr>
          <p:cNvSpPr txBox="1"/>
          <p:nvPr/>
        </p:nvSpPr>
        <p:spPr>
          <a:xfrm>
            <a:off x="723177" y="7193380"/>
            <a:ext cx="94855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b="1" dirty="0">
                <a:latin typeface="Nunito Bold" panose="020B0604020202020204" charset="0"/>
              </a:rPr>
              <a:t>Pada </a:t>
            </a:r>
            <a:r>
              <a:rPr lang="en-ID" b="1" dirty="0" err="1">
                <a:latin typeface="Nunito Bold" panose="020B0604020202020204" charset="0"/>
              </a:rPr>
              <a:t>bagian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selisih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gaji</a:t>
            </a:r>
            <a:r>
              <a:rPr lang="en-ID" b="1" dirty="0">
                <a:latin typeface="Nunito Bold" panose="020B0604020202020204" charset="0"/>
              </a:rPr>
              <a:t> pairwise </a:t>
            </a:r>
            <a:r>
              <a:rPr lang="en-ID" b="1" dirty="0" err="1">
                <a:latin typeface="Nunito Bold" panose="020B0604020202020204" charset="0"/>
              </a:rPr>
              <a:t>menampilkan</a:t>
            </a:r>
            <a:r>
              <a:rPr lang="en-ID" b="1" dirty="0">
                <a:latin typeface="Nunito Bold" panose="020B0604020202020204" charset="0"/>
              </a:rPr>
              <a:t> lima </a:t>
            </a:r>
            <a:r>
              <a:rPr lang="en-ID" b="1" dirty="0" err="1">
                <a:latin typeface="Nunito Bold" panose="020B0604020202020204" charset="0"/>
              </a:rPr>
              <a:t>pasangan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provinsi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dengan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selisih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gaji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terbesar</a:t>
            </a:r>
            <a:r>
              <a:rPr lang="en-ID" b="1" dirty="0">
                <a:latin typeface="Nunito Bold" panose="020B0604020202020204" charset="0"/>
              </a:rPr>
              <a:t> pada </a:t>
            </a:r>
            <a:r>
              <a:rPr lang="en-ID" b="1" dirty="0" err="1">
                <a:latin typeface="Nunito Bold" panose="020B0604020202020204" charset="0"/>
              </a:rPr>
              <a:t>kategori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tertentu</a:t>
            </a:r>
            <a:r>
              <a:rPr lang="en-ID" b="1" dirty="0">
                <a:latin typeface="Nunito Bold" panose="020B0604020202020204" charset="0"/>
              </a:rPr>
              <a:t>. Dalam </a:t>
            </a:r>
            <a:r>
              <a:rPr lang="en-ID" b="1" dirty="0" err="1">
                <a:latin typeface="Nunito Bold" panose="020B0604020202020204" charset="0"/>
              </a:rPr>
              <a:t>contoh</a:t>
            </a:r>
            <a:r>
              <a:rPr lang="en-ID" b="1" dirty="0">
                <a:latin typeface="Nunito Bold" panose="020B0604020202020204" charset="0"/>
              </a:rPr>
              <a:t> yang </a:t>
            </a:r>
            <a:r>
              <a:rPr lang="en-ID" b="1" dirty="0" err="1">
                <a:latin typeface="Nunito Bold" panose="020B0604020202020204" charset="0"/>
              </a:rPr>
              <a:t>terlihat</a:t>
            </a:r>
            <a:r>
              <a:rPr lang="en-ID" b="1" dirty="0">
                <a:latin typeface="Nunito Bold" panose="020B0604020202020204" charset="0"/>
              </a:rPr>
              <a:t>, </a:t>
            </a:r>
            <a:r>
              <a:rPr lang="en-ID" b="1" dirty="0" err="1">
                <a:latin typeface="Nunito Bold" panose="020B0604020202020204" charset="0"/>
              </a:rPr>
              <a:t>semua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pasangan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melibatkan</a:t>
            </a:r>
            <a:r>
              <a:rPr lang="en-ID" b="1" dirty="0">
                <a:latin typeface="Nunito Bold" panose="020B0604020202020204" charset="0"/>
              </a:rPr>
              <a:t> Aceh dan Sumatera Utara, yang </a:t>
            </a:r>
            <a:r>
              <a:rPr lang="en-ID" b="1" dirty="0" err="1">
                <a:latin typeface="Nunito Bold" panose="020B0604020202020204" charset="0"/>
              </a:rPr>
              <a:t>berarti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perbedaan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gaji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antara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kedua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provinsi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tersebut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cukup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besar</a:t>
            </a:r>
            <a:r>
              <a:rPr lang="en-ID" b="1" dirty="0">
                <a:latin typeface="Nunito Bold" panose="020B0604020202020204" charset="0"/>
              </a:rPr>
              <a:t> pada </a:t>
            </a:r>
            <a:r>
              <a:rPr lang="en-ID" b="1" dirty="0" err="1">
                <a:latin typeface="Nunito Bold" panose="020B0604020202020204" charset="0"/>
              </a:rPr>
              <a:t>berbagai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kategori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pekerjaan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seperti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industri</a:t>
            </a:r>
            <a:r>
              <a:rPr lang="en-ID" b="1" dirty="0">
                <a:latin typeface="Nunito Bold" panose="020B0604020202020204" charset="0"/>
              </a:rPr>
              <a:t>, </a:t>
            </a:r>
            <a:r>
              <a:rPr lang="en-ID" b="1" dirty="0" err="1">
                <a:latin typeface="Nunito Bold" panose="020B0604020202020204" charset="0"/>
              </a:rPr>
              <a:t>kepemimpinan</a:t>
            </a:r>
            <a:r>
              <a:rPr lang="en-ID" b="1" dirty="0">
                <a:latin typeface="Nunito Bold" panose="020B0604020202020204" charset="0"/>
              </a:rPr>
              <a:t>, tata </a:t>
            </a:r>
            <a:r>
              <a:rPr lang="en-ID" b="1" dirty="0" err="1">
                <a:latin typeface="Nunito Bold" panose="020B0604020202020204" charset="0"/>
              </a:rPr>
              <a:t>usaha</a:t>
            </a:r>
            <a:r>
              <a:rPr lang="en-ID" b="1" dirty="0">
                <a:latin typeface="Nunito Bold" panose="020B0604020202020204" charset="0"/>
              </a:rPr>
              <a:t>, </a:t>
            </a:r>
            <a:r>
              <a:rPr lang="en-ID" b="1" dirty="0" err="1">
                <a:latin typeface="Nunito Bold" panose="020B0604020202020204" charset="0"/>
              </a:rPr>
              <a:t>penjualan</a:t>
            </a:r>
            <a:r>
              <a:rPr lang="en-ID" b="1" dirty="0">
                <a:latin typeface="Nunito Bold" panose="020B0604020202020204" charset="0"/>
              </a:rPr>
              <a:t>, dan </a:t>
            </a:r>
            <a:r>
              <a:rPr lang="en-ID" b="1" dirty="0" err="1">
                <a:latin typeface="Nunito Bold" panose="020B0604020202020204" charset="0"/>
              </a:rPr>
              <a:t>jasa</a:t>
            </a:r>
            <a:r>
              <a:rPr lang="en-ID" b="1" dirty="0">
                <a:latin typeface="Nunito Bold" panose="020B0604020202020204" charset="0"/>
              </a:rPr>
              <a:t>. Nilai </a:t>
            </a:r>
            <a:r>
              <a:rPr lang="en-ID" b="1" dirty="0" err="1">
                <a:latin typeface="Nunito Bold" panose="020B0604020202020204" charset="0"/>
              </a:rPr>
              <a:t>selisih</a:t>
            </a:r>
            <a:r>
              <a:rPr lang="en-ID" b="1" dirty="0">
                <a:latin typeface="Nunito Bold" panose="020B0604020202020204" charset="0"/>
              </a:rPr>
              <a:t> yang </a:t>
            </a:r>
            <a:r>
              <a:rPr lang="en-ID" b="1" dirty="0" err="1">
                <a:latin typeface="Nunito Bold" panose="020B0604020202020204" charset="0"/>
              </a:rPr>
              <a:t>muncul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menunjukkan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seberapa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jauh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perbedaan</a:t>
            </a:r>
            <a:r>
              <a:rPr lang="en-ID" b="1" dirty="0">
                <a:latin typeface="Nunito Bold" panose="020B0604020202020204" charset="0"/>
              </a:rPr>
              <a:t> rata-rata </a:t>
            </a:r>
            <a:r>
              <a:rPr lang="en-ID" b="1" dirty="0" err="1">
                <a:latin typeface="Nunito Bold" panose="020B0604020202020204" charset="0"/>
              </a:rPr>
              <a:t>gaji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antara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kedua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provinsi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tersebut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untuk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setiap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kategori</a:t>
            </a:r>
            <a:r>
              <a:rPr lang="en-ID" b="1" dirty="0">
                <a:latin typeface="Nunito Bold" panose="020B0604020202020204" charset="0"/>
              </a:rPr>
              <a:t>. Tabel </a:t>
            </a:r>
            <a:r>
              <a:rPr lang="en-ID" b="1" dirty="0" err="1">
                <a:latin typeface="Nunito Bold" panose="020B0604020202020204" charset="0"/>
              </a:rPr>
              <a:t>ini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membantu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mengidentifikasi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provinsi</a:t>
            </a:r>
            <a:r>
              <a:rPr lang="en-ID" b="1" dirty="0">
                <a:latin typeface="Nunito Bold" panose="020B0604020202020204" charset="0"/>
              </a:rPr>
              <a:t> mana yang </a:t>
            </a:r>
            <a:r>
              <a:rPr lang="en-ID" b="1" dirty="0" err="1">
                <a:latin typeface="Nunito Bold" panose="020B0604020202020204" charset="0"/>
              </a:rPr>
              <a:t>memiliki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ketimpangan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gaji</a:t>
            </a:r>
            <a:r>
              <a:rPr lang="en-ID" b="1" dirty="0">
                <a:latin typeface="Nunito Bold" panose="020B0604020202020204" charset="0"/>
              </a:rPr>
              <a:t> paling </a:t>
            </a:r>
            <a:r>
              <a:rPr lang="en-ID" b="1" dirty="0" err="1">
                <a:latin typeface="Nunito Bold" panose="020B0604020202020204" charset="0"/>
              </a:rPr>
              <a:t>besar</a:t>
            </a:r>
            <a:r>
              <a:rPr lang="en-ID" b="1" dirty="0">
                <a:latin typeface="Nunito Bold" panose="020B0604020202020204" charset="0"/>
              </a:rPr>
              <a:t>, </a:t>
            </a:r>
            <a:r>
              <a:rPr lang="en-ID" b="1" dirty="0" err="1">
                <a:latin typeface="Nunito Bold" panose="020B0604020202020204" charset="0"/>
              </a:rPr>
              <a:t>sehingga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dapat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menjadi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fokus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analisis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lebih</a:t>
            </a:r>
            <a:r>
              <a:rPr lang="en-ID" b="1" dirty="0">
                <a:latin typeface="Nunito Bold" panose="020B0604020202020204" charset="0"/>
              </a:rPr>
              <a:t> </a:t>
            </a:r>
            <a:r>
              <a:rPr lang="en-ID" b="1" dirty="0" err="1">
                <a:latin typeface="Nunito Bold" panose="020B0604020202020204" charset="0"/>
              </a:rPr>
              <a:t>lanjut</a:t>
            </a:r>
            <a:r>
              <a:rPr lang="en-ID" b="1" dirty="0">
                <a:latin typeface="Nunito Bold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53101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3E21B-BC79-15FF-C865-B39284624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9B94C4D-678C-4D25-A740-AA8ADE943308}"/>
              </a:ext>
            </a:extLst>
          </p:cNvPr>
          <p:cNvGrpSpPr/>
          <p:nvPr/>
        </p:nvGrpSpPr>
        <p:grpSpPr>
          <a:xfrm>
            <a:off x="-1246654" y="0"/>
            <a:ext cx="20781307" cy="10403658"/>
            <a:chOff x="0" y="0"/>
            <a:chExt cx="27708410" cy="1387154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121812B-C7DF-D9E8-6513-D542180FBD78}"/>
                </a:ext>
              </a:extLst>
            </p:cNvPr>
            <p:cNvSpPr/>
            <p:nvPr/>
          </p:nvSpPr>
          <p:spPr>
            <a:xfrm>
              <a:off x="13854205" y="0"/>
              <a:ext cx="13854205" cy="13871544"/>
            </a:xfrm>
            <a:custGeom>
              <a:avLst/>
              <a:gdLst/>
              <a:ahLst/>
              <a:cxnLst/>
              <a:rect l="l" t="t" r="r" b="b"/>
              <a:pathLst>
                <a:path w="13854205" h="13871544">
                  <a:moveTo>
                    <a:pt x="0" y="0"/>
                  </a:moveTo>
                  <a:lnTo>
                    <a:pt x="13854205" y="0"/>
                  </a:lnTo>
                  <a:lnTo>
                    <a:pt x="13854205" y="13871544"/>
                  </a:lnTo>
                  <a:lnTo>
                    <a:pt x="0" y="13871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638D1FF-2339-91DE-BA70-B21398D7F211}"/>
                </a:ext>
              </a:extLst>
            </p:cNvPr>
            <p:cNvSpPr/>
            <p:nvPr/>
          </p:nvSpPr>
          <p:spPr>
            <a:xfrm>
              <a:off x="0" y="0"/>
              <a:ext cx="13854205" cy="13871544"/>
            </a:xfrm>
            <a:custGeom>
              <a:avLst/>
              <a:gdLst/>
              <a:ahLst/>
              <a:cxnLst/>
              <a:rect l="l" t="t" r="r" b="b"/>
              <a:pathLst>
                <a:path w="13854205" h="13871544">
                  <a:moveTo>
                    <a:pt x="0" y="0"/>
                  </a:moveTo>
                  <a:lnTo>
                    <a:pt x="13854205" y="0"/>
                  </a:lnTo>
                  <a:lnTo>
                    <a:pt x="13854205" y="13871544"/>
                  </a:lnTo>
                  <a:lnTo>
                    <a:pt x="0" y="13871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51248A5B-AFD3-6065-CAC9-1D5BC929FDDF}"/>
              </a:ext>
            </a:extLst>
          </p:cNvPr>
          <p:cNvSpPr/>
          <p:nvPr/>
        </p:nvSpPr>
        <p:spPr>
          <a:xfrm rot="1069863">
            <a:off x="13169692" y="5065020"/>
            <a:ext cx="3980108" cy="5143919"/>
          </a:xfrm>
          <a:custGeom>
            <a:avLst/>
            <a:gdLst/>
            <a:ahLst/>
            <a:cxnLst/>
            <a:rect l="l" t="t" r="r" b="b"/>
            <a:pathLst>
              <a:path w="3980108" h="5143919">
                <a:moveTo>
                  <a:pt x="0" y="0"/>
                </a:moveTo>
                <a:lnTo>
                  <a:pt x="3980107" y="0"/>
                </a:lnTo>
                <a:lnTo>
                  <a:pt x="3980107" y="5143919"/>
                </a:lnTo>
                <a:lnTo>
                  <a:pt x="0" y="51439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9C6B093-BF48-5F6F-8DA5-2CB17BA0FC79}"/>
              </a:ext>
            </a:extLst>
          </p:cNvPr>
          <p:cNvSpPr/>
          <p:nvPr/>
        </p:nvSpPr>
        <p:spPr>
          <a:xfrm>
            <a:off x="3704247" y="1853967"/>
            <a:ext cx="11483995" cy="7062657"/>
          </a:xfrm>
          <a:custGeom>
            <a:avLst/>
            <a:gdLst/>
            <a:ahLst/>
            <a:cxnLst/>
            <a:rect l="l" t="t" r="r" b="b"/>
            <a:pathLst>
              <a:path w="11483995" h="7062657">
                <a:moveTo>
                  <a:pt x="0" y="0"/>
                </a:moveTo>
                <a:lnTo>
                  <a:pt x="11483995" y="0"/>
                </a:lnTo>
                <a:lnTo>
                  <a:pt x="11483995" y="7062657"/>
                </a:lnTo>
                <a:lnTo>
                  <a:pt x="0" y="70626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6C2ACD8-6547-895F-814C-EE6DF86099CE}"/>
              </a:ext>
            </a:extLst>
          </p:cNvPr>
          <p:cNvSpPr/>
          <p:nvPr/>
        </p:nvSpPr>
        <p:spPr>
          <a:xfrm rot="880364">
            <a:off x="680159" y="3022366"/>
            <a:ext cx="4040009" cy="3191607"/>
          </a:xfrm>
          <a:custGeom>
            <a:avLst/>
            <a:gdLst/>
            <a:ahLst/>
            <a:cxnLst/>
            <a:rect l="l" t="t" r="r" b="b"/>
            <a:pathLst>
              <a:path w="4040009" h="3191607">
                <a:moveTo>
                  <a:pt x="0" y="0"/>
                </a:moveTo>
                <a:lnTo>
                  <a:pt x="4040009" y="0"/>
                </a:lnTo>
                <a:lnTo>
                  <a:pt x="4040009" y="3191607"/>
                </a:lnTo>
                <a:lnTo>
                  <a:pt x="0" y="31916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B59115CD-B957-CC09-96FA-D8DF10C9419B}"/>
              </a:ext>
            </a:extLst>
          </p:cNvPr>
          <p:cNvGrpSpPr/>
          <p:nvPr/>
        </p:nvGrpSpPr>
        <p:grpSpPr>
          <a:xfrm>
            <a:off x="3402002" y="1612172"/>
            <a:ext cx="11483995" cy="7062657"/>
            <a:chOff x="0" y="0"/>
            <a:chExt cx="15311993" cy="9416876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AF32DF1-86BE-FD95-F4A0-D23F8676D784}"/>
                </a:ext>
              </a:extLst>
            </p:cNvPr>
            <p:cNvSpPr/>
            <p:nvPr/>
          </p:nvSpPr>
          <p:spPr>
            <a:xfrm>
              <a:off x="0" y="0"/>
              <a:ext cx="15311993" cy="9416876"/>
            </a:xfrm>
            <a:custGeom>
              <a:avLst/>
              <a:gdLst/>
              <a:ahLst/>
              <a:cxnLst/>
              <a:rect l="l" t="t" r="r" b="b"/>
              <a:pathLst>
                <a:path w="15311993" h="9416876">
                  <a:moveTo>
                    <a:pt x="0" y="0"/>
                  </a:moveTo>
                  <a:lnTo>
                    <a:pt x="15311993" y="0"/>
                  </a:lnTo>
                  <a:lnTo>
                    <a:pt x="15311993" y="9416876"/>
                  </a:lnTo>
                  <a:lnTo>
                    <a:pt x="0" y="9416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CDB4769-2156-B066-8E66-44961C446E0B}"/>
                </a:ext>
              </a:extLst>
            </p:cNvPr>
            <p:cNvSpPr/>
            <p:nvPr/>
          </p:nvSpPr>
          <p:spPr>
            <a:xfrm>
              <a:off x="480050" y="1781890"/>
              <a:ext cx="7031684" cy="7040485"/>
            </a:xfrm>
            <a:custGeom>
              <a:avLst/>
              <a:gdLst/>
              <a:ahLst/>
              <a:cxnLst/>
              <a:rect l="l" t="t" r="r" b="b"/>
              <a:pathLst>
                <a:path w="7031684" h="7040485">
                  <a:moveTo>
                    <a:pt x="0" y="0"/>
                  </a:moveTo>
                  <a:lnTo>
                    <a:pt x="7031684" y="0"/>
                  </a:lnTo>
                  <a:lnTo>
                    <a:pt x="7031684" y="7040485"/>
                  </a:lnTo>
                  <a:lnTo>
                    <a:pt x="0" y="7040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14518A8-0D0F-572D-ABAA-C3193DF59C8C}"/>
                </a:ext>
              </a:extLst>
            </p:cNvPr>
            <p:cNvSpPr/>
            <p:nvPr/>
          </p:nvSpPr>
          <p:spPr>
            <a:xfrm>
              <a:off x="7473634" y="1781890"/>
              <a:ext cx="7031684" cy="7040485"/>
            </a:xfrm>
            <a:custGeom>
              <a:avLst/>
              <a:gdLst/>
              <a:ahLst/>
              <a:cxnLst/>
              <a:rect l="l" t="t" r="r" b="b"/>
              <a:pathLst>
                <a:path w="7031684" h="7040485">
                  <a:moveTo>
                    <a:pt x="0" y="0"/>
                  </a:moveTo>
                  <a:lnTo>
                    <a:pt x="7031684" y="0"/>
                  </a:lnTo>
                  <a:lnTo>
                    <a:pt x="7031684" y="7040485"/>
                  </a:lnTo>
                  <a:lnTo>
                    <a:pt x="0" y="7040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5A0E08F7-189C-E37B-364F-A0617CDB8CF1}"/>
                </a:ext>
              </a:extLst>
            </p:cNvPr>
            <p:cNvSpPr/>
            <p:nvPr/>
          </p:nvSpPr>
          <p:spPr>
            <a:xfrm>
              <a:off x="14467862" y="2054996"/>
              <a:ext cx="364082" cy="6414901"/>
            </a:xfrm>
            <a:custGeom>
              <a:avLst/>
              <a:gdLst/>
              <a:ahLst/>
              <a:cxnLst/>
              <a:rect l="l" t="t" r="r" b="b"/>
              <a:pathLst>
                <a:path w="364082" h="6414901">
                  <a:moveTo>
                    <a:pt x="0" y="0"/>
                  </a:moveTo>
                  <a:lnTo>
                    <a:pt x="364082" y="0"/>
                  </a:lnTo>
                  <a:lnTo>
                    <a:pt x="364082" y="6414901"/>
                  </a:lnTo>
                  <a:lnTo>
                    <a:pt x="0" y="641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t="-4257" r="-1831345" b="-5494"/>
              </a:stretch>
            </a:blipFill>
          </p:spPr>
        </p:sp>
      </p:grpSp>
      <p:sp>
        <p:nvSpPr>
          <p:cNvPr id="13" name="Freeform 13">
            <a:extLst>
              <a:ext uri="{FF2B5EF4-FFF2-40B4-BE49-F238E27FC236}">
                <a16:creationId xmlns:a16="http://schemas.microsoft.com/office/drawing/2014/main" id="{E9845255-43DB-3E23-79F0-1BD110AB5A89}"/>
              </a:ext>
            </a:extLst>
          </p:cNvPr>
          <p:cNvSpPr/>
          <p:nvPr/>
        </p:nvSpPr>
        <p:spPr>
          <a:xfrm rot="-913414">
            <a:off x="13438556" y="1926448"/>
            <a:ext cx="2220065" cy="2377579"/>
          </a:xfrm>
          <a:custGeom>
            <a:avLst/>
            <a:gdLst/>
            <a:ahLst/>
            <a:cxnLst/>
            <a:rect l="l" t="t" r="r" b="b"/>
            <a:pathLst>
              <a:path w="2220065" h="2377579">
                <a:moveTo>
                  <a:pt x="0" y="0"/>
                </a:moveTo>
                <a:lnTo>
                  <a:pt x="2220065" y="0"/>
                </a:lnTo>
                <a:lnTo>
                  <a:pt x="2220065" y="2377579"/>
                </a:lnTo>
                <a:lnTo>
                  <a:pt x="0" y="23775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2844B64B-9D00-FC51-CB97-EC8B1B586EEE}"/>
              </a:ext>
            </a:extLst>
          </p:cNvPr>
          <p:cNvSpPr/>
          <p:nvPr/>
        </p:nvSpPr>
        <p:spPr>
          <a:xfrm>
            <a:off x="1607828" y="6721085"/>
            <a:ext cx="3578323" cy="2294599"/>
          </a:xfrm>
          <a:custGeom>
            <a:avLst/>
            <a:gdLst/>
            <a:ahLst/>
            <a:cxnLst/>
            <a:rect l="l" t="t" r="r" b="b"/>
            <a:pathLst>
              <a:path w="3578323" h="2294599">
                <a:moveTo>
                  <a:pt x="0" y="0"/>
                </a:moveTo>
                <a:lnTo>
                  <a:pt x="3578323" y="0"/>
                </a:lnTo>
                <a:lnTo>
                  <a:pt x="3578323" y="2294599"/>
                </a:lnTo>
                <a:lnTo>
                  <a:pt x="0" y="229459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0198F2B1-350E-85B9-02CF-F70A89AB5481}"/>
              </a:ext>
            </a:extLst>
          </p:cNvPr>
          <p:cNvGrpSpPr/>
          <p:nvPr/>
        </p:nvGrpSpPr>
        <p:grpSpPr>
          <a:xfrm>
            <a:off x="5994196" y="4341528"/>
            <a:ext cx="6712774" cy="1603943"/>
            <a:chOff x="0" y="0"/>
            <a:chExt cx="6229141" cy="1091413"/>
          </a:xfrm>
        </p:grpSpPr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EA840BAF-B01A-68D6-2DFD-24133333BFCF}"/>
                </a:ext>
              </a:extLst>
            </p:cNvPr>
            <p:cNvGrpSpPr/>
            <p:nvPr/>
          </p:nvGrpSpPr>
          <p:grpSpPr>
            <a:xfrm>
              <a:off x="90367" y="84719"/>
              <a:ext cx="6138774" cy="1006694"/>
              <a:chOff x="0" y="0"/>
              <a:chExt cx="1384608" cy="227061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25E7D974-19BA-0B3F-5D0A-C77E3683CCFF}"/>
                  </a:ext>
                </a:extLst>
              </p:cNvPr>
              <p:cNvSpPr/>
              <p:nvPr/>
            </p:nvSpPr>
            <p:spPr>
              <a:xfrm>
                <a:off x="0" y="0"/>
                <a:ext cx="1384608" cy="227061"/>
              </a:xfrm>
              <a:custGeom>
                <a:avLst/>
                <a:gdLst/>
                <a:ahLst/>
                <a:cxnLst/>
                <a:rect l="l" t="t" r="r" b="b"/>
                <a:pathLst>
                  <a:path w="1384608" h="227061">
                    <a:moveTo>
                      <a:pt x="113531" y="0"/>
                    </a:moveTo>
                    <a:lnTo>
                      <a:pt x="1271078" y="0"/>
                    </a:lnTo>
                    <a:cubicBezTo>
                      <a:pt x="1333779" y="0"/>
                      <a:pt x="1384608" y="50829"/>
                      <a:pt x="1384608" y="113531"/>
                    </a:cubicBezTo>
                    <a:lnTo>
                      <a:pt x="1384608" y="113531"/>
                    </a:lnTo>
                    <a:cubicBezTo>
                      <a:pt x="1384608" y="143641"/>
                      <a:pt x="1372647" y="172518"/>
                      <a:pt x="1351356" y="193809"/>
                    </a:cubicBezTo>
                    <a:cubicBezTo>
                      <a:pt x="1330065" y="215100"/>
                      <a:pt x="1301188" y="227061"/>
                      <a:pt x="1271078" y="227061"/>
                    </a:cubicBezTo>
                    <a:lnTo>
                      <a:pt x="113531" y="227061"/>
                    </a:lnTo>
                    <a:cubicBezTo>
                      <a:pt x="83420" y="227061"/>
                      <a:pt x="54543" y="215100"/>
                      <a:pt x="33252" y="193809"/>
                    </a:cubicBezTo>
                    <a:cubicBezTo>
                      <a:pt x="11961" y="172518"/>
                      <a:pt x="0" y="143641"/>
                      <a:pt x="0" y="113531"/>
                    </a:cubicBezTo>
                    <a:lnTo>
                      <a:pt x="0" y="113531"/>
                    </a:lnTo>
                    <a:cubicBezTo>
                      <a:pt x="0" y="83420"/>
                      <a:pt x="11961" y="54543"/>
                      <a:pt x="33252" y="33252"/>
                    </a:cubicBezTo>
                    <a:cubicBezTo>
                      <a:pt x="54543" y="11961"/>
                      <a:pt x="83420" y="0"/>
                      <a:pt x="113531" y="0"/>
                    </a:cubicBezTo>
                    <a:close/>
                  </a:path>
                </a:pathLst>
              </a:custGeom>
              <a:solidFill>
                <a:srgbClr val="162C3B"/>
              </a:solidFill>
              <a:ln w="66675" cap="rnd">
                <a:solidFill>
                  <a:srgbClr val="162C3B"/>
                </a:solidFill>
                <a:prstDash val="solid"/>
                <a:round/>
              </a:ln>
            </p:spPr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45FC5954-65FE-193C-E727-EEBF1FC471E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84608" cy="265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5D8D32E7-2899-EEAF-866C-A0F5CE02DF63}"/>
                </a:ext>
              </a:extLst>
            </p:cNvPr>
            <p:cNvGrpSpPr/>
            <p:nvPr/>
          </p:nvGrpSpPr>
          <p:grpSpPr>
            <a:xfrm>
              <a:off x="0" y="0"/>
              <a:ext cx="6138774" cy="1006694"/>
              <a:chOff x="0" y="0"/>
              <a:chExt cx="1384608" cy="227061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ACCA2E38-8D25-A8F6-90ED-09331DEB393E}"/>
                  </a:ext>
                </a:extLst>
              </p:cNvPr>
              <p:cNvSpPr/>
              <p:nvPr/>
            </p:nvSpPr>
            <p:spPr>
              <a:xfrm>
                <a:off x="0" y="0"/>
                <a:ext cx="1384608" cy="227061"/>
              </a:xfrm>
              <a:custGeom>
                <a:avLst/>
                <a:gdLst/>
                <a:ahLst/>
                <a:cxnLst/>
                <a:rect l="l" t="t" r="r" b="b"/>
                <a:pathLst>
                  <a:path w="1384608" h="227061">
                    <a:moveTo>
                      <a:pt x="113531" y="0"/>
                    </a:moveTo>
                    <a:lnTo>
                      <a:pt x="1271078" y="0"/>
                    </a:lnTo>
                    <a:cubicBezTo>
                      <a:pt x="1333779" y="0"/>
                      <a:pt x="1384608" y="50829"/>
                      <a:pt x="1384608" y="113531"/>
                    </a:cubicBezTo>
                    <a:lnTo>
                      <a:pt x="1384608" y="113531"/>
                    </a:lnTo>
                    <a:cubicBezTo>
                      <a:pt x="1384608" y="143641"/>
                      <a:pt x="1372647" y="172518"/>
                      <a:pt x="1351356" y="193809"/>
                    </a:cubicBezTo>
                    <a:cubicBezTo>
                      <a:pt x="1330065" y="215100"/>
                      <a:pt x="1301188" y="227061"/>
                      <a:pt x="1271078" y="227061"/>
                    </a:cubicBezTo>
                    <a:lnTo>
                      <a:pt x="113531" y="227061"/>
                    </a:lnTo>
                    <a:cubicBezTo>
                      <a:pt x="83420" y="227061"/>
                      <a:pt x="54543" y="215100"/>
                      <a:pt x="33252" y="193809"/>
                    </a:cubicBezTo>
                    <a:cubicBezTo>
                      <a:pt x="11961" y="172518"/>
                      <a:pt x="0" y="143641"/>
                      <a:pt x="0" y="113531"/>
                    </a:cubicBezTo>
                    <a:lnTo>
                      <a:pt x="0" y="113531"/>
                    </a:lnTo>
                    <a:cubicBezTo>
                      <a:pt x="0" y="83420"/>
                      <a:pt x="11961" y="54543"/>
                      <a:pt x="33252" y="33252"/>
                    </a:cubicBezTo>
                    <a:cubicBezTo>
                      <a:pt x="54543" y="11961"/>
                      <a:pt x="83420" y="0"/>
                      <a:pt x="113531" y="0"/>
                    </a:cubicBezTo>
                    <a:close/>
                  </a:path>
                </a:pathLst>
              </a:custGeom>
              <a:solidFill>
                <a:srgbClr val="FFAE00"/>
              </a:solidFill>
              <a:ln w="66675" cap="rnd">
                <a:solidFill>
                  <a:srgbClr val="162C3B"/>
                </a:solidFill>
                <a:prstDash val="solid"/>
                <a:round/>
              </a:ln>
            </p:spPr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08EBB288-C4BD-4D55-6EBD-6CF0923A99A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84608" cy="265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2D2669DC-E019-F499-CFF9-E66349CA1D56}"/>
              </a:ext>
            </a:extLst>
          </p:cNvPr>
          <p:cNvSpPr/>
          <p:nvPr/>
        </p:nvSpPr>
        <p:spPr>
          <a:xfrm rot="1980905">
            <a:off x="2622262" y="2043443"/>
            <a:ext cx="1996070" cy="1110314"/>
          </a:xfrm>
          <a:custGeom>
            <a:avLst/>
            <a:gdLst/>
            <a:ahLst/>
            <a:cxnLst/>
            <a:rect l="l" t="t" r="r" b="b"/>
            <a:pathLst>
              <a:path w="1996070" h="1110314">
                <a:moveTo>
                  <a:pt x="0" y="0"/>
                </a:moveTo>
                <a:lnTo>
                  <a:pt x="1996070" y="0"/>
                </a:lnTo>
                <a:lnTo>
                  <a:pt x="1996070" y="1110314"/>
                </a:lnTo>
                <a:lnTo>
                  <a:pt x="0" y="111031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CD184B15-8551-32F1-74F8-DE4F2320E6E0}"/>
              </a:ext>
            </a:extLst>
          </p:cNvPr>
          <p:cNvSpPr/>
          <p:nvPr/>
        </p:nvSpPr>
        <p:spPr>
          <a:xfrm rot="3684192">
            <a:off x="3773308" y="1134923"/>
            <a:ext cx="1436520" cy="799064"/>
          </a:xfrm>
          <a:custGeom>
            <a:avLst/>
            <a:gdLst/>
            <a:ahLst/>
            <a:cxnLst/>
            <a:rect l="l" t="t" r="r" b="b"/>
            <a:pathLst>
              <a:path w="1436520" h="799064">
                <a:moveTo>
                  <a:pt x="0" y="0"/>
                </a:moveTo>
                <a:lnTo>
                  <a:pt x="1436520" y="0"/>
                </a:lnTo>
                <a:lnTo>
                  <a:pt x="1436520" y="799064"/>
                </a:lnTo>
                <a:lnTo>
                  <a:pt x="0" y="79906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7FF6B0D2-26BB-EA50-9EEB-D3C3E23447F6}"/>
              </a:ext>
            </a:extLst>
          </p:cNvPr>
          <p:cNvSpPr/>
          <p:nvPr/>
        </p:nvSpPr>
        <p:spPr>
          <a:xfrm>
            <a:off x="13079158" y="6873284"/>
            <a:ext cx="2493091" cy="2607154"/>
          </a:xfrm>
          <a:custGeom>
            <a:avLst/>
            <a:gdLst/>
            <a:ahLst/>
            <a:cxnLst/>
            <a:rect l="l" t="t" r="r" b="b"/>
            <a:pathLst>
              <a:path w="2493091" h="2607154">
                <a:moveTo>
                  <a:pt x="0" y="0"/>
                </a:moveTo>
                <a:lnTo>
                  <a:pt x="2493091" y="0"/>
                </a:lnTo>
                <a:lnTo>
                  <a:pt x="2493091" y="2607154"/>
                </a:lnTo>
                <a:lnTo>
                  <a:pt x="0" y="260715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1599490C-3A90-7623-186F-ADED14795935}"/>
              </a:ext>
            </a:extLst>
          </p:cNvPr>
          <p:cNvSpPr txBox="1"/>
          <p:nvPr/>
        </p:nvSpPr>
        <p:spPr>
          <a:xfrm>
            <a:off x="7013474" y="4994822"/>
            <a:ext cx="4604081" cy="571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6600" spc="-225" dirty="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Kesimpulan</a:t>
            </a:r>
            <a:r>
              <a:rPr lang="en-US" sz="4000" spc="-225" dirty="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14883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ferris dir="l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211625"/>
            <a:chOff x="0" y="0"/>
            <a:chExt cx="24384000" cy="162821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6227725" y="8115683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227725" y="0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8112082" y="0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8115683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8112082" y="8115683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 rot="-753278" flipV="1">
            <a:off x="14273617" y="885873"/>
            <a:ext cx="3039882" cy="4437784"/>
          </a:xfrm>
          <a:custGeom>
            <a:avLst/>
            <a:gdLst/>
            <a:ahLst/>
            <a:cxnLst/>
            <a:rect l="l" t="t" r="r" b="b"/>
            <a:pathLst>
              <a:path w="3039882" h="4437784">
                <a:moveTo>
                  <a:pt x="0" y="4437784"/>
                </a:moveTo>
                <a:lnTo>
                  <a:pt x="3039882" y="4437784"/>
                </a:lnTo>
                <a:lnTo>
                  <a:pt x="3039882" y="0"/>
                </a:lnTo>
                <a:lnTo>
                  <a:pt x="0" y="0"/>
                </a:lnTo>
                <a:lnTo>
                  <a:pt x="0" y="443778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813219" y="2508312"/>
            <a:ext cx="12661563" cy="5270376"/>
          </a:xfrm>
          <a:custGeom>
            <a:avLst/>
            <a:gdLst/>
            <a:ahLst/>
            <a:cxnLst/>
            <a:rect l="l" t="t" r="r" b="b"/>
            <a:pathLst>
              <a:path w="12661563" h="5270376">
                <a:moveTo>
                  <a:pt x="0" y="0"/>
                </a:moveTo>
                <a:lnTo>
                  <a:pt x="12661562" y="0"/>
                </a:lnTo>
                <a:lnTo>
                  <a:pt x="12661562" y="5270376"/>
                </a:lnTo>
                <a:lnTo>
                  <a:pt x="0" y="52703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822722" y="4019786"/>
            <a:ext cx="10833371" cy="2809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12500" spc="-187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Thank You</a:t>
            </a:r>
          </a:p>
          <a:p>
            <a:pPr algn="ctr">
              <a:lnSpc>
                <a:spcPts val="10500"/>
              </a:lnSpc>
            </a:pPr>
            <a:r>
              <a:rPr lang="en-US" sz="12500" spc="-187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Very Much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27314" y="3952874"/>
            <a:ext cx="10833371" cy="2809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12500" spc="-187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Thank You</a:t>
            </a:r>
          </a:p>
          <a:p>
            <a:pPr algn="ctr">
              <a:lnSpc>
                <a:spcPts val="10500"/>
              </a:lnSpc>
            </a:pPr>
            <a:r>
              <a:rPr lang="en-US" sz="12500" spc="-187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Very Much</a:t>
            </a:r>
          </a:p>
        </p:txBody>
      </p:sp>
      <p:sp>
        <p:nvSpPr>
          <p:cNvPr id="13" name="Freeform 13"/>
          <p:cNvSpPr/>
          <p:nvPr/>
        </p:nvSpPr>
        <p:spPr>
          <a:xfrm>
            <a:off x="838236" y="6564420"/>
            <a:ext cx="3370076" cy="3092045"/>
          </a:xfrm>
          <a:custGeom>
            <a:avLst/>
            <a:gdLst/>
            <a:ahLst/>
            <a:cxnLst/>
            <a:rect l="l" t="t" r="r" b="b"/>
            <a:pathLst>
              <a:path w="3370076" h="3092045">
                <a:moveTo>
                  <a:pt x="0" y="0"/>
                </a:moveTo>
                <a:lnTo>
                  <a:pt x="3370076" y="0"/>
                </a:lnTo>
                <a:lnTo>
                  <a:pt x="3370076" y="3092045"/>
                </a:lnTo>
                <a:lnTo>
                  <a:pt x="0" y="30920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255726">
            <a:off x="4502291" y="3017889"/>
            <a:ext cx="1178818" cy="869378"/>
          </a:xfrm>
          <a:custGeom>
            <a:avLst/>
            <a:gdLst/>
            <a:ahLst/>
            <a:cxnLst/>
            <a:rect l="l" t="t" r="r" b="b"/>
            <a:pathLst>
              <a:path w="1178818" h="869378">
                <a:moveTo>
                  <a:pt x="0" y="0"/>
                </a:moveTo>
                <a:lnTo>
                  <a:pt x="1178818" y="0"/>
                </a:lnTo>
                <a:lnTo>
                  <a:pt x="1178818" y="869379"/>
                </a:lnTo>
                <a:lnTo>
                  <a:pt x="0" y="8693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488535" y="5831587"/>
            <a:ext cx="1879578" cy="2132854"/>
          </a:xfrm>
          <a:custGeom>
            <a:avLst/>
            <a:gdLst/>
            <a:ahLst/>
            <a:cxnLst/>
            <a:rect l="l" t="t" r="r" b="b"/>
            <a:pathLst>
              <a:path w="1879578" h="2132854">
                <a:moveTo>
                  <a:pt x="0" y="0"/>
                </a:moveTo>
                <a:lnTo>
                  <a:pt x="1879578" y="0"/>
                </a:lnTo>
                <a:lnTo>
                  <a:pt x="1879578" y="2132854"/>
                </a:lnTo>
                <a:lnTo>
                  <a:pt x="0" y="21328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884333">
            <a:off x="13923593" y="1885460"/>
            <a:ext cx="2172445" cy="1947054"/>
          </a:xfrm>
          <a:custGeom>
            <a:avLst/>
            <a:gdLst/>
            <a:ahLst/>
            <a:cxnLst/>
            <a:rect l="l" t="t" r="r" b="b"/>
            <a:pathLst>
              <a:path w="2172445" h="1947054">
                <a:moveTo>
                  <a:pt x="0" y="0"/>
                </a:moveTo>
                <a:lnTo>
                  <a:pt x="2172445" y="0"/>
                </a:lnTo>
                <a:lnTo>
                  <a:pt x="2172445" y="1947053"/>
                </a:lnTo>
                <a:lnTo>
                  <a:pt x="0" y="194705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602452">
            <a:off x="1671654" y="6468589"/>
            <a:ext cx="2319969" cy="1948774"/>
          </a:xfrm>
          <a:custGeom>
            <a:avLst/>
            <a:gdLst/>
            <a:ahLst/>
            <a:cxnLst/>
            <a:rect l="l" t="t" r="r" b="b"/>
            <a:pathLst>
              <a:path w="2319969" h="1948774">
                <a:moveTo>
                  <a:pt x="0" y="0"/>
                </a:moveTo>
                <a:lnTo>
                  <a:pt x="2319969" y="0"/>
                </a:lnTo>
                <a:lnTo>
                  <a:pt x="2319969" y="1948774"/>
                </a:lnTo>
                <a:lnTo>
                  <a:pt x="0" y="194877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385894">
            <a:off x="1600365" y="2047583"/>
            <a:ext cx="2275196" cy="3048839"/>
          </a:xfrm>
          <a:custGeom>
            <a:avLst/>
            <a:gdLst/>
            <a:ahLst/>
            <a:cxnLst/>
            <a:rect l="l" t="t" r="r" b="b"/>
            <a:pathLst>
              <a:path w="2275196" h="3048839">
                <a:moveTo>
                  <a:pt x="0" y="0"/>
                </a:moveTo>
                <a:lnTo>
                  <a:pt x="2275196" y="0"/>
                </a:lnTo>
                <a:lnTo>
                  <a:pt x="2275196" y="3048839"/>
                </a:lnTo>
                <a:lnTo>
                  <a:pt x="0" y="304883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436730" flipH="1">
            <a:off x="13338186" y="8317689"/>
            <a:ext cx="3343258" cy="1128350"/>
          </a:xfrm>
          <a:custGeom>
            <a:avLst/>
            <a:gdLst/>
            <a:ahLst/>
            <a:cxnLst/>
            <a:rect l="l" t="t" r="r" b="b"/>
            <a:pathLst>
              <a:path w="3343258" h="1128350">
                <a:moveTo>
                  <a:pt x="3343259" y="0"/>
                </a:moveTo>
                <a:lnTo>
                  <a:pt x="0" y="0"/>
                </a:lnTo>
                <a:lnTo>
                  <a:pt x="0" y="1128349"/>
                </a:lnTo>
                <a:lnTo>
                  <a:pt x="3343259" y="1128349"/>
                </a:lnTo>
                <a:lnTo>
                  <a:pt x="3343259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964953">
            <a:off x="1436765" y="806908"/>
            <a:ext cx="1625974" cy="1371916"/>
          </a:xfrm>
          <a:custGeom>
            <a:avLst/>
            <a:gdLst/>
            <a:ahLst/>
            <a:cxnLst/>
            <a:rect l="l" t="t" r="r" b="b"/>
            <a:pathLst>
              <a:path w="1625974" h="1371916">
                <a:moveTo>
                  <a:pt x="0" y="0"/>
                </a:moveTo>
                <a:lnTo>
                  <a:pt x="1625974" y="0"/>
                </a:lnTo>
                <a:lnTo>
                  <a:pt x="1625974" y="1371915"/>
                </a:lnTo>
                <a:lnTo>
                  <a:pt x="0" y="137191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211625"/>
            <a:chOff x="0" y="0"/>
            <a:chExt cx="24384000" cy="162821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6227725" y="8115683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227725" y="0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8112082" y="0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8115683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8112082" y="8115683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82199" y="1212796"/>
            <a:ext cx="15551119" cy="8229600"/>
            <a:chOff x="0" y="0"/>
            <a:chExt cx="4095768" cy="21674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95768" cy="2167467"/>
            </a:xfrm>
            <a:custGeom>
              <a:avLst/>
              <a:gdLst/>
              <a:ahLst/>
              <a:cxnLst/>
              <a:rect l="l" t="t" r="r" b="b"/>
              <a:pathLst>
                <a:path w="4095768" h="2167467">
                  <a:moveTo>
                    <a:pt x="17424" y="0"/>
                  </a:moveTo>
                  <a:lnTo>
                    <a:pt x="4078344" y="0"/>
                  </a:lnTo>
                  <a:cubicBezTo>
                    <a:pt x="4087967" y="0"/>
                    <a:pt x="4095768" y="7801"/>
                    <a:pt x="4095768" y="17424"/>
                  </a:cubicBezTo>
                  <a:lnTo>
                    <a:pt x="4095768" y="2150042"/>
                  </a:lnTo>
                  <a:cubicBezTo>
                    <a:pt x="4095768" y="2159666"/>
                    <a:pt x="4087967" y="2167467"/>
                    <a:pt x="4078344" y="2167467"/>
                  </a:cubicBezTo>
                  <a:lnTo>
                    <a:pt x="17424" y="2167467"/>
                  </a:lnTo>
                  <a:cubicBezTo>
                    <a:pt x="7801" y="2167467"/>
                    <a:pt x="0" y="2159666"/>
                    <a:pt x="0" y="2150042"/>
                  </a:cubicBezTo>
                  <a:lnTo>
                    <a:pt x="0" y="17424"/>
                  </a:lnTo>
                  <a:cubicBezTo>
                    <a:pt x="0" y="7801"/>
                    <a:pt x="7801" y="0"/>
                    <a:pt x="17424" y="0"/>
                  </a:cubicBezTo>
                  <a:close/>
                </a:path>
              </a:pathLst>
            </a:custGeom>
            <a:solidFill>
              <a:srgbClr val="162C3B">
                <a:alpha val="14902"/>
              </a:srgbClr>
            </a:solidFill>
            <a:ln w="76200" cap="rnd">
              <a:solidFill>
                <a:srgbClr val="162C3B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095768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8440" y="1028700"/>
            <a:ext cx="15551119" cy="8229600"/>
            <a:chOff x="0" y="0"/>
            <a:chExt cx="4095768" cy="216746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095768" cy="2167467"/>
            </a:xfrm>
            <a:custGeom>
              <a:avLst/>
              <a:gdLst/>
              <a:ahLst/>
              <a:cxnLst/>
              <a:rect l="l" t="t" r="r" b="b"/>
              <a:pathLst>
                <a:path w="4095768" h="2167467">
                  <a:moveTo>
                    <a:pt x="17424" y="0"/>
                  </a:moveTo>
                  <a:lnTo>
                    <a:pt x="4078344" y="0"/>
                  </a:lnTo>
                  <a:cubicBezTo>
                    <a:pt x="4087967" y="0"/>
                    <a:pt x="4095768" y="7801"/>
                    <a:pt x="4095768" y="17424"/>
                  </a:cubicBezTo>
                  <a:lnTo>
                    <a:pt x="4095768" y="2150042"/>
                  </a:lnTo>
                  <a:cubicBezTo>
                    <a:pt x="4095768" y="2159666"/>
                    <a:pt x="4087967" y="2167467"/>
                    <a:pt x="4078344" y="2167467"/>
                  </a:cubicBezTo>
                  <a:lnTo>
                    <a:pt x="17424" y="2167467"/>
                  </a:lnTo>
                  <a:cubicBezTo>
                    <a:pt x="7801" y="2167467"/>
                    <a:pt x="0" y="2159666"/>
                    <a:pt x="0" y="2150042"/>
                  </a:cubicBezTo>
                  <a:lnTo>
                    <a:pt x="0" y="17424"/>
                  </a:lnTo>
                  <a:cubicBezTo>
                    <a:pt x="0" y="7801"/>
                    <a:pt x="7801" y="0"/>
                    <a:pt x="17424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095768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8120873" y="5175738"/>
            <a:ext cx="1405306" cy="1500994"/>
          </a:xfrm>
          <a:custGeom>
            <a:avLst/>
            <a:gdLst/>
            <a:ahLst/>
            <a:cxnLst/>
            <a:rect l="l" t="t" r="r" b="b"/>
            <a:pathLst>
              <a:path w="1405306" h="1500994">
                <a:moveTo>
                  <a:pt x="0" y="0"/>
                </a:moveTo>
                <a:lnTo>
                  <a:pt x="1405306" y="0"/>
                </a:lnTo>
                <a:lnTo>
                  <a:pt x="1405306" y="1500995"/>
                </a:lnTo>
                <a:lnTo>
                  <a:pt x="0" y="15009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440840">
            <a:off x="4345424" y="3603957"/>
            <a:ext cx="1164038" cy="1218888"/>
          </a:xfrm>
          <a:custGeom>
            <a:avLst/>
            <a:gdLst/>
            <a:ahLst/>
            <a:cxnLst/>
            <a:rect l="l" t="t" r="r" b="b"/>
            <a:pathLst>
              <a:path w="1164038" h="1218888">
                <a:moveTo>
                  <a:pt x="0" y="0"/>
                </a:moveTo>
                <a:lnTo>
                  <a:pt x="1164038" y="0"/>
                </a:lnTo>
                <a:lnTo>
                  <a:pt x="1164038" y="1218888"/>
                </a:lnTo>
                <a:lnTo>
                  <a:pt x="0" y="12188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602452">
            <a:off x="2347072" y="3624840"/>
            <a:ext cx="1401337" cy="1177123"/>
          </a:xfrm>
          <a:custGeom>
            <a:avLst/>
            <a:gdLst/>
            <a:ahLst/>
            <a:cxnLst/>
            <a:rect l="l" t="t" r="r" b="b"/>
            <a:pathLst>
              <a:path w="1401337" h="1177123">
                <a:moveTo>
                  <a:pt x="0" y="0"/>
                </a:moveTo>
                <a:lnTo>
                  <a:pt x="1401336" y="0"/>
                </a:lnTo>
                <a:lnTo>
                  <a:pt x="1401336" y="1177123"/>
                </a:lnTo>
                <a:lnTo>
                  <a:pt x="0" y="11771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2456374" y="1805040"/>
            <a:ext cx="1182732" cy="1584901"/>
          </a:xfrm>
          <a:custGeom>
            <a:avLst/>
            <a:gdLst/>
            <a:ahLst/>
            <a:cxnLst/>
            <a:rect l="l" t="t" r="r" b="b"/>
            <a:pathLst>
              <a:path w="1182732" h="1584901">
                <a:moveTo>
                  <a:pt x="0" y="0"/>
                </a:moveTo>
                <a:lnTo>
                  <a:pt x="1182732" y="0"/>
                </a:lnTo>
                <a:lnTo>
                  <a:pt x="1182732" y="1584901"/>
                </a:lnTo>
                <a:lnTo>
                  <a:pt x="0" y="15849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4166232" y="2107461"/>
            <a:ext cx="1522422" cy="980059"/>
          </a:xfrm>
          <a:custGeom>
            <a:avLst/>
            <a:gdLst/>
            <a:ahLst/>
            <a:cxnLst/>
            <a:rect l="l" t="t" r="r" b="b"/>
            <a:pathLst>
              <a:path w="1522422" h="980059">
                <a:moveTo>
                  <a:pt x="0" y="0"/>
                </a:moveTo>
                <a:lnTo>
                  <a:pt x="1522422" y="0"/>
                </a:lnTo>
                <a:lnTo>
                  <a:pt x="1522422" y="980059"/>
                </a:lnTo>
                <a:lnTo>
                  <a:pt x="0" y="98005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1299493">
            <a:off x="6235409" y="1943498"/>
            <a:ext cx="1159202" cy="1307985"/>
          </a:xfrm>
          <a:custGeom>
            <a:avLst/>
            <a:gdLst/>
            <a:ahLst/>
            <a:cxnLst/>
            <a:rect l="l" t="t" r="r" b="b"/>
            <a:pathLst>
              <a:path w="1159202" h="1307985">
                <a:moveTo>
                  <a:pt x="0" y="0"/>
                </a:moveTo>
                <a:lnTo>
                  <a:pt x="1159202" y="0"/>
                </a:lnTo>
                <a:lnTo>
                  <a:pt x="1159202" y="1307985"/>
                </a:lnTo>
                <a:lnTo>
                  <a:pt x="0" y="130798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048568" y="3511693"/>
            <a:ext cx="1532884" cy="1220559"/>
          </a:xfrm>
          <a:custGeom>
            <a:avLst/>
            <a:gdLst/>
            <a:ahLst/>
            <a:cxnLst/>
            <a:rect l="l" t="t" r="r" b="b"/>
            <a:pathLst>
              <a:path w="1532884" h="1220559">
                <a:moveTo>
                  <a:pt x="0" y="0"/>
                </a:moveTo>
                <a:lnTo>
                  <a:pt x="1532884" y="0"/>
                </a:lnTo>
                <a:lnTo>
                  <a:pt x="1532884" y="1220559"/>
                </a:lnTo>
                <a:lnTo>
                  <a:pt x="0" y="122055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2375761">
            <a:off x="8141832" y="3823638"/>
            <a:ext cx="1163794" cy="712824"/>
          </a:xfrm>
          <a:custGeom>
            <a:avLst/>
            <a:gdLst/>
            <a:ahLst/>
            <a:cxnLst/>
            <a:rect l="l" t="t" r="r" b="b"/>
            <a:pathLst>
              <a:path w="1163794" h="712824">
                <a:moveTo>
                  <a:pt x="0" y="0"/>
                </a:moveTo>
                <a:lnTo>
                  <a:pt x="1163794" y="0"/>
                </a:lnTo>
                <a:lnTo>
                  <a:pt x="1163794" y="712824"/>
                </a:lnTo>
                <a:lnTo>
                  <a:pt x="0" y="71282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2263306" y="5343195"/>
            <a:ext cx="1568869" cy="1333538"/>
          </a:xfrm>
          <a:custGeom>
            <a:avLst/>
            <a:gdLst/>
            <a:ahLst/>
            <a:cxnLst/>
            <a:rect l="l" t="t" r="r" b="b"/>
            <a:pathLst>
              <a:path w="1568869" h="1333538">
                <a:moveTo>
                  <a:pt x="0" y="0"/>
                </a:moveTo>
                <a:lnTo>
                  <a:pt x="1568868" y="0"/>
                </a:lnTo>
                <a:lnTo>
                  <a:pt x="1568868" y="1333538"/>
                </a:lnTo>
                <a:lnTo>
                  <a:pt x="0" y="133353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2481928" y="7047980"/>
            <a:ext cx="1131624" cy="1284112"/>
          </a:xfrm>
          <a:custGeom>
            <a:avLst/>
            <a:gdLst/>
            <a:ahLst/>
            <a:cxnLst/>
            <a:rect l="l" t="t" r="r" b="b"/>
            <a:pathLst>
              <a:path w="1131624" h="1284112">
                <a:moveTo>
                  <a:pt x="0" y="0"/>
                </a:moveTo>
                <a:lnTo>
                  <a:pt x="1131624" y="0"/>
                </a:lnTo>
                <a:lnTo>
                  <a:pt x="1131624" y="1284112"/>
                </a:lnTo>
                <a:lnTo>
                  <a:pt x="0" y="128411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6095252" y="5213190"/>
            <a:ext cx="1439515" cy="1290166"/>
          </a:xfrm>
          <a:custGeom>
            <a:avLst/>
            <a:gdLst/>
            <a:ahLst/>
            <a:cxnLst/>
            <a:rect l="l" t="t" r="r" b="b"/>
            <a:pathLst>
              <a:path w="1439515" h="1290166">
                <a:moveTo>
                  <a:pt x="0" y="0"/>
                </a:moveTo>
                <a:lnTo>
                  <a:pt x="1439516" y="0"/>
                </a:lnTo>
                <a:lnTo>
                  <a:pt x="1439516" y="1290166"/>
                </a:lnTo>
                <a:lnTo>
                  <a:pt x="0" y="129016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8120873" y="1829723"/>
            <a:ext cx="1243647" cy="1257797"/>
          </a:xfrm>
          <a:custGeom>
            <a:avLst/>
            <a:gdLst/>
            <a:ahLst/>
            <a:cxnLst/>
            <a:rect l="l" t="t" r="r" b="b"/>
            <a:pathLst>
              <a:path w="1243647" h="1257797">
                <a:moveTo>
                  <a:pt x="0" y="0"/>
                </a:moveTo>
                <a:lnTo>
                  <a:pt x="1243647" y="0"/>
                </a:lnTo>
                <a:lnTo>
                  <a:pt x="1243647" y="1257797"/>
                </a:lnTo>
                <a:lnTo>
                  <a:pt x="0" y="1257797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4194535" y="5425552"/>
            <a:ext cx="1465817" cy="865443"/>
          </a:xfrm>
          <a:custGeom>
            <a:avLst/>
            <a:gdLst/>
            <a:ahLst/>
            <a:cxnLst/>
            <a:rect l="l" t="t" r="r" b="b"/>
            <a:pathLst>
              <a:path w="1465817" h="865443">
                <a:moveTo>
                  <a:pt x="0" y="0"/>
                </a:moveTo>
                <a:lnTo>
                  <a:pt x="1465816" y="0"/>
                </a:lnTo>
                <a:lnTo>
                  <a:pt x="1465816" y="865442"/>
                </a:lnTo>
                <a:lnTo>
                  <a:pt x="0" y="865442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4272265" y="7113174"/>
            <a:ext cx="1228129" cy="1218918"/>
          </a:xfrm>
          <a:custGeom>
            <a:avLst/>
            <a:gdLst/>
            <a:ahLst/>
            <a:cxnLst/>
            <a:rect l="l" t="t" r="r" b="b"/>
            <a:pathLst>
              <a:path w="1228129" h="1218918">
                <a:moveTo>
                  <a:pt x="0" y="0"/>
                </a:moveTo>
                <a:lnTo>
                  <a:pt x="1228129" y="0"/>
                </a:lnTo>
                <a:lnTo>
                  <a:pt x="1228129" y="1218918"/>
                </a:lnTo>
                <a:lnTo>
                  <a:pt x="0" y="1218918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6022068" y="7166592"/>
            <a:ext cx="1556709" cy="1046887"/>
          </a:xfrm>
          <a:custGeom>
            <a:avLst/>
            <a:gdLst/>
            <a:ahLst/>
            <a:cxnLst/>
            <a:rect l="l" t="t" r="r" b="b"/>
            <a:pathLst>
              <a:path w="1556709" h="1046887">
                <a:moveTo>
                  <a:pt x="0" y="0"/>
                </a:moveTo>
                <a:lnTo>
                  <a:pt x="1556709" y="0"/>
                </a:lnTo>
                <a:lnTo>
                  <a:pt x="1556709" y="1046887"/>
                </a:lnTo>
                <a:lnTo>
                  <a:pt x="0" y="1046887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8082994" y="7047980"/>
            <a:ext cx="1281526" cy="1214246"/>
          </a:xfrm>
          <a:custGeom>
            <a:avLst/>
            <a:gdLst/>
            <a:ahLst/>
            <a:cxnLst/>
            <a:rect l="l" t="t" r="r" b="b"/>
            <a:pathLst>
              <a:path w="1281526" h="1214246">
                <a:moveTo>
                  <a:pt x="0" y="0"/>
                </a:moveTo>
                <a:lnTo>
                  <a:pt x="1281526" y="0"/>
                </a:lnTo>
                <a:lnTo>
                  <a:pt x="1281526" y="1214245"/>
                </a:lnTo>
                <a:lnTo>
                  <a:pt x="0" y="1214245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0397482" y="1949323"/>
            <a:ext cx="5822652" cy="268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50"/>
              </a:lnSpc>
            </a:pPr>
            <a:r>
              <a:rPr lang="en-US" sz="9500" spc="-285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Resource Pages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325595" y="1877436"/>
            <a:ext cx="5822652" cy="268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50"/>
              </a:lnSpc>
            </a:pPr>
            <a:r>
              <a:rPr lang="en-US" sz="9500" spc="-285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Resource Pages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325595" y="5549681"/>
            <a:ext cx="5750723" cy="2774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2"/>
              </a:lnSpc>
            </a:pPr>
            <a:r>
              <a:rPr lang="en-US" sz="2863" b="1" spc="-42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Use the following design resources in your presentation You. Happy designing!</a:t>
            </a:r>
          </a:p>
          <a:p>
            <a:pPr algn="l">
              <a:lnSpc>
                <a:spcPts val="3722"/>
              </a:lnSpc>
            </a:pPr>
            <a:endParaRPr lang="en-US" sz="2863" b="1" spc="-42">
              <a:solidFill>
                <a:srgbClr val="162C3B"/>
              </a:solidFill>
              <a:latin typeface="Nunito Bold"/>
              <a:ea typeface="Nunito Bold"/>
              <a:cs typeface="Nunito Bold"/>
              <a:sym typeface="Nunito Bold"/>
            </a:endParaRPr>
          </a:p>
          <a:p>
            <a:pPr marL="0" lvl="0" indent="0" algn="l">
              <a:lnSpc>
                <a:spcPts val="3722"/>
              </a:lnSpc>
              <a:spcBef>
                <a:spcPct val="0"/>
              </a:spcBef>
            </a:pPr>
            <a:r>
              <a:rPr lang="en-US" sz="2863" b="1" spc="-42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Delete or hide pages before presenting.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211625"/>
            <a:chOff x="0" y="0"/>
            <a:chExt cx="24384000" cy="162821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6227725" y="8115683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6227725" y="0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8112082" y="0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8115683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8112082" y="8115683"/>
              <a:ext cx="8156275" cy="8166483"/>
            </a:xfrm>
            <a:custGeom>
              <a:avLst/>
              <a:gdLst/>
              <a:ahLst/>
              <a:cxnLst/>
              <a:rect l="l" t="t" r="r" b="b"/>
              <a:pathLst>
                <a:path w="8156275" h="8166483">
                  <a:moveTo>
                    <a:pt x="0" y="0"/>
                  </a:moveTo>
                  <a:lnTo>
                    <a:pt x="8156275" y="0"/>
                  </a:lnTo>
                  <a:lnTo>
                    <a:pt x="8156275" y="8166483"/>
                  </a:lnTo>
                  <a:lnTo>
                    <a:pt x="0" y="8166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82199" y="1212796"/>
            <a:ext cx="15551119" cy="8229600"/>
            <a:chOff x="0" y="0"/>
            <a:chExt cx="4095768" cy="21674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95768" cy="2167467"/>
            </a:xfrm>
            <a:custGeom>
              <a:avLst/>
              <a:gdLst/>
              <a:ahLst/>
              <a:cxnLst/>
              <a:rect l="l" t="t" r="r" b="b"/>
              <a:pathLst>
                <a:path w="4095768" h="2167467">
                  <a:moveTo>
                    <a:pt x="17424" y="0"/>
                  </a:moveTo>
                  <a:lnTo>
                    <a:pt x="4078344" y="0"/>
                  </a:lnTo>
                  <a:cubicBezTo>
                    <a:pt x="4087967" y="0"/>
                    <a:pt x="4095768" y="7801"/>
                    <a:pt x="4095768" y="17424"/>
                  </a:cubicBezTo>
                  <a:lnTo>
                    <a:pt x="4095768" y="2150042"/>
                  </a:lnTo>
                  <a:cubicBezTo>
                    <a:pt x="4095768" y="2159666"/>
                    <a:pt x="4087967" y="2167467"/>
                    <a:pt x="4078344" y="2167467"/>
                  </a:cubicBezTo>
                  <a:lnTo>
                    <a:pt x="17424" y="2167467"/>
                  </a:lnTo>
                  <a:cubicBezTo>
                    <a:pt x="7801" y="2167467"/>
                    <a:pt x="0" y="2159666"/>
                    <a:pt x="0" y="2150042"/>
                  </a:cubicBezTo>
                  <a:lnTo>
                    <a:pt x="0" y="17424"/>
                  </a:lnTo>
                  <a:cubicBezTo>
                    <a:pt x="0" y="7801"/>
                    <a:pt x="7801" y="0"/>
                    <a:pt x="17424" y="0"/>
                  </a:cubicBezTo>
                  <a:close/>
                </a:path>
              </a:pathLst>
            </a:custGeom>
            <a:solidFill>
              <a:srgbClr val="162C3B">
                <a:alpha val="14902"/>
              </a:srgbClr>
            </a:solidFill>
            <a:ln w="76200" cap="rnd">
              <a:solidFill>
                <a:srgbClr val="162C3B">
                  <a:alpha val="14902"/>
                </a:srgbClr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095768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8440" y="1028700"/>
            <a:ext cx="15551119" cy="8229600"/>
            <a:chOff x="0" y="0"/>
            <a:chExt cx="4095768" cy="216746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095768" cy="2167467"/>
            </a:xfrm>
            <a:custGeom>
              <a:avLst/>
              <a:gdLst/>
              <a:ahLst/>
              <a:cxnLst/>
              <a:rect l="l" t="t" r="r" b="b"/>
              <a:pathLst>
                <a:path w="4095768" h="2167467">
                  <a:moveTo>
                    <a:pt x="17424" y="0"/>
                  </a:moveTo>
                  <a:lnTo>
                    <a:pt x="4078344" y="0"/>
                  </a:lnTo>
                  <a:cubicBezTo>
                    <a:pt x="4087967" y="0"/>
                    <a:pt x="4095768" y="7801"/>
                    <a:pt x="4095768" y="17424"/>
                  </a:cubicBezTo>
                  <a:lnTo>
                    <a:pt x="4095768" y="2150042"/>
                  </a:lnTo>
                  <a:cubicBezTo>
                    <a:pt x="4095768" y="2159666"/>
                    <a:pt x="4087967" y="2167467"/>
                    <a:pt x="4078344" y="2167467"/>
                  </a:cubicBezTo>
                  <a:lnTo>
                    <a:pt x="17424" y="2167467"/>
                  </a:lnTo>
                  <a:cubicBezTo>
                    <a:pt x="7801" y="2167467"/>
                    <a:pt x="0" y="2159666"/>
                    <a:pt x="0" y="2150042"/>
                  </a:cubicBezTo>
                  <a:lnTo>
                    <a:pt x="0" y="17424"/>
                  </a:lnTo>
                  <a:cubicBezTo>
                    <a:pt x="0" y="7801"/>
                    <a:pt x="7801" y="0"/>
                    <a:pt x="17424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162C3B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095768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-753278">
            <a:off x="5930610" y="1876749"/>
            <a:ext cx="877934" cy="1281655"/>
          </a:xfrm>
          <a:custGeom>
            <a:avLst/>
            <a:gdLst/>
            <a:ahLst/>
            <a:cxnLst/>
            <a:rect l="l" t="t" r="r" b="b"/>
            <a:pathLst>
              <a:path w="877934" h="1281655">
                <a:moveTo>
                  <a:pt x="0" y="0"/>
                </a:moveTo>
                <a:lnTo>
                  <a:pt x="877934" y="0"/>
                </a:lnTo>
                <a:lnTo>
                  <a:pt x="877934" y="1281655"/>
                </a:lnTo>
                <a:lnTo>
                  <a:pt x="0" y="12816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4066178" y="1822935"/>
            <a:ext cx="1303528" cy="1195987"/>
          </a:xfrm>
          <a:custGeom>
            <a:avLst/>
            <a:gdLst/>
            <a:ahLst/>
            <a:cxnLst/>
            <a:rect l="l" t="t" r="r" b="b"/>
            <a:pathLst>
              <a:path w="1303528" h="1195987">
                <a:moveTo>
                  <a:pt x="0" y="0"/>
                </a:moveTo>
                <a:lnTo>
                  <a:pt x="1303528" y="0"/>
                </a:lnTo>
                <a:lnTo>
                  <a:pt x="1303528" y="1195987"/>
                </a:lnTo>
                <a:lnTo>
                  <a:pt x="0" y="11959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1255726">
            <a:off x="7499694" y="2102920"/>
            <a:ext cx="1258653" cy="928257"/>
          </a:xfrm>
          <a:custGeom>
            <a:avLst/>
            <a:gdLst/>
            <a:ahLst/>
            <a:cxnLst/>
            <a:rect l="l" t="t" r="r" b="b"/>
            <a:pathLst>
              <a:path w="1258653" h="928257">
                <a:moveTo>
                  <a:pt x="0" y="0"/>
                </a:moveTo>
                <a:lnTo>
                  <a:pt x="1258654" y="0"/>
                </a:lnTo>
                <a:lnTo>
                  <a:pt x="1258654" y="928257"/>
                </a:lnTo>
                <a:lnTo>
                  <a:pt x="0" y="9282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2068186">
            <a:off x="2523357" y="1816216"/>
            <a:ext cx="785854" cy="1455285"/>
          </a:xfrm>
          <a:custGeom>
            <a:avLst/>
            <a:gdLst/>
            <a:ahLst/>
            <a:cxnLst/>
            <a:rect l="l" t="t" r="r" b="b"/>
            <a:pathLst>
              <a:path w="785854" h="1455285">
                <a:moveTo>
                  <a:pt x="0" y="0"/>
                </a:moveTo>
                <a:lnTo>
                  <a:pt x="785854" y="0"/>
                </a:lnTo>
                <a:lnTo>
                  <a:pt x="785854" y="1455284"/>
                </a:lnTo>
                <a:lnTo>
                  <a:pt x="0" y="14552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5721159" y="3613212"/>
            <a:ext cx="1383799" cy="1165851"/>
          </a:xfrm>
          <a:custGeom>
            <a:avLst/>
            <a:gdLst/>
            <a:ahLst/>
            <a:cxnLst/>
            <a:rect l="l" t="t" r="r" b="b"/>
            <a:pathLst>
              <a:path w="1383799" h="1165851">
                <a:moveTo>
                  <a:pt x="0" y="0"/>
                </a:moveTo>
                <a:lnTo>
                  <a:pt x="1383798" y="0"/>
                </a:lnTo>
                <a:lnTo>
                  <a:pt x="1383798" y="1165850"/>
                </a:lnTo>
                <a:lnTo>
                  <a:pt x="0" y="11658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2700000">
            <a:off x="2289333" y="3837206"/>
            <a:ext cx="1426255" cy="898541"/>
          </a:xfrm>
          <a:custGeom>
            <a:avLst/>
            <a:gdLst/>
            <a:ahLst/>
            <a:cxnLst/>
            <a:rect l="l" t="t" r="r" b="b"/>
            <a:pathLst>
              <a:path w="1426255" h="898541">
                <a:moveTo>
                  <a:pt x="0" y="0"/>
                </a:moveTo>
                <a:lnTo>
                  <a:pt x="1426255" y="0"/>
                </a:lnTo>
                <a:lnTo>
                  <a:pt x="1426255" y="898540"/>
                </a:lnTo>
                <a:lnTo>
                  <a:pt x="0" y="8985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3865308" y="3672962"/>
            <a:ext cx="1438817" cy="881275"/>
          </a:xfrm>
          <a:custGeom>
            <a:avLst/>
            <a:gdLst/>
            <a:ahLst/>
            <a:cxnLst/>
            <a:rect l="l" t="t" r="r" b="b"/>
            <a:pathLst>
              <a:path w="1438817" h="881275">
                <a:moveTo>
                  <a:pt x="0" y="0"/>
                </a:moveTo>
                <a:lnTo>
                  <a:pt x="1438817" y="0"/>
                </a:lnTo>
                <a:lnTo>
                  <a:pt x="1438817" y="881275"/>
                </a:lnTo>
                <a:lnTo>
                  <a:pt x="0" y="8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2164876" y="5364743"/>
            <a:ext cx="1487171" cy="1371916"/>
          </a:xfrm>
          <a:custGeom>
            <a:avLst/>
            <a:gdLst/>
            <a:ahLst/>
            <a:cxnLst/>
            <a:rect l="l" t="t" r="r" b="b"/>
            <a:pathLst>
              <a:path w="1487171" h="1371916">
                <a:moveTo>
                  <a:pt x="0" y="0"/>
                </a:moveTo>
                <a:lnTo>
                  <a:pt x="1487172" y="0"/>
                </a:lnTo>
                <a:lnTo>
                  <a:pt x="1487172" y="1371916"/>
                </a:lnTo>
                <a:lnTo>
                  <a:pt x="0" y="137191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4066178" y="5364743"/>
            <a:ext cx="1625974" cy="1371916"/>
          </a:xfrm>
          <a:custGeom>
            <a:avLst/>
            <a:gdLst/>
            <a:ahLst/>
            <a:cxnLst/>
            <a:rect l="l" t="t" r="r" b="b"/>
            <a:pathLst>
              <a:path w="1625974" h="1371916">
                <a:moveTo>
                  <a:pt x="0" y="0"/>
                </a:moveTo>
                <a:lnTo>
                  <a:pt x="1625974" y="0"/>
                </a:lnTo>
                <a:lnTo>
                  <a:pt x="1625974" y="1371916"/>
                </a:lnTo>
                <a:lnTo>
                  <a:pt x="0" y="137191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6083319" y="5364743"/>
            <a:ext cx="1346980" cy="1064114"/>
          </a:xfrm>
          <a:custGeom>
            <a:avLst/>
            <a:gdLst/>
            <a:ahLst/>
            <a:cxnLst/>
            <a:rect l="l" t="t" r="r" b="b"/>
            <a:pathLst>
              <a:path w="1346980" h="1064114">
                <a:moveTo>
                  <a:pt x="0" y="0"/>
                </a:moveTo>
                <a:lnTo>
                  <a:pt x="1346980" y="0"/>
                </a:lnTo>
                <a:lnTo>
                  <a:pt x="1346980" y="1064114"/>
                </a:lnTo>
                <a:lnTo>
                  <a:pt x="0" y="106411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7794228" y="5210842"/>
            <a:ext cx="1305035" cy="1371916"/>
          </a:xfrm>
          <a:custGeom>
            <a:avLst/>
            <a:gdLst/>
            <a:ahLst/>
            <a:cxnLst/>
            <a:rect l="l" t="t" r="r" b="b"/>
            <a:pathLst>
              <a:path w="1305035" h="1371916">
                <a:moveTo>
                  <a:pt x="0" y="0"/>
                </a:moveTo>
                <a:lnTo>
                  <a:pt x="1305035" y="0"/>
                </a:lnTo>
                <a:lnTo>
                  <a:pt x="1305035" y="1371916"/>
                </a:lnTo>
                <a:lnTo>
                  <a:pt x="0" y="137191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-2128476">
            <a:off x="7354687" y="4041404"/>
            <a:ext cx="1766285" cy="490144"/>
          </a:xfrm>
          <a:custGeom>
            <a:avLst/>
            <a:gdLst/>
            <a:ahLst/>
            <a:cxnLst/>
            <a:rect l="l" t="t" r="r" b="b"/>
            <a:pathLst>
              <a:path w="1766285" h="490144">
                <a:moveTo>
                  <a:pt x="0" y="0"/>
                </a:moveTo>
                <a:lnTo>
                  <a:pt x="1766285" y="0"/>
                </a:lnTo>
                <a:lnTo>
                  <a:pt x="1766285" y="490144"/>
                </a:lnTo>
                <a:lnTo>
                  <a:pt x="0" y="490144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7794228" y="7097480"/>
            <a:ext cx="1349772" cy="1226605"/>
          </a:xfrm>
          <a:custGeom>
            <a:avLst/>
            <a:gdLst/>
            <a:ahLst/>
            <a:cxnLst/>
            <a:rect l="l" t="t" r="r" b="b"/>
            <a:pathLst>
              <a:path w="1349772" h="1226605">
                <a:moveTo>
                  <a:pt x="0" y="0"/>
                </a:moveTo>
                <a:lnTo>
                  <a:pt x="1349772" y="0"/>
                </a:lnTo>
                <a:lnTo>
                  <a:pt x="1349772" y="1226605"/>
                </a:lnTo>
                <a:lnTo>
                  <a:pt x="0" y="1226605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5959227" y="7190220"/>
            <a:ext cx="1595164" cy="1335950"/>
          </a:xfrm>
          <a:custGeom>
            <a:avLst/>
            <a:gdLst/>
            <a:ahLst/>
            <a:cxnLst/>
            <a:rect l="l" t="t" r="r" b="b"/>
            <a:pathLst>
              <a:path w="1595164" h="1335950">
                <a:moveTo>
                  <a:pt x="0" y="0"/>
                </a:moveTo>
                <a:lnTo>
                  <a:pt x="1595164" y="0"/>
                </a:lnTo>
                <a:lnTo>
                  <a:pt x="1595164" y="1335950"/>
                </a:lnTo>
                <a:lnTo>
                  <a:pt x="0" y="133595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4120872" y="7147802"/>
            <a:ext cx="1680937" cy="1378368"/>
          </a:xfrm>
          <a:custGeom>
            <a:avLst/>
            <a:gdLst/>
            <a:ahLst/>
            <a:cxnLst/>
            <a:rect l="l" t="t" r="r" b="b"/>
            <a:pathLst>
              <a:path w="1680937" h="1378368">
                <a:moveTo>
                  <a:pt x="0" y="0"/>
                </a:moveTo>
                <a:lnTo>
                  <a:pt x="1680937" y="0"/>
                </a:lnTo>
                <a:lnTo>
                  <a:pt x="1680937" y="1378368"/>
                </a:lnTo>
                <a:lnTo>
                  <a:pt x="0" y="1378368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1243133">
            <a:off x="2217841" y="7334343"/>
            <a:ext cx="1520776" cy="994207"/>
          </a:xfrm>
          <a:custGeom>
            <a:avLst/>
            <a:gdLst/>
            <a:ahLst/>
            <a:cxnLst/>
            <a:rect l="l" t="t" r="r" b="b"/>
            <a:pathLst>
              <a:path w="1520776" h="994207">
                <a:moveTo>
                  <a:pt x="0" y="0"/>
                </a:moveTo>
                <a:lnTo>
                  <a:pt x="1520776" y="0"/>
                </a:lnTo>
                <a:lnTo>
                  <a:pt x="1520776" y="994207"/>
                </a:lnTo>
                <a:lnTo>
                  <a:pt x="0" y="994207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0397482" y="1949323"/>
            <a:ext cx="5822652" cy="268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50"/>
              </a:lnSpc>
            </a:pPr>
            <a:r>
              <a:rPr lang="en-US" sz="9500" spc="-285">
                <a:solidFill>
                  <a:srgbClr val="162C3B"/>
                </a:solidFill>
                <a:latin typeface="Baloo"/>
                <a:ea typeface="Baloo"/>
                <a:cs typeface="Baloo"/>
                <a:sym typeface="Baloo"/>
              </a:rPr>
              <a:t>Resource Pages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325595" y="1877436"/>
            <a:ext cx="5822652" cy="268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50"/>
              </a:lnSpc>
            </a:pPr>
            <a:r>
              <a:rPr lang="en-US" sz="9500" spc="-285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Resource Pages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325595" y="5549681"/>
            <a:ext cx="5750723" cy="2774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2"/>
              </a:lnSpc>
            </a:pPr>
            <a:r>
              <a:rPr lang="en-US" sz="2863" b="1" spc="-42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Use the following design resources in your presentation You. Happy designing!</a:t>
            </a:r>
          </a:p>
          <a:p>
            <a:pPr algn="l">
              <a:lnSpc>
                <a:spcPts val="3722"/>
              </a:lnSpc>
            </a:pPr>
            <a:endParaRPr lang="en-US" sz="2863" b="1" spc="-42">
              <a:solidFill>
                <a:srgbClr val="162C3B"/>
              </a:solidFill>
              <a:latin typeface="Nunito Bold"/>
              <a:ea typeface="Nunito Bold"/>
              <a:cs typeface="Nunito Bold"/>
              <a:sym typeface="Nunito Bold"/>
            </a:endParaRPr>
          </a:p>
          <a:p>
            <a:pPr marL="0" lvl="0" indent="0" algn="l">
              <a:lnSpc>
                <a:spcPts val="3722"/>
              </a:lnSpc>
              <a:spcBef>
                <a:spcPct val="0"/>
              </a:spcBef>
            </a:pPr>
            <a:r>
              <a:rPr lang="en-US" sz="2863" b="1" spc="-42">
                <a:solidFill>
                  <a:srgbClr val="162C3B"/>
                </a:solidFill>
                <a:latin typeface="Nunito Bold"/>
                <a:ea typeface="Nunito Bold"/>
                <a:cs typeface="Nunito Bold"/>
                <a:sym typeface="Nunito Bold"/>
              </a:rPr>
              <a:t>Delete or hide pages before presenting.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1141</TotalTime>
  <Words>1444</Words>
  <Application>Microsoft Office PowerPoint</Application>
  <PresentationFormat>Custom</PresentationFormat>
  <Paragraphs>63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Nunito Bold</vt:lpstr>
      <vt:lpstr>Baloo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Yellow and White Illustrative The Power of Compound Interest Presentation</dc:title>
  <dc:creator>pandu sedati</dc:creator>
  <cp:lastModifiedBy>hizkia samhan r</cp:lastModifiedBy>
  <cp:revision>3</cp:revision>
  <dcterms:created xsi:type="dcterms:W3CDTF">2006-08-16T00:00:00Z</dcterms:created>
  <dcterms:modified xsi:type="dcterms:W3CDTF">2025-11-24T04:53:09Z</dcterms:modified>
  <dc:identifier>DAG5gWPHaOQ</dc:identifier>
</cp:coreProperties>
</file>